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8"/>
  </p:notesMasterIdLst>
  <p:sldIdLst>
    <p:sldId id="328" r:id="rId3"/>
    <p:sldId id="329" r:id="rId4"/>
    <p:sldId id="324" r:id="rId5"/>
    <p:sldId id="257" r:id="rId6"/>
    <p:sldId id="330" r:id="rId7"/>
    <p:sldId id="260" r:id="rId8"/>
    <p:sldId id="262" r:id="rId9"/>
    <p:sldId id="263" r:id="rId10"/>
    <p:sldId id="266" r:id="rId11"/>
    <p:sldId id="278" r:id="rId12"/>
    <p:sldId id="280" r:id="rId13"/>
    <p:sldId id="327" r:id="rId14"/>
    <p:sldId id="331" r:id="rId15"/>
    <p:sldId id="295" r:id="rId16"/>
    <p:sldId id="32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29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3fc715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3fc715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680F-5E8C-2F6B-A07D-98375B8F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49AEA-7895-7929-B88D-A4A47BECD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74E88-A4E4-BE10-DD04-B3B9C9FB8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0FD01-F951-2B0F-990F-AC25C477B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61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ED62-74F7-111C-05BB-8654B6A8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91BB-9AC2-58E9-A719-A073D6F4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F6F7-3478-B416-7ACD-D008A0C5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41C0-EFC4-A9CA-1727-EA2EED324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50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42EA-8AE0-3330-00F9-5009FE6B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BE0C9-1E62-741C-8E48-8B3DEB70F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7999A-3023-CD00-B181-4B42EE477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2BF51-269B-85E6-6173-EFEFECBDD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34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836D6802-96D4-C726-12AB-79F39FFE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79AB21B3-EE63-5B0D-9BC6-B8BFC5882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E9ACAB60-30B9-785D-CAEC-51597AC75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827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893B27A2-6C13-6749-151E-8F7188CF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E5B8070B-8FB0-FC64-9B5A-47AF4DDF3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B1D923E4-83A7-0D5C-D554-FCCA14EE1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70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33a918ce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33a918ce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33a918ce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33a918ce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468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408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786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297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193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22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475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4134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902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9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2084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8831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467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55225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?utm_source=chatgpt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thunderclient.com/" TargetMode="External"/><Relationship Id="rId4" Type="http://schemas.openxmlformats.org/officeDocument/2006/relationships/hyperlink" Target="https://learning.postman.com/docs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Course - Web Development - III 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welcome@krmangalam.edu.in</a:t>
              </a: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Sohna Road,Gurugram,Haryana 122103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4896" cy="1972225"/>
            <a:chOff x="788865" y="1515488"/>
            <a:chExt cx="4593000" cy="1972225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Slab"/>
                  <a:ea typeface="Roboto Slab"/>
                  <a:cs typeface="Roboto Slab"/>
                  <a:sym typeface="Roboto Slab"/>
                </a:rPr>
                <a:t>Lecture </a:t>
              </a:r>
              <a:r>
                <a:rPr lang="en" sz="2700" b="1" kern="0" dirty="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8</a:t>
              </a:r>
              <a:r>
                <a:rPr kumimoji="0" lang="en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:</a:t>
              </a:r>
              <a:endPara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863408" y="3059673"/>
              <a:ext cx="841483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By -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88865" y="2154317"/>
              <a:ext cx="45930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API Testing &amp; Debugging</a:t>
              </a: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487875" y="3076113"/>
              <a:ext cx="3156221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Love Porwal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B5463F-BDFE-B6CF-7DAC-28E695024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79" y="3217507"/>
            <a:ext cx="383020" cy="3830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613E2B-77CD-E63B-B428-31E0B5C253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0E3A-6821-91F7-0F3E-F33271A4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A76A43E-8A47-DAD4-DF5F-73D132F7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FE00E20-14C0-ADEC-F34C-89A22A4ABBC3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C61C953-1F43-F6B4-EFB7-44EB06C94202}"/>
              </a:ext>
            </a:extLst>
          </p:cNvPr>
          <p:cNvSpPr/>
          <p:nvPr/>
        </p:nvSpPr>
        <p:spPr>
          <a:xfrm>
            <a:off x="357283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AC52AB-E7D3-B764-DBD9-8C74A732FC1F}"/>
              </a:ext>
            </a:extLst>
          </p:cNvPr>
          <p:cNvSpPr/>
          <p:nvPr/>
        </p:nvSpPr>
        <p:spPr>
          <a:xfrm>
            <a:off x="427724" y="457200"/>
            <a:ext cx="80030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7C26F3-02AD-0320-21B3-21A73D34A6D6}"/>
              </a:ext>
            </a:extLst>
          </p:cNvPr>
          <p:cNvSpPr/>
          <p:nvPr/>
        </p:nvSpPr>
        <p:spPr>
          <a:xfrm>
            <a:off x="427724" y="1078993"/>
            <a:ext cx="8551684" cy="1840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Introduction to API Testing Tools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API Testing — Postman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Testing GET/POST Requests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API Testing — </a:t>
            </a:r>
            <a:r>
              <a:rPr lang="en-US" sz="1200" dirty="0" err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ThunderClient</a:t>
            </a: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50000"/>
                </a:srgbClr>
              </a:buClr>
              <a:buSzPts val="1300"/>
              <a:buFontTx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12584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F7CE-FC8C-A714-8C0A-783F1F9D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6830C6-0157-1D16-8D64-EA2564EA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032557-1DA5-D6E5-EC05-DDD0D8A3611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D5E58C-0B29-A653-5275-328BC96CA954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6471A2-B515-BA62-8104-9BB508670300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How Does a Chef Taste Food Before Serving It?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C82996-25C2-F84E-78ED-2ADFD985CD99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74DF32-D338-2571-49F4-E7DD7C699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064" y="1207927"/>
            <a:ext cx="6939872" cy="37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API Testing?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1204722"/>
            <a:ext cx="3625948" cy="34815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API Testing is the process of checking whether an API works correctly.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helps us verify: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Is the API responding?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Is the data correct?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Are errors handled properly?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Are status codes correct?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Simple Definition: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API Testing is the process of sending requests to an API and verifying that it returns the correct response.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B59926-4E56-35A5-DB99-3BD67AABD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751" y="1467804"/>
            <a:ext cx="5247249" cy="29554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8A58F-FBB9-3786-06D5-8C8B4957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B24586D-A02D-5DA3-3B6B-031FE3570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342D8F3-8D15-EE9D-1C04-EDA9D4ED04E5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55D24AC-2E3C-70AE-D62E-4B7ADC2D5509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2937E42-1E6B-B858-D9E7-696DC9D2216E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Debugging?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41EFD9C-3A46-FD24-A92D-F33B17E562D4}"/>
              </a:ext>
            </a:extLst>
          </p:cNvPr>
          <p:cNvSpPr/>
          <p:nvPr/>
        </p:nvSpPr>
        <p:spPr>
          <a:xfrm>
            <a:off x="502920" y="1204722"/>
            <a:ext cx="7909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Debugging is the process of finding, identifying, and fixing errors (bugs) in a program.</a:t>
            </a: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8D63D7-5C9F-3AC9-0813-64BAEBF1F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9" y="1847492"/>
            <a:ext cx="5594722" cy="304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8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to Postman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146517"/>
            <a:ext cx="4645152" cy="35397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Postman</a:t>
            </a: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is one of the most popular API testing tools.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allows developers to: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Send HTTP requests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View responses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Test APIs without a frontend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Debug backend applications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Supported Methods: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GET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POST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PUT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PATCH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DELETE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180AA9-87B4-892B-97DA-3652B8F7E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371" y="2166424"/>
            <a:ext cx="2679895" cy="2679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 Started with Postman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8" y="1234440"/>
            <a:ext cx="8229600" cy="850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Easy Analogy: </a:t>
            </a:r>
          </a:p>
          <a:p>
            <a:pPr marL="0" indent="0">
              <a:buNone/>
            </a:pPr>
            <a:endParaRPr lang="en-US" sz="1200" b="1" dirty="0">
              <a:latin typeface="Poppins" panose="00000500000000000000" pitchFamily="2" charset="0"/>
              <a:ea typeface="Poppins" pitchFamily="34" charset="-122"/>
              <a:cs typeface="Poppins" panose="00000500000000000000" pitchFamily="2" charset="0"/>
            </a:endParaRPr>
          </a:p>
          <a:p>
            <a:pPr marL="0" indent="0">
              <a:buNone/>
            </a:pPr>
            <a:r>
              <a:rPr lang="en-US" sz="1200" dirty="0"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Postman = professional testing workspace. </a:t>
            </a:r>
          </a:p>
          <a:p>
            <a:pPr marL="0" indent="0">
              <a:buNone/>
            </a:pPr>
            <a:r>
              <a:rPr lang="en-US" sz="1200" dirty="0"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Download, install, start testing. Intuitive UI makes learning easy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2423165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How to Use It: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251460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Download from postman.com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Create free account (or skip for desktop)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Click 'New' → 'Request'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Enter URL and method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Click 'Send' → see response</a:t>
            </a: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71C1C2-240D-BBBA-D56C-A2190BDA7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9" y="2423165"/>
            <a:ext cx="4663439" cy="2242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Creating GET Requests in Postman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81934" y="1097983"/>
            <a:ext cx="4014216" cy="242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Used to retrieve data.</a:t>
            </a:r>
          </a:p>
          <a:p>
            <a:pPr marL="0" indent="0">
              <a:buNone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273239"/>
              </a:solidFill>
              <a:latin typeface="Poppins" pitchFamily="34" charset="0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73239"/>
                </a:solidFill>
                <a:latin typeface="Poppins" pitchFamily="34" charset="0"/>
                <a:cs typeface="Poppins" pitchFamily="34" charset="-120"/>
              </a:rPr>
              <a:t>Key Point:</a:t>
            </a:r>
          </a:p>
          <a:p>
            <a:pPr marL="0" indent="0">
              <a:buNone/>
            </a:pPr>
            <a:endParaRPr lang="en-US" sz="1200" dirty="0">
              <a:solidFill>
                <a:srgbClr val="273239"/>
              </a:solidFill>
              <a:latin typeface="Poppins" pitchFamily="34" charset="0"/>
              <a:cs typeface="Poppins" pitchFamily="34" charset="-120"/>
            </a:endParaRPr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Method: GET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 URL: http://localhost:3000/api/users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Params: key/value pairs (optional)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Send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 response in panel below</a:t>
            </a:r>
          </a:p>
        </p:txBody>
      </p:sp>
      <p:sp>
        <p:nvSpPr>
          <p:cNvPr id="11" name="Text 8"/>
          <p:cNvSpPr/>
          <p:nvPr/>
        </p:nvSpPr>
        <p:spPr>
          <a:xfrm>
            <a:off x="365760" y="292608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cs typeface="Poppins" pitchFamily="34" charset="-120"/>
            </a:endParaRPr>
          </a:p>
          <a:p>
            <a:pPr marL="171450" indent="-17145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E786EE-46C3-E96E-4094-83F096CC4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711" y="1863970"/>
            <a:ext cx="4545698" cy="2946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Creating POST Requests in Postman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47352" y="1181687"/>
            <a:ext cx="3466101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Create resources by sending data in body. </a:t>
            </a:r>
          </a:p>
          <a:p>
            <a:pPr marL="0" indent="0">
              <a:buNone/>
            </a:pPr>
            <a:endParaRPr lang="en-US" sz="1200" dirty="0">
              <a:solidFill>
                <a:srgbClr val="273239"/>
              </a:solidFill>
              <a:latin typeface="Poppins" panose="00000500000000000000" pitchFamily="2" charset="0"/>
              <a:ea typeface="Poppins" pitchFamily="34" charset="-122"/>
              <a:cs typeface="Poppins" panose="00000500000000000000" pitchFamily="2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273239"/>
              </a:solidFill>
              <a:latin typeface="Poppins" panose="00000500000000000000" pitchFamily="2" charset="0"/>
              <a:ea typeface="Poppins" pitchFamily="34" charset="-122"/>
              <a:cs typeface="Poppins" panose="00000500000000000000" pitchFamily="2" charset="0"/>
            </a:endParaRPr>
          </a:p>
          <a:p>
            <a:r>
              <a:rPr lang="en-US" sz="1200" b="1" dirty="0"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Key Points:</a:t>
            </a:r>
            <a:endParaRPr lang="en-US" sz="1200" dirty="0">
              <a:latin typeface="Poppins" panose="00000500000000000000" pitchFamily="2" charset="0"/>
              <a:ea typeface="Poppins" pitchFamily="34" charset="-122"/>
              <a:cs typeface="Poppins" panose="00000500000000000000" pitchFamily="2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273239"/>
              </a:solidFill>
              <a:latin typeface="Poppins" panose="00000500000000000000" pitchFamily="2" charset="0"/>
              <a:ea typeface="Poppins" pitchFamily="34" charset="-122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Select Method: POST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Enter URL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Headers: Content-Type: application/</a:t>
            </a:r>
            <a:r>
              <a:rPr lang="en-US" sz="12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json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Body tab: raw JSON data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Click Send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5760" y="292608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790422-9B63-6EC9-1A23-67A214C27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015" y="1587539"/>
            <a:ext cx="5108545" cy="2864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ThunderClient: VS Code Alternative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65760" y="1132449"/>
            <a:ext cx="4937760" cy="3369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Thunder Client is a lightweight API testing extension for Visual Studio Code.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allows you to: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Test APIs directly inside VS Code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Send GET, POST, PUT, DELETE requests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View request and response details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Save API collections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Clr>
                <a:schemeClr val="accent1">
                  <a:lumMod val="50000"/>
                </a:schemeClr>
              </a:buClr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Why Use Thunder Client?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Fast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Lightweight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No need to switch applications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7AC52F-582E-8ED4-C649-ACAA54210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643" y="2307102"/>
            <a:ext cx="2673575" cy="2194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Using ThunderClient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7" y="1142998"/>
            <a:ext cx="7142167" cy="622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Easy Analogy: </a:t>
            </a:r>
          </a:p>
          <a:p>
            <a:pPr marL="0" indent="0">
              <a:buNone/>
            </a:pPr>
            <a:endParaRPr lang="en-US" sz="1200" b="1" dirty="0"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latin typeface="Poppins" pitchFamily="34" charset="0"/>
                <a:ea typeface="Poppins" pitchFamily="34" charset="-122"/>
                <a:cs typeface="Poppins" pitchFamily="34" charset="-120"/>
              </a:rPr>
              <a:t>ThunderClient</a:t>
            </a: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= Postman inside VS Code. Same workflow, integrated editor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12070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How to Use It: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458329"/>
            <a:ext cx="3882683" cy="1185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Install: VS Code Extensions → Thunder Client</a:t>
            </a:r>
            <a:endParaRPr lang="en-US" sz="1100" dirty="0"/>
          </a:p>
          <a:p>
            <a:pPr marL="628650" lvl="1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Thunder icon in sidebar</a:t>
            </a:r>
            <a:endParaRPr lang="en-US" sz="1100" dirty="0"/>
          </a:p>
          <a:p>
            <a:pPr marL="628650" lvl="1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Request: method, URL, headers, body</a:t>
            </a:r>
            <a:endParaRPr lang="en-US" sz="1100" dirty="0"/>
          </a:p>
          <a:p>
            <a:pPr marL="628650" lvl="1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Send: same response viewing</a:t>
            </a:r>
            <a:endParaRPr lang="en-US" sz="1100" dirty="0"/>
          </a:p>
          <a:p>
            <a:pPr marL="628650" lvl="1" indent="-171450">
              <a:spcAft>
                <a:spcPts val="400"/>
              </a:spcAft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collections and environments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413ACB-E05A-4133-4A11-4E14E66A1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048" y="1966664"/>
            <a:ext cx="4557632" cy="28796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CE7A1C23-093E-8CB6-507E-75970F5E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52BA0845-D07B-59C2-2ABB-327EC6BD1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54A01092-F1F6-BE84-B04A-AF3E2BF2AF34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How does Node.js receive the body of a POST request in the http module?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A9976FF3-DE28-E2F2-9CF7-2932C550EAC3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req.body</a:t>
            </a:r>
            <a:r>
              <a:rPr lang="en-US" sz="11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 is populated automatically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req.json</a:t>
            </a:r>
            <a:r>
              <a:rPr lang="en-US" sz="11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() returns the parsed body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Via </a:t>
            </a:r>
            <a:r>
              <a:rPr lang="en-US" sz="11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req.on</a:t>
            </a:r>
            <a:r>
              <a:rPr lang="en-US" sz="11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('data') chunks collected until </a:t>
            </a:r>
            <a:r>
              <a:rPr lang="en-US" sz="11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req.on</a:t>
            </a:r>
            <a:r>
              <a:rPr lang="en-US" sz="11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('end') fires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The body is in </a:t>
            </a:r>
            <a:r>
              <a:rPr lang="en-US" sz="11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req.query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01FF2636-9EA4-92D9-0FBD-C8DAFA52F8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A407BD1B-D23C-B7CA-91E0-6C6BDBEF8A75}"/>
              </a:ext>
            </a:extLst>
          </p:cNvPr>
          <p:cNvSpPr txBox="1"/>
          <p:nvPr/>
        </p:nvSpPr>
        <p:spPr>
          <a:xfrm>
            <a:off x="310950" y="3313725"/>
            <a:ext cx="6260400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C. </a:t>
            </a:r>
            <a:r>
              <a:rPr lang="en-US" sz="11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Via </a:t>
            </a:r>
            <a:r>
              <a:rPr lang="en-US" sz="11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req.on</a:t>
            </a:r>
            <a:r>
              <a:rPr lang="en-US" sz="11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('data') chunks collected until </a:t>
            </a:r>
            <a:r>
              <a:rPr lang="en-US" sz="11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req.on</a:t>
            </a:r>
            <a:r>
              <a:rPr lang="en-US" sz="11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('end') fires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0E968510-9698-8B3B-850E-46AB67047881}"/>
              </a:ext>
            </a:extLst>
          </p:cNvPr>
          <p:cNvGrpSpPr/>
          <p:nvPr/>
        </p:nvGrpSpPr>
        <p:grpSpPr>
          <a:xfrm>
            <a:off x="310900" y="3959263"/>
            <a:ext cx="6005825" cy="1271099"/>
            <a:chOff x="310900" y="3959263"/>
            <a:chExt cx="6005825" cy="1271099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107137E6-DBB9-D628-5404-4E27D26FA0BE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B75C0B0A-B08F-661B-96FB-2587332DB8BF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271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The raw Node.js http module receives the request body as a stream. You listen to 'data' events to collect chunks into a string, then 'end' to know all data has arrived. Frameworks like Express handle this automatically with middleware.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E61EC09B-5110-863C-5438-D00C6CFB74A9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7D61E0A-D6FC-2088-0094-0AF0D4B8B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DAE96CE7-21F4-CA5E-B977-EE8D4090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B5E5A393-451C-55A5-1D12-91D08B7739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9D51E773-23D7-D6E1-493A-FCB030A0C58B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Why is testing APIs important before frontend is done?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80B866D1-C04A-CF28-D425-CEC9141DBAC1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not important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dictates API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Waste of time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bugs early, don't wait for frontend, verify API works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7D115050-800E-3D3A-7C19-B06F8259FA9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AF451535-F0A9-FD3A-24AA-BD9DDB5038C5}"/>
              </a:ext>
            </a:extLst>
          </p:cNvPr>
          <p:cNvSpPr txBox="1"/>
          <p:nvPr/>
        </p:nvSpPr>
        <p:spPr>
          <a:xfrm>
            <a:off x="310950" y="3313725"/>
            <a:ext cx="6260400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bugs early, don't wait for frontend, verify API works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89C5DAC9-7D59-DD8E-10DC-BD6F3C1E4E9F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55059994-4775-909B-A167-6B6F7C09E751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E056EEF5-AC69-39CC-7857-278EAE7B3F85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defRPr/>
              </a:pPr>
              <a:r>
                <a:rPr lang="en-US" sz="1100" i="1" dirty="0">
                  <a:solidFill>
                    <a:srgbClr val="2732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Test API in isolation: know it works. Don't blame frontend for API bugs. Catch issues early: cheaper to fix. Parallel development: frontend team can mock responses.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9306DA45-5B71-047D-930D-06066A721C2F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5927C46-96EA-0828-12BF-9EDDBF91B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56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Node.js Official Documentation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Comprehensive and official documentation for Node.js runtime, modules, APIs, file system, HTTP, Express integration basics, and backend development concepts.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Node.js Official Docs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Postman Docs :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Postman API testing learning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centre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🔗 https://learning.postman.com/docs/</a:t>
            </a: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endParaRPr lang="en-US" sz="1050" u="sng" dirty="0">
              <a:solidFill>
                <a:srgbClr val="1C4587"/>
              </a:solidFill>
              <a:latin typeface="Poppins" pitchFamily="34" charset="0"/>
              <a:ea typeface="Poppins" pitchFamily="34" charset="-122"/>
              <a:cs typeface="Poppins" pitchFamily="34" charset="-12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endParaRPr lang="en-US" sz="1050" u="sng" dirty="0">
              <a:solidFill>
                <a:srgbClr val="1C4587"/>
              </a:solidFill>
              <a:latin typeface="Poppins" pitchFamily="34" charset="0"/>
              <a:ea typeface="Poppins" pitchFamily="34" charset="-122"/>
              <a:cs typeface="Poppins" pitchFamily="34" charset="-12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US" sz="1100" b="1" dirty="0" err="1">
                <a:latin typeface="Poppins" pitchFamily="34" charset="0"/>
                <a:ea typeface="Poppins" pitchFamily="34" charset="-122"/>
                <a:cs typeface="Poppins" pitchFamily="34" charset="-120"/>
              </a:rPr>
              <a:t>ThunderClient</a:t>
            </a: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: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ThunderClient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VS Code extension homepage.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🔗 https://www.thunderclient.com/</a:t>
            </a: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i="1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6FBA4A-CC92-CFF0-C0A3-3B8D0286268A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14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CC9215B-A510-CAAD-D57D-759004C81E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82" name="Google Shape;382;p4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1" i="0" u="none" strike="noStrike" kern="1200" cap="none" spc="0" normalizeH="0" baseline="0" noProof="0" dirty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Course - Web Development - III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85" name="Google Shape;385;p4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welcome@krmangalam.edu.in</a:t>
              </a: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86" name="Google Shape;386;p4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Sohna Road,Gurugram,Haryana 122103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8" name="Google Shape;388;p4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Thanks</a:t>
            </a:r>
            <a:endParaRPr kumimoji="0" sz="3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For</a:t>
            </a:r>
            <a:endParaRPr kumimoji="0" sz="3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kumimoji="0" sz="3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E5F4146-6277-E219-3EC0-EA0CC9D1A5C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A345D-E966-0F03-C180-B1D242B7E6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5816" y="2210220"/>
            <a:ext cx="2837268" cy="283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1964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817</Words>
  <Application>Microsoft Office PowerPoint</Application>
  <PresentationFormat>On-screen Show (16:9)</PresentationFormat>
  <Paragraphs>169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 New</vt:lpstr>
      <vt:lpstr>Poppins</vt:lpstr>
      <vt:lpstr>Roboto Slab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Check Your Understanding</vt:lpstr>
      <vt:lpstr>| Check Your Understanding</vt:lpstr>
      <vt:lpstr>| 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Love Porwal</cp:lastModifiedBy>
  <cp:revision>7</cp:revision>
  <dcterms:created xsi:type="dcterms:W3CDTF">2026-05-23T04:04:33Z</dcterms:created>
  <dcterms:modified xsi:type="dcterms:W3CDTF">2026-07-12T18:57:21Z</dcterms:modified>
</cp:coreProperties>
</file>