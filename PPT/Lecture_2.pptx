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  <p:sldMasterId id="2147483651" r:id="rId2"/>
  </p:sldMasterIdLst>
  <p:notesMasterIdLst>
    <p:notesMasterId r:id="rId25"/>
  </p:notesMasterIdLst>
  <p:sldIdLst>
    <p:sldId id="256" r:id="rId3"/>
    <p:sldId id="302" r:id="rId4"/>
    <p:sldId id="303" r:id="rId5"/>
    <p:sldId id="304" r:id="rId6"/>
    <p:sldId id="257" r:id="rId7"/>
    <p:sldId id="258" r:id="rId8"/>
    <p:sldId id="259" r:id="rId9"/>
    <p:sldId id="260" r:id="rId10"/>
    <p:sldId id="305" r:id="rId11"/>
    <p:sldId id="295" r:id="rId12"/>
    <p:sldId id="263" r:id="rId13"/>
    <p:sldId id="297" r:id="rId14"/>
    <p:sldId id="266" r:id="rId15"/>
    <p:sldId id="306" r:id="rId16"/>
    <p:sldId id="269" r:id="rId17"/>
    <p:sldId id="299" r:id="rId18"/>
    <p:sldId id="307" r:id="rId19"/>
    <p:sldId id="308" r:id="rId20"/>
    <p:sldId id="309" r:id="rId21"/>
    <p:sldId id="310" r:id="rId22"/>
    <p:sldId id="286" r:id="rId23"/>
    <p:sldId id="287" r:id="rId24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9" d="100"/>
          <a:sy n="109" d="100"/>
        </p:scale>
        <p:origin x="706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presProps" Target="presProps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notesMaster" Target="notesMasters/notesMaster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theme" Target="theme/theme1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6793031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3e93fc7151a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3e93fc7151a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8B680F-5E8C-2F6B-A07D-98375B8FD4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5149AEA-7895-7929-B88D-A4A47BECD5B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7B74E88-A4E4-BE10-DD04-B3B9C9FB876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680FD01-F951-2B0F-990F-AC25C477B2F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361794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4FED62-74F7-111C-05BB-8654B6A8A3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70491BB-9AC2-58E9-A719-A073D6F4F5F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850F6F7-3478-B416-7ACD-D008A0C5DEB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F9B41C0-EFC4-A9CA-1727-EA2EED32496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27850525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5830E1-7378-7710-76AB-BF480A6E21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017F42E-E861-D677-4699-BB36392F4C8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53764F9-0531-CB8C-30F7-EE2E29F893E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BE2241C-E741-5C75-777E-E9D1803DD67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1730665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g3e2dc86f04f_5_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6" name="Google Shape;206;g3e2dc86f04f_5_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56A710-7813-3A88-A4B4-EACD8E134F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6B4627A-08F3-33C5-4A2C-F18E0FD6C9B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6570D1E-0EA5-7CC8-96B0-F90A3FC32C9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1EE79DD-FDC0-CB00-96A2-A6A7173B54A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228376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30A179-2471-3CFE-0E7F-E8454FA92A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8E5AEB1-FCAD-9D5A-FB49-D8198BE8F39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B2B3217-34E8-6BB7-CFAB-0564C40069F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FE9627B-6FA6-F408-A2EF-A15E8E99B75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8664553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" name="Google Shape;322;g3e93fc7151a_0_9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3" name="Google Shape;323;g3e93fc7151a_0_9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1">
          <a:extLst>
            <a:ext uri="{FF2B5EF4-FFF2-40B4-BE49-F238E27FC236}">
              <a16:creationId xmlns:a16="http://schemas.microsoft.com/office/drawing/2014/main" id="{73E41FAA-3AD2-8CC3-8AC6-15D57F4F75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" name="Google Shape;322;g3e93fc7151a_0_96:notes">
            <a:extLst>
              <a:ext uri="{FF2B5EF4-FFF2-40B4-BE49-F238E27FC236}">
                <a16:creationId xmlns:a16="http://schemas.microsoft.com/office/drawing/2014/main" id="{8FF251B4-842F-86AC-7F11-2572F6D5F02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3" name="Google Shape;323;g3e93fc7151a_0_96:notes">
            <a:extLst>
              <a:ext uri="{FF2B5EF4-FFF2-40B4-BE49-F238E27FC236}">
                <a16:creationId xmlns:a16="http://schemas.microsoft.com/office/drawing/2014/main" id="{02993CBB-3C8D-071D-C357-08127D2CEB4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479057649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1">
          <a:extLst>
            <a:ext uri="{FF2B5EF4-FFF2-40B4-BE49-F238E27FC236}">
              <a16:creationId xmlns:a16="http://schemas.microsoft.com/office/drawing/2014/main" id="{6F82925D-30FD-50D3-6F99-4CE12A3A8A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" name="Google Shape;322;g3e93fc7151a_0_96:notes">
            <a:extLst>
              <a:ext uri="{FF2B5EF4-FFF2-40B4-BE49-F238E27FC236}">
                <a16:creationId xmlns:a16="http://schemas.microsoft.com/office/drawing/2014/main" id="{B23F9358-7DF9-7E73-B1EC-B1068DC8AD7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3" name="Google Shape;323;g3e93fc7151a_0_96:notes">
            <a:extLst>
              <a:ext uri="{FF2B5EF4-FFF2-40B4-BE49-F238E27FC236}">
                <a16:creationId xmlns:a16="http://schemas.microsoft.com/office/drawing/2014/main" id="{E284BAE3-5E99-A515-A0AC-79E4DD2D0A8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62185330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1">
          <a:extLst>
            <a:ext uri="{FF2B5EF4-FFF2-40B4-BE49-F238E27FC236}">
              <a16:creationId xmlns:a16="http://schemas.microsoft.com/office/drawing/2014/main" id="{7B0ACE48-5C62-8B4B-9F6B-F8309A0FFF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" name="Google Shape;322;g3e93fc7151a_0_96:notes">
            <a:extLst>
              <a:ext uri="{FF2B5EF4-FFF2-40B4-BE49-F238E27FC236}">
                <a16:creationId xmlns:a16="http://schemas.microsoft.com/office/drawing/2014/main" id="{D303A5FD-19CC-9464-9819-99BCF99EBB4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3" name="Google Shape;323;g3e93fc7151a_0_96:notes">
            <a:extLst>
              <a:ext uri="{FF2B5EF4-FFF2-40B4-BE49-F238E27FC236}">
                <a16:creationId xmlns:a16="http://schemas.microsoft.com/office/drawing/2014/main" id="{FD2DAA20-CD88-90DC-F20E-30E938CC41B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7660142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0" name="Google Shape;370;g3733a918ceb_0_7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1" name="Google Shape;371;g3733a918ceb_0_7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" name="Google Shape;378;g3733a918ceb_0_8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9" name="Google Shape;379;g3733a918ceb_0_8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 and 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87583381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 slid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23120359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 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06429420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 and 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48882690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 and two 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06153512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 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47954090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 column 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26445200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 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760747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 title and 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30095993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93737707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 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01277054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302610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0.xml"/><Relationship Id="rId3" Type="http://schemas.openxmlformats.org/officeDocument/2006/relationships/slideLayout" Target="../slideLayouts/slideLayout5.xml"/><Relationship Id="rId7" Type="http://schemas.openxmlformats.org/officeDocument/2006/relationships/slideLayout" Target="../slideLayouts/slideLayout9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4.xml"/><Relationship Id="rId1" Type="http://schemas.openxmlformats.org/officeDocument/2006/relationships/slideLayout" Target="../slideLayouts/slideLayout3.xml"/><Relationship Id="rId6" Type="http://schemas.openxmlformats.org/officeDocument/2006/relationships/slideLayout" Target="../slideLayouts/slideLayout8.xml"/><Relationship Id="rId11" Type="http://schemas.openxmlformats.org/officeDocument/2006/relationships/slideLayout" Target="../slideLayouts/slideLayout13.xml"/><Relationship Id="rId5" Type="http://schemas.openxmlformats.org/officeDocument/2006/relationships/slideLayout" Target="../slideLayouts/slideLayout7.xml"/><Relationship Id="rId10" Type="http://schemas.openxmlformats.org/officeDocument/2006/relationships/slideLayout" Target="../slideLayouts/slideLayout12.xml"/><Relationship Id="rId4" Type="http://schemas.openxmlformats.org/officeDocument/2006/relationships/slideLayout" Target="../slideLayouts/slideLayout6.xml"/><Relationship Id="rId9" Type="http://schemas.openxmlformats.org/officeDocument/2006/relationships/slideLayout" Target="../slideLayouts/slideLayout1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527400358"/>
      </p:ext>
    </p:extLst>
  </p:cSld>
  <p:clrMap bg1="lt1" tx1="dk1" bg2="dk2" tx2="lt2" accent1="accent1" accent2="accent2" accent3="accent3" accent4="accent4" accent5="accent5" accent6="accent6" hlink="hlink" folHlink="folHlink"/>
  <p:sldLayoutIdLst>
    <p:sldLayoutId id="2147483652" r:id="rId1"/>
    <p:sldLayoutId id="2147483653" r:id="rId2"/>
    <p:sldLayoutId id="2147483654" r:id="rId3"/>
    <p:sldLayoutId id="2147483655" r:id="rId4"/>
    <p:sldLayoutId id="2147483656" r:id="rId5"/>
    <p:sldLayoutId id="2147483657" r:id="rId6"/>
    <p:sldLayoutId id="2147483658" r:id="rId7"/>
    <p:sldLayoutId id="2147483659" r:id="rId8"/>
    <p:sldLayoutId id="2147483660" r:id="rId9"/>
    <p:sldLayoutId id="2147483661" r:id="rId10"/>
    <p:sldLayoutId id="2147483662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5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jp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4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5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6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7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7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7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7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hyperlink" Target="https://nodejs.org/en/docs?utm_source=chatgpt.com" TargetMode="External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httpstatuses.com/" TargetMode="External"/><Relationship Id="rId5" Type="http://schemas.openxmlformats.org/officeDocument/2006/relationships/hyperlink" Target="https://www.freecodecamp.org/news/tag/node-js/?utm_source=chatgpt.com" TargetMode="External"/><Relationship Id="rId4" Type="http://schemas.openxmlformats.org/officeDocument/2006/relationships/hyperlink" Target="https://www.w3schools.com/nodejs/?utm_source=chatgpt.com" TargetMode="Externa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" name="Google Shape;54;p13" title="subtle-prism (2)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5400050">
            <a:off x="-395563" y="388763"/>
            <a:ext cx="5157175" cy="4365975"/>
          </a:xfrm>
          <a:prstGeom prst="flowChartManualInput">
            <a:avLst/>
          </a:prstGeom>
          <a:noFill/>
          <a:ln>
            <a:noFill/>
          </a:ln>
        </p:spPr>
      </p:pic>
      <p:pic>
        <p:nvPicPr>
          <p:cNvPr id="55" name="Google Shape;55;p13" title="KRMU_Full_heading_Logo-removebg-preview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806125" y="452500"/>
            <a:ext cx="5337876" cy="1363050"/>
          </a:xfrm>
          <a:prstGeom prst="rect">
            <a:avLst/>
          </a:prstGeom>
          <a:noFill/>
          <a:ln>
            <a:noFill/>
          </a:ln>
        </p:spPr>
      </p:pic>
      <p:sp>
        <p:nvSpPr>
          <p:cNvPr id="56" name="Google Shape;56;p13"/>
          <p:cNvSpPr txBox="1"/>
          <p:nvPr/>
        </p:nvSpPr>
        <p:spPr>
          <a:xfrm>
            <a:off x="4247500" y="2017650"/>
            <a:ext cx="47418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" sz="2400" b="1" i="0" u="none" strike="noStrike" kern="0" cap="none" spc="0" normalizeH="0" baseline="0" noProof="0">
                <a:ln>
                  <a:noFill/>
                </a:ln>
                <a:solidFill>
                  <a:srgbClr val="173034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Course - Web Development - III </a:t>
            </a:r>
            <a:endParaRPr kumimoji="0" sz="2400" b="1" i="0" u="none" strike="noStrike" kern="0" cap="none" spc="0" normalizeH="0" baseline="0" noProof="0">
              <a:ln>
                <a:noFill/>
              </a:ln>
              <a:solidFill>
                <a:srgbClr val="173034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grpSp>
        <p:nvGrpSpPr>
          <p:cNvPr id="57" name="Google Shape;57;p13"/>
          <p:cNvGrpSpPr/>
          <p:nvPr/>
        </p:nvGrpSpPr>
        <p:grpSpPr>
          <a:xfrm>
            <a:off x="4572000" y="4882896"/>
            <a:ext cx="1607600" cy="292500"/>
            <a:chOff x="5060775" y="4881413"/>
            <a:chExt cx="1607600" cy="292500"/>
          </a:xfrm>
        </p:grpSpPr>
        <p:sp>
          <p:nvSpPr>
            <p:cNvPr id="58" name="Google Shape;58;p13"/>
            <p:cNvSpPr txBox="1"/>
            <p:nvPr/>
          </p:nvSpPr>
          <p:spPr>
            <a:xfrm>
              <a:off x="5165675" y="4881413"/>
              <a:ext cx="1502700" cy="292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en" sz="7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cs typeface="Arial"/>
                  <a:sym typeface="Arial"/>
                </a:rPr>
                <a:t>welcome@krmangalam.edu.in</a:t>
              </a:r>
              <a:endParaRPr kumimoji="0" sz="9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pic>
          <p:nvPicPr>
            <p:cNvPr id="59" name="Google Shape;59;p13" title="email.png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5060775" y="4966738"/>
              <a:ext cx="137160" cy="13716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60" name="Google Shape;60;p13"/>
          <p:cNvGrpSpPr/>
          <p:nvPr/>
        </p:nvGrpSpPr>
        <p:grpSpPr>
          <a:xfrm>
            <a:off x="7229300" y="4881425"/>
            <a:ext cx="1926000" cy="292500"/>
            <a:chOff x="7229300" y="4881425"/>
            <a:chExt cx="1926000" cy="292500"/>
          </a:xfrm>
        </p:grpSpPr>
        <p:sp>
          <p:nvSpPr>
            <p:cNvPr id="61" name="Google Shape;61;p13"/>
            <p:cNvSpPr txBox="1"/>
            <p:nvPr/>
          </p:nvSpPr>
          <p:spPr>
            <a:xfrm>
              <a:off x="7326500" y="4881425"/>
              <a:ext cx="1828800" cy="292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en" sz="700" b="0" i="0" u="none" strike="noStrike" kern="0" cap="none" spc="0" normalizeH="0" baseline="0" noProof="0">
                  <a:ln>
                    <a:noFill/>
                  </a:ln>
                  <a:solidFill>
                    <a:srgbClr val="212121"/>
                  </a:solidFill>
                  <a:effectLst/>
                  <a:uLnTx/>
                  <a:uFillTx/>
                  <a:latin typeface="Arial"/>
                  <a:cs typeface="Arial"/>
                  <a:sym typeface="Arial"/>
                </a:rPr>
                <a:t>Sohna Road,Gurugram,Haryana 122103</a:t>
              </a:r>
              <a:endParaRPr kumimoji="0" sz="700" b="0" i="0" u="none" strike="noStrike" kern="0" cap="none" spc="0" normalizeH="0" baseline="0" noProof="0">
                <a:ln>
                  <a:noFill/>
                </a:ln>
                <a:solidFill>
                  <a:srgbClr val="212121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pic>
          <p:nvPicPr>
            <p:cNvPr id="62" name="Google Shape;62;p13" title="location.png"/>
            <p:cNvPicPr preferRelativeResize="0"/>
            <p:nvPr/>
          </p:nvPicPr>
          <p:blipFill>
            <a:blip r:embed="rId6">
              <a:alphaModFix/>
            </a:blip>
            <a:stretch>
              <a:fillRect/>
            </a:stretch>
          </p:blipFill>
          <p:spPr>
            <a:xfrm>
              <a:off x="7229300" y="4965192"/>
              <a:ext cx="137160" cy="13716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64" name="Google Shape;64;p1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fld id="{00000000-1234-1234-1234-123412341234}" type="slidenum">
              <a:rPr kumimoji="0" lang="en" sz="1000" b="0" i="0" u="none" strike="noStrike" kern="0" cap="none" spc="0" normalizeH="0" baseline="0" noProof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t>1</a:t>
            </a:fld>
            <a:endParaRPr kumimoji="0" sz="1000" b="0" i="0" u="none" strike="noStrike" kern="0" cap="none" spc="0" normalizeH="0" baseline="0" noProof="0">
              <a:ln>
                <a:noFill/>
              </a:ln>
              <a:solidFill>
                <a:srgbClr val="595959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grpSp>
        <p:nvGrpSpPr>
          <p:cNvPr id="65" name="Google Shape;65;p13"/>
          <p:cNvGrpSpPr/>
          <p:nvPr/>
        </p:nvGrpSpPr>
        <p:grpSpPr>
          <a:xfrm>
            <a:off x="309849" y="1233369"/>
            <a:ext cx="3414896" cy="1972225"/>
            <a:chOff x="788865" y="1515488"/>
            <a:chExt cx="4593000" cy="1972225"/>
          </a:xfrm>
        </p:grpSpPr>
        <p:sp>
          <p:nvSpPr>
            <p:cNvPr id="66" name="Google Shape;66;p13"/>
            <p:cNvSpPr txBox="1"/>
            <p:nvPr/>
          </p:nvSpPr>
          <p:spPr>
            <a:xfrm>
              <a:off x="788865" y="1515488"/>
              <a:ext cx="3197700" cy="600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en" sz="2700" b="1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Roboto Slab"/>
                  <a:ea typeface="Roboto Slab"/>
                  <a:cs typeface="Roboto Slab"/>
                  <a:sym typeface="Roboto Slab"/>
                </a:rPr>
                <a:t>Lecture 2</a:t>
              </a:r>
              <a:r>
                <a:rPr kumimoji="0" lang="en" sz="27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/>
                  <a:cs typeface="Arial"/>
                  <a:sym typeface="Arial"/>
                </a:rPr>
                <a:t>:</a:t>
              </a:r>
              <a:endParaRPr kumimoji="0" sz="22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 Slab"/>
                <a:ea typeface="Roboto Slab"/>
                <a:cs typeface="Roboto Slab"/>
                <a:sym typeface="Roboto Slab"/>
              </a:endParaRPr>
            </a:p>
          </p:txBody>
        </p:sp>
        <p:sp>
          <p:nvSpPr>
            <p:cNvPr id="67" name="Google Shape;67;p13"/>
            <p:cNvSpPr txBox="1"/>
            <p:nvPr/>
          </p:nvSpPr>
          <p:spPr>
            <a:xfrm>
              <a:off x="863408" y="3059673"/>
              <a:ext cx="841483" cy="415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en" sz="15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Poppins"/>
                  <a:ea typeface="Poppins"/>
                  <a:cs typeface="Poppins"/>
                  <a:sym typeface="Poppins"/>
                </a:rPr>
                <a:t>By -</a:t>
              </a:r>
              <a:endParaRPr kumimoji="0" sz="14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68" name="Google Shape;68;p13"/>
            <p:cNvSpPr txBox="1"/>
            <p:nvPr/>
          </p:nvSpPr>
          <p:spPr>
            <a:xfrm>
              <a:off x="788865" y="2154317"/>
              <a:ext cx="4593000" cy="73863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en-IN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/>
                  <a:cs typeface="Arial"/>
                  <a:sym typeface="Arial"/>
                </a:rPr>
                <a:t>HTTP Fundamentals</a:t>
              </a:r>
            </a:p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IN" sz="18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69" name="Google Shape;69;p13"/>
            <p:cNvSpPr txBox="1"/>
            <p:nvPr/>
          </p:nvSpPr>
          <p:spPr>
            <a:xfrm>
              <a:off x="1487875" y="3076113"/>
              <a:ext cx="3156221" cy="411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en-IN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Poppins"/>
                  <a:ea typeface="Poppins"/>
                  <a:cs typeface="Poppins"/>
                  <a:sym typeface="Poppins"/>
                </a:rPr>
                <a:t>Love Porwal</a:t>
              </a:r>
              <a:endParaRPr kumimoji="0" sz="14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Poppins"/>
                <a:ea typeface="Poppins"/>
                <a:cs typeface="Poppins"/>
                <a:sym typeface="Poppins"/>
              </a:endParaRPr>
            </a:p>
          </p:txBody>
        </p:sp>
      </p:grpSp>
      <p:pic>
        <p:nvPicPr>
          <p:cNvPr id="3" name="Picture 2">
            <a:extLst>
              <a:ext uri="{FF2B5EF4-FFF2-40B4-BE49-F238E27FC236}">
                <a16:creationId xmlns:a16="http://schemas.microsoft.com/office/drawing/2014/main" id="{4CB5463F-BDFE-B6CF-7DAC-28E6950244E1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52479" y="3217507"/>
            <a:ext cx="383020" cy="38302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1883918C-4B2D-9BD7-707F-44F3442D44CC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170007" y="2208918"/>
            <a:ext cx="2798268" cy="2798268"/>
          </a:xfrm>
          <a:prstGeom prst="rect">
            <a:avLst/>
          </a:prstGeom>
        </p:spPr>
      </p:pic>
    </p:spTree>
  </p:cSld>
  <p:clrMapOvr>
    <a:masterClrMapping/>
  </p:clrMapOvr>
  <p:transition spd="med">
    <p:fade thruBlk="1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640E3A-6821-91F7-0F3E-F33271A4F2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
            <a:extLst>
              <a:ext uri="{FF2B5EF4-FFF2-40B4-BE49-F238E27FC236}">
                <a16:creationId xmlns:a16="http://schemas.microsoft.com/office/drawing/2014/main" id="{9A76A43E-8A47-DAD4-DF5F-73D132F7133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12480" y="73152"/>
            <a:ext cx="566928" cy="621792"/>
          </a:xfrm>
          <a:prstGeom prst="rect">
            <a:avLst/>
          </a:prstGeom>
        </p:spPr>
      </p:pic>
      <p:sp>
        <p:nvSpPr>
          <p:cNvPr id="3" name="Text 0">
            <a:extLst>
              <a:ext uri="{FF2B5EF4-FFF2-40B4-BE49-F238E27FC236}">
                <a16:creationId xmlns:a16="http://schemas.microsoft.com/office/drawing/2014/main" id="{4FE00E20-14C0-ADEC-F34C-89A22A4ABBC3}"/>
              </a:ext>
            </a:extLst>
          </p:cNvPr>
          <p:cNvSpPr/>
          <p:nvPr/>
        </p:nvSpPr>
        <p:spPr>
          <a:xfrm>
            <a:off x="8686800" y="4846320"/>
            <a:ext cx="365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99999"/>
                </a:solidFill>
                <a:latin typeface="Poppins" pitchFamily="34" charset="0"/>
                <a:cs typeface="Poppins" pitchFamily="34" charset="-120"/>
              </a:rPr>
              <a:t>2</a:t>
            </a:r>
            <a:endParaRPr lang="en-US" sz="900" dirty="0"/>
          </a:p>
        </p:txBody>
      </p:sp>
      <p:sp>
        <p:nvSpPr>
          <p:cNvPr id="4" name="Shape 1">
            <a:extLst>
              <a:ext uri="{FF2B5EF4-FFF2-40B4-BE49-F238E27FC236}">
                <a16:creationId xmlns:a16="http://schemas.microsoft.com/office/drawing/2014/main" id="{3C61C953-1F43-F6B4-EFB7-44EB06C94202}"/>
              </a:ext>
            </a:extLst>
          </p:cNvPr>
          <p:cNvSpPr/>
          <p:nvPr/>
        </p:nvSpPr>
        <p:spPr>
          <a:xfrm>
            <a:off x="357283" y="457200"/>
            <a:ext cx="41148" cy="566928"/>
          </a:xfrm>
          <a:prstGeom prst="rect">
            <a:avLst/>
          </a:prstGeom>
          <a:solidFill>
            <a:srgbClr val="073763"/>
          </a:solidFill>
          <a:ln/>
        </p:spPr>
      </p:sp>
      <p:sp>
        <p:nvSpPr>
          <p:cNvPr id="5" name="Text 2">
            <a:extLst>
              <a:ext uri="{FF2B5EF4-FFF2-40B4-BE49-F238E27FC236}">
                <a16:creationId xmlns:a16="http://schemas.microsoft.com/office/drawing/2014/main" id="{B6AC52AB-E7D3-B764-DBD9-8C74A732FC1F}"/>
              </a:ext>
            </a:extLst>
          </p:cNvPr>
          <p:cNvSpPr/>
          <p:nvPr/>
        </p:nvSpPr>
        <p:spPr>
          <a:xfrm>
            <a:off x="427724" y="457200"/>
            <a:ext cx="8003044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" sz="2000" b="1" dirty="0">
                <a:solidFill>
                  <a:srgbClr val="073763"/>
                </a:solidFill>
                <a:latin typeface="Poppins"/>
                <a:ea typeface="Poppins"/>
                <a:cs typeface="Poppins"/>
                <a:sym typeface="Poppins"/>
              </a:rPr>
              <a:t>Table of Contents</a:t>
            </a:r>
            <a:endParaRPr lang="en-US" sz="2000" dirty="0"/>
          </a:p>
        </p:txBody>
      </p:sp>
      <p:sp>
        <p:nvSpPr>
          <p:cNvPr id="9" name="Text 6">
            <a:extLst>
              <a:ext uri="{FF2B5EF4-FFF2-40B4-BE49-F238E27FC236}">
                <a16:creationId xmlns:a16="http://schemas.microsoft.com/office/drawing/2014/main" id="{9E7C26F3-02AD-0320-21B3-21A73D34A6D6}"/>
              </a:ext>
            </a:extLst>
          </p:cNvPr>
          <p:cNvSpPr/>
          <p:nvPr/>
        </p:nvSpPr>
        <p:spPr>
          <a:xfrm>
            <a:off x="427724" y="1078993"/>
            <a:ext cx="8551684" cy="223394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457200" lvl="0" indent="-311150">
              <a:lnSpc>
                <a:spcPct val="150000"/>
              </a:lnSpc>
              <a:buClr>
                <a:schemeClr val="accent1">
                  <a:lumMod val="50000"/>
                </a:schemeClr>
              </a:buClr>
              <a:buSzPts val="1300"/>
              <a:buChar char="●"/>
            </a:pPr>
            <a:r>
              <a:rPr lang="en-US" sz="1200" dirty="0">
                <a:solidFill>
                  <a:schemeClr val="dk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What is HTTP</a:t>
            </a:r>
          </a:p>
          <a:p>
            <a:pPr marL="457200" lvl="0" indent="-311150">
              <a:lnSpc>
                <a:spcPct val="150000"/>
              </a:lnSpc>
              <a:buClr>
                <a:schemeClr val="accent1">
                  <a:lumMod val="50000"/>
                </a:schemeClr>
              </a:buClr>
              <a:buSzPts val="1300"/>
              <a:buChar char="●"/>
            </a:pPr>
            <a:r>
              <a:rPr lang="en-US" sz="1200" dirty="0">
                <a:solidFill>
                  <a:schemeClr val="dk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HTTP Request &amp; Response Cycle </a:t>
            </a:r>
          </a:p>
          <a:p>
            <a:pPr marL="457200" lvl="0" indent="-311150">
              <a:lnSpc>
                <a:spcPct val="150000"/>
              </a:lnSpc>
              <a:buClr>
                <a:schemeClr val="accent1">
                  <a:lumMod val="50000"/>
                </a:schemeClr>
              </a:buClr>
              <a:buSzPts val="1300"/>
              <a:buChar char="●"/>
            </a:pPr>
            <a:r>
              <a:rPr lang="en-US" sz="1200" dirty="0">
                <a:solidFill>
                  <a:schemeClr val="dk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HTTP Methods (GET, POST, PUT, DELETE) </a:t>
            </a:r>
          </a:p>
          <a:p>
            <a:pPr marL="457200" lvl="0" indent="-311150">
              <a:lnSpc>
                <a:spcPct val="150000"/>
              </a:lnSpc>
              <a:buClr>
                <a:schemeClr val="accent1">
                  <a:lumMod val="50000"/>
                </a:schemeClr>
              </a:buClr>
              <a:buSzPts val="1300"/>
              <a:buChar char="●"/>
            </a:pPr>
            <a:r>
              <a:rPr lang="en-US" sz="1200" dirty="0">
                <a:solidFill>
                  <a:schemeClr val="dk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Status Codes </a:t>
            </a:r>
          </a:p>
          <a:p>
            <a:pPr marL="457200" lvl="0" indent="-311150">
              <a:lnSpc>
                <a:spcPct val="150000"/>
              </a:lnSpc>
              <a:buClr>
                <a:schemeClr val="accent1">
                  <a:lumMod val="50000"/>
                </a:schemeClr>
              </a:buClr>
              <a:buSzPts val="1300"/>
              <a:buChar char="●"/>
            </a:pPr>
            <a:r>
              <a:rPr lang="en-US" sz="1200" dirty="0">
                <a:solidFill>
                  <a:schemeClr val="dk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HTTP Headers</a:t>
            </a:r>
          </a:p>
          <a:p>
            <a:pPr marL="457200" lvl="0" indent="-311150">
              <a:lnSpc>
                <a:spcPct val="150000"/>
              </a:lnSpc>
              <a:buClr>
                <a:srgbClr val="4472C4">
                  <a:lumMod val="50000"/>
                </a:srgbClr>
              </a:buClr>
              <a:buSzPts val="1300"/>
              <a:buFontTx/>
              <a:buChar char="●"/>
            </a:pPr>
            <a:r>
              <a:rPr lang="en-US" sz="1200" dirty="0">
                <a:solidFill>
                  <a:prstClr val="black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References</a:t>
            </a:r>
          </a:p>
          <a:p>
            <a:pPr marL="457200" lvl="0" indent="-311150">
              <a:lnSpc>
                <a:spcPct val="150000"/>
              </a:lnSpc>
              <a:buClr>
                <a:srgbClr val="4472C4">
                  <a:lumMod val="50000"/>
                </a:srgbClr>
              </a:buClr>
              <a:buSzPts val="1300"/>
              <a:buFontTx/>
              <a:buChar char="●"/>
              <a:defRPr/>
            </a:pPr>
            <a:r>
              <a:rPr lang="en-US" sz="1200" dirty="0">
                <a:solidFill>
                  <a:prstClr val="black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The End</a:t>
            </a:r>
          </a:p>
        </p:txBody>
      </p:sp>
    </p:spTree>
    <p:extLst>
      <p:ext uri="{BB962C8B-B14F-4D97-AF65-F5344CB8AC3E}">
        <p14:creationId xmlns:p14="http://schemas.microsoft.com/office/powerpoint/2010/main" val="360731631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E1F7CE-FC8C-A714-8C0A-783F1F9DDF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
            <a:extLst>
              <a:ext uri="{FF2B5EF4-FFF2-40B4-BE49-F238E27FC236}">
                <a16:creationId xmlns:a16="http://schemas.microsoft.com/office/drawing/2014/main" id="{6E6830C6-0157-1D16-8D64-EA2564EA24A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12480" y="73152"/>
            <a:ext cx="566928" cy="621792"/>
          </a:xfrm>
          <a:prstGeom prst="rect">
            <a:avLst/>
          </a:prstGeom>
        </p:spPr>
      </p:pic>
      <p:sp>
        <p:nvSpPr>
          <p:cNvPr id="3" name="Text 0">
            <a:extLst>
              <a:ext uri="{FF2B5EF4-FFF2-40B4-BE49-F238E27FC236}">
                <a16:creationId xmlns:a16="http://schemas.microsoft.com/office/drawing/2014/main" id="{2A032557-1DA5-D6E5-EC05-DDD0D8A3611B}"/>
              </a:ext>
            </a:extLst>
          </p:cNvPr>
          <p:cNvSpPr/>
          <p:nvPr/>
        </p:nvSpPr>
        <p:spPr>
          <a:xfrm>
            <a:off x="8686800" y="4846320"/>
            <a:ext cx="365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900" dirty="0">
                <a:solidFill>
                  <a:srgbClr val="999999"/>
                </a:solidFill>
                <a:latin typeface="Poppins" pitchFamily="34" charset="0"/>
                <a:cs typeface="Poppins" pitchFamily="34" charset="-120"/>
              </a:rPr>
              <a:t>3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Shape 1">
            <a:extLst>
              <a:ext uri="{FF2B5EF4-FFF2-40B4-BE49-F238E27FC236}">
                <a16:creationId xmlns:a16="http://schemas.microsoft.com/office/drawing/2014/main" id="{63D5E58C-0B29-A653-5275-328BC96CA954}"/>
              </a:ext>
            </a:extLst>
          </p:cNvPr>
          <p:cNvSpPr/>
          <p:nvPr/>
        </p:nvSpPr>
        <p:spPr>
          <a:xfrm>
            <a:off x="201168" y="457200"/>
            <a:ext cx="41148" cy="566928"/>
          </a:xfrm>
          <a:prstGeom prst="rect">
            <a:avLst/>
          </a:prstGeom>
          <a:solidFill>
            <a:srgbClr val="073763"/>
          </a:solidFill>
          <a:ln/>
        </p:spPr>
      </p:sp>
      <p:sp>
        <p:nvSpPr>
          <p:cNvPr id="5" name="Text 2">
            <a:extLst>
              <a:ext uri="{FF2B5EF4-FFF2-40B4-BE49-F238E27FC236}">
                <a16:creationId xmlns:a16="http://schemas.microsoft.com/office/drawing/2014/main" id="{C26471A2-B515-BA62-8104-9BB508670300}"/>
              </a:ext>
            </a:extLst>
          </p:cNvPr>
          <p:cNvSpPr/>
          <p:nvPr/>
        </p:nvSpPr>
        <p:spPr>
          <a:xfrm>
            <a:off x="292608" y="457200"/>
            <a:ext cx="81381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073763"/>
                </a:solidFill>
                <a:effectLst/>
                <a:uLnTx/>
                <a:uFillTx/>
                <a:latin typeface="Poppins" pitchFamily="34" charset="0"/>
                <a:ea typeface="Poppins" pitchFamily="34" charset="-122"/>
                <a:cs typeface="Poppins" pitchFamily="34" charset="-120"/>
              </a:rPr>
              <a:t>Have you ever ordered food from Zomato or Swiggy? What actually happens after you press the 'Order Now' button?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Text 6">
            <a:extLst>
              <a:ext uri="{FF2B5EF4-FFF2-40B4-BE49-F238E27FC236}">
                <a16:creationId xmlns:a16="http://schemas.microsoft.com/office/drawing/2014/main" id="{C0C82996-25C2-F84E-78ED-2ADFD985CD99}"/>
              </a:ext>
            </a:extLst>
          </p:cNvPr>
          <p:cNvSpPr/>
          <p:nvPr/>
        </p:nvSpPr>
        <p:spPr>
          <a:xfrm>
            <a:off x="365760" y="1189463"/>
            <a:ext cx="8412480" cy="370257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ClrTx/>
              <a:buSzTx/>
              <a:buFontTx/>
              <a:buNone/>
              <a:tabLst/>
              <a:defRPr/>
            </a:pP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3D610EE-DE10-5B9D-769E-45B9ABBEAEE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86961" y="1408176"/>
            <a:ext cx="6770077" cy="33552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500706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206C55-F921-52C4-13CA-E988E263ED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
            <a:extLst>
              <a:ext uri="{FF2B5EF4-FFF2-40B4-BE49-F238E27FC236}">
                <a16:creationId xmlns:a16="http://schemas.microsoft.com/office/drawing/2014/main" id="{C3FBD41D-78ED-3517-23A1-19B6FFCE267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12480" y="73152"/>
            <a:ext cx="566928" cy="621792"/>
          </a:xfrm>
          <a:prstGeom prst="rect">
            <a:avLst/>
          </a:prstGeom>
        </p:spPr>
      </p:pic>
      <p:sp>
        <p:nvSpPr>
          <p:cNvPr id="3" name="Text 0">
            <a:extLst>
              <a:ext uri="{FF2B5EF4-FFF2-40B4-BE49-F238E27FC236}">
                <a16:creationId xmlns:a16="http://schemas.microsoft.com/office/drawing/2014/main" id="{3A6935EA-8723-02D3-83CC-6B3EFF1679D7}"/>
              </a:ext>
            </a:extLst>
          </p:cNvPr>
          <p:cNvSpPr/>
          <p:nvPr/>
        </p:nvSpPr>
        <p:spPr>
          <a:xfrm>
            <a:off x="8686800" y="4846320"/>
            <a:ext cx="365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999999"/>
                </a:solidFill>
                <a:effectLst/>
                <a:uLnTx/>
                <a:uFillTx/>
                <a:latin typeface="Poppins" pitchFamily="34" charset="0"/>
                <a:ea typeface="+mn-ea"/>
                <a:cs typeface="Poppins" pitchFamily="34" charset="-120"/>
              </a:rPr>
              <a:t>4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Shape 1">
            <a:extLst>
              <a:ext uri="{FF2B5EF4-FFF2-40B4-BE49-F238E27FC236}">
                <a16:creationId xmlns:a16="http://schemas.microsoft.com/office/drawing/2014/main" id="{BAD2CE5F-4199-2787-4B7A-2755A9559F17}"/>
              </a:ext>
            </a:extLst>
          </p:cNvPr>
          <p:cNvSpPr/>
          <p:nvPr/>
        </p:nvSpPr>
        <p:spPr>
          <a:xfrm>
            <a:off x="201168" y="457200"/>
            <a:ext cx="41148" cy="566928"/>
          </a:xfrm>
          <a:prstGeom prst="rect">
            <a:avLst/>
          </a:prstGeom>
          <a:solidFill>
            <a:srgbClr val="073763"/>
          </a:solidFill>
          <a:ln/>
        </p:spPr>
      </p:sp>
      <p:sp>
        <p:nvSpPr>
          <p:cNvPr id="9" name="Text 6">
            <a:extLst>
              <a:ext uri="{FF2B5EF4-FFF2-40B4-BE49-F238E27FC236}">
                <a16:creationId xmlns:a16="http://schemas.microsoft.com/office/drawing/2014/main" id="{C42F6786-1B54-26A7-400F-10EFF080E677}"/>
              </a:ext>
            </a:extLst>
          </p:cNvPr>
          <p:cNvSpPr/>
          <p:nvPr/>
        </p:nvSpPr>
        <p:spPr>
          <a:xfrm>
            <a:off x="365760" y="1189463"/>
            <a:ext cx="8412480" cy="370257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ClrTx/>
              <a:buSzTx/>
              <a:buFontTx/>
              <a:buNone/>
              <a:tabLst/>
              <a:defRPr/>
            </a:pP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033DBEC6-0E4B-85F4-E870-CBD06150426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6523" y="694944"/>
            <a:ext cx="8517988" cy="44485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5509922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12480" y="73152"/>
            <a:ext cx="566928" cy="62179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686800" y="4846320"/>
            <a:ext cx="365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99999"/>
                </a:solidFill>
                <a:latin typeface="Poppins" pitchFamily="34" charset="0"/>
                <a:cs typeface="Poppins" pitchFamily="34" charset="-120"/>
              </a:rPr>
              <a:t>5</a:t>
            </a:r>
            <a:endParaRPr lang="en-US" sz="900" dirty="0"/>
          </a:p>
        </p:txBody>
      </p:sp>
      <p:sp>
        <p:nvSpPr>
          <p:cNvPr id="4" name="Shape 1"/>
          <p:cNvSpPr/>
          <p:nvPr/>
        </p:nvSpPr>
        <p:spPr>
          <a:xfrm>
            <a:off x="201168" y="457200"/>
            <a:ext cx="41148" cy="566928"/>
          </a:xfrm>
          <a:prstGeom prst="rect">
            <a:avLst/>
          </a:prstGeom>
          <a:solidFill>
            <a:srgbClr val="073763"/>
          </a:solidFill>
          <a:ln/>
        </p:spPr>
      </p:sp>
      <p:sp>
        <p:nvSpPr>
          <p:cNvPr id="5" name="Text 2"/>
          <p:cNvSpPr/>
          <p:nvPr/>
        </p:nvSpPr>
        <p:spPr>
          <a:xfrm>
            <a:off x="292608" y="457200"/>
            <a:ext cx="81381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7376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What is HTTP?</a:t>
            </a:r>
            <a:endParaRPr lang="en-US" sz="2000" dirty="0"/>
          </a:p>
        </p:txBody>
      </p:sp>
      <p:sp>
        <p:nvSpPr>
          <p:cNvPr id="9" name="Text 6"/>
          <p:cNvSpPr/>
          <p:nvPr/>
        </p:nvSpPr>
        <p:spPr>
          <a:xfrm>
            <a:off x="475488" y="1118372"/>
            <a:ext cx="813816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7323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HTTP (HyperText Transfer Protocol) is the foundation of web communication. It defines how messages are formatted and transmitted between clients and servers. Every time you visit a website, HTTP is working.</a:t>
            </a:r>
            <a:endParaRPr lang="en-US" sz="1200" dirty="0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E548D4A2-D3F4-A2E0-AC0C-8AD4B1A35D8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8603" y="2002382"/>
            <a:ext cx="7871929" cy="3141118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12480" y="73152"/>
            <a:ext cx="566928" cy="62179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686800" y="4846320"/>
            <a:ext cx="365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99999"/>
                </a:solidFill>
                <a:latin typeface="Poppins" pitchFamily="34" charset="0"/>
                <a:cs typeface="Poppins" pitchFamily="34" charset="-120"/>
              </a:rPr>
              <a:t>6</a:t>
            </a:r>
            <a:endParaRPr lang="en-US" sz="900" dirty="0"/>
          </a:p>
        </p:txBody>
      </p:sp>
      <p:sp>
        <p:nvSpPr>
          <p:cNvPr id="4" name="Shape 1"/>
          <p:cNvSpPr/>
          <p:nvPr/>
        </p:nvSpPr>
        <p:spPr>
          <a:xfrm>
            <a:off x="201168" y="457200"/>
            <a:ext cx="41148" cy="566928"/>
          </a:xfrm>
          <a:prstGeom prst="rect">
            <a:avLst/>
          </a:prstGeom>
          <a:solidFill>
            <a:srgbClr val="073763"/>
          </a:solidFill>
          <a:ln/>
        </p:spPr>
      </p:sp>
      <p:sp>
        <p:nvSpPr>
          <p:cNvPr id="5" name="Text 2"/>
          <p:cNvSpPr/>
          <p:nvPr/>
        </p:nvSpPr>
        <p:spPr>
          <a:xfrm>
            <a:off x="292608" y="457200"/>
            <a:ext cx="81381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7376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Why HTTP Matters</a:t>
            </a:r>
            <a:endParaRPr lang="en-US" sz="2000" dirty="0"/>
          </a:p>
        </p:txBody>
      </p:sp>
      <p:sp>
        <p:nvSpPr>
          <p:cNvPr id="7" name="Text 4"/>
          <p:cNvSpPr/>
          <p:nvPr/>
        </p:nvSpPr>
        <p:spPr>
          <a:xfrm>
            <a:off x="429768" y="1207008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latin typeface="Poppins" pitchFamily="34" charset="0"/>
                <a:ea typeface="Poppins" pitchFamily="34" charset="-122"/>
                <a:cs typeface="Poppins" pitchFamily="34" charset="-120"/>
              </a:rPr>
              <a:t>Use Case: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429768" y="1554480"/>
            <a:ext cx="4761210" cy="76668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7323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Every web interaction uses HTTP. Knowing HTTP is crucial for building APIs and debugging network issues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429768" y="2578605"/>
            <a:ext cx="8321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latin typeface="Poppins" pitchFamily="34" charset="0"/>
                <a:ea typeface="Poppins" pitchFamily="34" charset="-122"/>
                <a:cs typeface="Poppins" pitchFamily="34" charset="-120"/>
              </a:rPr>
              <a:t>Real-World Example: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429768" y="2975307"/>
            <a:ext cx="4908921" cy="106212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71450" indent="-171450">
              <a:buClr>
                <a:schemeClr val="accent1">
                  <a:lumMod val="50000"/>
                </a:schemeClr>
              </a:buClr>
              <a:buFont typeface="Courier New" panose="02070309020205020404" pitchFamily="49" charset="0"/>
              <a:buChar char="o"/>
            </a:pPr>
            <a:r>
              <a:rPr lang="en-US" sz="1100" dirty="0">
                <a:solidFill>
                  <a:srgbClr val="27323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When you submit a form on a website, HTTP carries that data to the backend. </a:t>
            </a:r>
          </a:p>
          <a:p>
            <a:pPr marL="171450" indent="-171450">
              <a:buClr>
                <a:schemeClr val="accent1">
                  <a:lumMod val="50000"/>
                </a:schemeClr>
              </a:buClr>
              <a:buFont typeface="Courier New" panose="02070309020205020404" pitchFamily="49" charset="0"/>
              <a:buChar char="o"/>
            </a:pPr>
            <a:endParaRPr lang="en-US" sz="1100" dirty="0">
              <a:solidFill>
                <a:srgbClr val="273239"/>
              </a:solidFill>
              <a:latin typeface="Poppins" pitchFamily="34" charset="0"/>
              <a:ea typeface="Poppins" pitchFamily="34" charset="-122"/>
              <a:cs typeface="Poppins" pitchFamily="34" charset="-120"/>
            </a:endParaRPr>
          </a:p>
          <a:p>
            <a:pPr marL="171450" indent="-171450">
              <a:buClr>
                <a:schemeClr val="accent1">
                  <a:lumMod val="50000"/>
                </a:schemeClr>
              </a:buClr>
              <a:buFont typeface="Courier New" panose="02070309020205020404" pitchFamily="49" charset="0"/>
              <a:buChar char="o"/>
            </a:pPr>
            <a:r>
              <a:rPr lang="en-US" sz="1100" dirty="0">
                <a:solidFill>
                  <a:srgbClr val="27323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When Netflix streams a movie, HTTP(S) carries the video frames. Every ping, every request, every response uses HTTP.</a:t>
            </a:r>
            <a:endParaRPr lang="en-US" sz="1100" dirty="0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FAE66219-1568-7FF2-21CC-99F78624DCF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62282" y="2321169"/>
            <a:ext cx="3690278" cy="2012879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12480" y="73152"/>
            <a:ext cx="566928" cy="62179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686800" y="4846320"/>
            <a:ext cx="365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99999"/>
                </a:solidFill>
                <a:latin typeface="Poppins" pitchFamily="34" charset="0"/>
                <a:cs typeface="Poppins" pitchFamily="34" charset="-120"/>
              </a:rPr>
              <a:t>7</a:t>
            </a:r>
            <a:endParaRPr lang="en-US" sz="900" dirty="0"/>
          </a:p>
        </p:txBody>
      </p:sp>
      <p:sp>
        <p:nvSpPr>
          <p:cNvPr id="4" name="Shape 1"/>
          <p:cNvSpPr/>
          <p:nvPr/>
        </p:nvSpPr>
        <p:spPr>
          <a:xfrm>
            <a:off x="201168" y="457200"/>
            <a:ext cx="41148" cy="566928"/>
          </a:xfrm>
          <a:prstGeom prst="rect">
            <a:avLst/>
          </a:prstGeom>
          <a:solidFill>
            <a:srgbClr val="073763"/>
          </a:solidFill>
          <a:ln/>
        </p:spPr>
      </p:sp>
      <p:sp>
        <p:nvSpPr>
          <p:cNvPr id="5" name="Text 2"/>
          <p:cNvSpPr/>
          <p:nvPr/>
        </p:nvSpPr>
        <p:spPr>
          <a:xfrm>
            <a:off x="292608" y="457200"/>
            <a:ext cx="81381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7376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How HTTP Works</a:t>
            </a:r>
            <a:endParaRPr lang="en-US" sz="2000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5AE5A130-FFE9-EF21-BDE5-C04E71F4633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7638" y="1051414"/>
            <a:ext cx="7308723" cy="3986576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12480" y="73152"/>
            <a:ext cx="566928" cy="62179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686800" y="4846320"/>
            <a:ext cx="365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99999"/>
                </a:solidFill>
                <a:latin typeface="Poppins" pitchFamily="34" charset="0"/>
                <a:cs typeface="Poppins" pitchFamily="34" charset="-120"/>
              </a:rPr>
              <a:t>8</a:t>
            </a:r>
            <a:endParaRPr lang="en-US" sz="900" dirty="0"/>
          </a:p>
        </p:txBody>
      </p:sp>
      <p:sp>
        <p:nvSpPr>
          <p:cNvPr id="4" name="Shape 1"/>
          <p:cNvSpPr/>
          <p:nvPr/>
        </p:nvSpPr>
        <p:spPr>
          <a:xfrm>
            <a:off x="201168" y="457200"/>
            <a:ext cx="41148" cy="566928"/>
          </a:xfrm>
          <a:prstGeom prst="rect">
            <a:avLst/>
          </a:prstGeom>
          <a:solidFill>
            <a:srgbClr val="073763"/>
          </a:solidFill>
          <a:ln/>
        </p:spPr>
      </p:sp>
      <p:sp>
        <p:nvSpPr>
          <p:cNvPr id="5" name="Text 2"/>
          <p:cNvSpPr/>
          <p:nvPr/>
        </p:nvSpPr>
        <p:spPr>
          <a:xfrm>
            <a:off x="292608" y="457200"/>
            <a:ext cx="81381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7376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HTTP Request Structure</a:t>
            </a:r>
            <a:endParaRPr lang="en-US" sz="2000" dirty="0"/>
          </a:p>
        </p:txBody>
      </p:sp>
      <p:sp>
        <p:nvSpPr>
          <p:cNvPr id="9" name="Text 6"/>
          <p:cNvSpPr/>
          <p:nvPr/>
        </p:nvSpPr>
        <p:spPr>
          <a:xfrm>
            <a:off x="475488" y="1090245"/>
            <a:ext cx="8138160" cy="70338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7323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An HTTP Request is a message sent by the browser (client) to the server asking for some information or requesting an action.</a:t>
            </a:r>
            <a:endParaRPr lang="en-US" sz="1200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AB1F77BE-3426-565B-1BE2-2176D61EFF5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63279" y="1659829"/>
            <a:ext cx="6196818" cy="3380082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26"/>
          <p:cNvSpPr txBox="1"/>
          <p:nvPr/>
        </p:nvSpPr>
        <p:spPr>
          <a:xfrm>
            <a:off x="427225" y="1257125"/>
            <a:ext cx="3000000" cy="35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 dirty="0"/>
              <a:t>An HTTP Request has 4 main parts</a:t>
            </a:r>
            <a:endParaRPr sz="1100" b="1" dirty="0"/>
          </a:p>
        </p:txBody>
      </p:sp>
      <p:sp>
        <p:nvSpPr>
          <p:cNvPr id="212" name="Google Shape;212;p26"/>
          <p:cNvSpPr txBox="1"/>
          <p:nvPr/>
        </p:nvSpPr>
        <p:spPr>
          <a:xfrm>
            <a:off x="427225" y="1568921"/>
            <a:ext cx="3000000" cy="12002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/>
            <a:r>
              <a:rPr lang="en-IN" sz="1100" dirty="0"/>
              <a:t>HTTP Request</a:t>
            </a:r>
            <a:r>
              <a:rPr lang="en" sz="1100" dirty="0"/>
              <a:t>/</a:t>
            </a:r>
            <a:endParaRPr sz="1100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 dirty="0"/>
              <a:t> │</a:t>
            </a:r>
            <a:endParaRPr sz="1100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 dirty="0"/>
              <a:t>├── Method</a:t>
            </a:r>
            <a:endParaRPr sz="1100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 dirty="0"/>
              <a:t>├── URL</a:t>
            </a:r>
            <a:endParaRPr sz="1100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 dirty="0"/>
              <a:t>├── Headers</a:t>
            </a:r>
            <a:endParaRPr sz="1100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 dirty="0"/>
              <a:t> └── Body (Optional)</a:t>
            </a:r>
            <a:endParaRPr sz="1100" dirty="0"/>
          </a:p>
        </p:txBody>
      </p:sp>
      <p:sp>
        <p:nvSpPr>
          <p:cNvPr id="213" name="Google Shape;213;p26"/>
          <p:cNvSpPr txBox="1"/>
          <p:nvPr/>
        </p:nvSpPr>
        <p:spPr>
          <a:xfrm>
            <a:off x="4712600" y="894660"/>
            <a:ext cx="3000000" cy="354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/>
            <a:r>
              <a:rPr lang="en" sz="1100" b="1" dirty="0"/>
              <a:t>1. </a:t>
            </a:r>
            <a:r>
              <a:rPr lang="en-IN" sz="1100" b="1" dirty="0"/>
              <a:t>Method</a:t>
            </a:r>
            <a:r>
              <a:rPr lang="en" sz="1100" b="1" dirty="0"/>
              <a:t> </a:t>
            </a:r>
            <a:endParaRPr sz="1100" b="1" dirty="0"/>
          </a:p>
        </p:txBody>
      </p:sp>
      <p:sp>
        <p:nvSpPr>
          <p:cNvPr id="214" name="Google Shape;214;p26"/>
          <p:cNvSpPr txBox="1"/>
          <p:nvPr/>
        </p:nvSpPr>
        <p:spPr>
          <a:xfrm>
            <a:off x="4712600" y="1216814"/>
            <a:ext cx="3000000" cy="861744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/>
            <a:r>
              <a:rPr lang="en-US" sz="1100" dirty="0"/>
              <a:t>It tells the server what you want to do.</a:t>
            </a:r>
          </a:p>
          <a:p>
            <a:pPr lvl="0"/>
            <a:endParaRPr lang="en-US" sz="1100" dirty="0"/>
          </a:p>
          <a:p>
            <a:pPr lvl="0"/>
            <a:r>
              <a:rPr lang="en-IN" sz="1100" b="1" dirty="0"/>
              <a:t>Examples:</a:t>
            </a:r>
            <a:endParaRPr sz="1100" b="1" dirty="0"/>
          </a:p>
          <a:p>
            <a:pPr marL="457200" lvl="0" indent="-2794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●"/>
            </a:pPr>
            <a:r>
              <a:rPr lang="en" sz="1100" dirty="0"/>
              <a:t>GET, POST, PUT, PATCH, DELETE</a:t>
            </a:r>
            <a:endParaRPr sz="1100" dirty="0"/>
          </a:p>
        </p:txBody>
      </p:sp>
      <p:sp>
        <p:nvSpPr>
          <p:cNvPr id="215" name="Google Shape;215;p26"/>
          <p:cNvSpPr txBox="1"/>
          <p:nvPr/>
        </p:nvSpPr>
        <p:spPr>
          <a:xfrm>
            <a:off x="4712600" y="3630018"/>
            <a:ext cx="3000000" cy="354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 b="1" dirty="0"/>
              <a:t>3. Headers </a:t>
            </a:r>
            <a:endParaRPr sz="1100" b="1" dirty="0"/>
          </a:p>
        </p:txBody>
      </p:sp>
      <p:sp>
        <p:nvSpPr>
          <p:cNvPr id="216" name="Google Shape;216;p26"/>
          <p:cNvSpPr txBox="1"/>
          <p:nvPr/>
        </p:nvSpPr>
        <p:spPr>
          <a:xfrm>
            <a:off x="4712600" y="3913678"/>
            <a:ext cx="3000000" cy="1200298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/>
            <a:r>
              <a:rPr lang="en-US" sz="1100" dirty="0"/>
              <a:t>Headers provide extra information about the request.</a:t>
            </a:r>
            <a:endParaRPr lang="en" sz="1100" dirty="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" sz="1100" dirty="0"/>
          </a:p>
          <a:p>
            <a:pPr lvl="0"/>
            <a:r>
              <a:rPr lang="en-IN" sz="1100" dirty="0"/>
              <a:t>Example </a:t>
            </a:r>
            <a:r>
              <a:rPr lang="en" sz="1100" dirty="0"/>
              <a:t>:</a:t>
            </a:r>
            <a:endParaRPr sz="1100" dirty="0"/>
          </a:p>
          <a:p>
            <a:pPr marL="457200" lvl="0" indent="-298450">
              <a:buSzPts val="1100"/>
              <a:buChar char="●"/>
            </a:pPr>
            <a:r>
              <a:rPr lang="en-IN" sz="1100" dirty="0"/>
              <a:t>Content-Type: application/</a:t>
            </a:r>
            <a:r>
              <a:rPr lang="en-IN" sz="1100" dirty="0" err="1"/>
              <a:t>json</a:t>
            </a:r>
            <a:endParaRPr lang="en-IN" sz="1100" dirty="0"/>
          </a:p>
          <a:p>
            <a:pPr marL="457200" lvl="0" indent="-298450">
              <a:buSzPts val="1100"/>
              <a:buChar char="●"/>
            </a:pPr>
            <a:r>
              <a:rPr lang="en-IN" sz="1100" dirty="0"/>
              <a:t>Authorization: Bearer xyz123</a:t>
            </a:r>
            <a:endParaRPr sz="1100" dirty="0"/>
          </a:p>
        </p:txBody>
      </p:sp>
      <p:sp>
        <p:nvSpPr>
          <p:cNvPr id="217" name="Google Shape;217;p26"/>
          <p:cNvSpPr txBox="1"/>
          <p:nvPr/>
        </p:nvSpPr>
        <p:spPr>
          <a:xfrm>
            <a:off x="308837" y="3011045"/>
            <a:ext cx="2385126" cy="2046684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 b="1" dirty="0">
                <a:solidFill>
                  <a:schemeClr val="dk1"/>
                </a:solidFill>
              </a:rPr>
              <a:t>4. Body (Optional)</a:t>
            </a: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" sz="1100" b="1" dirty="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dirty="0">
                <a:solidFill>
                  <a:schemeClr val="dk1"/>
                </a:solidFill>
              </a:rPr>
              <a:t>The body contains the actual data sent to the server.</a:t>
            </a: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sz="1100" dirty="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 dirty="0">
                <a:solidFill>
                  <a:schemeClr val="dk1"/>
                </a:solidFill>
              </a:rPr>
              <a:t>Example: </a:t>
            </a: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sz="1100" b="1" dirty="0">
              <a:solidFill>
                <a:schemeClr val="dk1"/>
              </a:solidFill>
            </a:endParaRPr>
          </a:p>
          <a:p>
            <a:pPr lvl="0"/>
            <a:r>
              <a:rPr lang="en-IN" sz="1100" b="1" dirty="0">
                <a:solidFill>
                  <a:schemeClr val="dk1"/>
                </a:solidFill>
              </a:rPr>
              <a:t>{</a:t>
            </a:r>
          </a:p>
          <a:p>
            <a:pPr lvl="0"/>
            <a:r>
              <a:rPr lang="en-IN" sz="1100" b="1" dirty="0">
                <a:solidFill>
                  <a:schemeClr val="dk1"/>
                </a:solidFill>
              </a:rPr>
              <a:t>  "name": "Rahul",</a:t>
            </a:r>
          </a:p>
          <a:p>
            <a:pPr lvl="0"/>
            <a:r>
              <a:rPr lang="en-IN" sz="1100" b="1" dirty="0">
                <a:solidFill>
                  <a:schemeClr val="dk1"/>
                </a:solidFill>
              </a:rPr>
              <a:t>  "age": 21</a:t>
            </a:r>
          </a:p>
          <a:p>
            <a:pPr lvl="0"/>
            <a:r>
              <a:rPr lang="en-IN" sz="1100" b="1" dirty="0">
                <a:solidFill>
                  <a:schemeClr val="dk1"/>
                </a:solidFill>
              </a:rPr>
              <a:t>}</a:t>
            </a:r>
            <a:endParaRPr sz="1100" b="1" dirty="0">
              <a:solidFill>
                <a:schemeClr val="dk1"/>
              </a:solidFill>
            </a:endParaRPr>
          </a:p>
        </p:txBody>
      </p:sp>
      <p:cxnSp>
        <p:nvCxnSpPr>
          <p:cNvPr id="218" name="Google Shape;218;p26"/>
          <p:cNvCxnSpPr>
            <a:cxnSpLocks/>
          </p:cNvCxnSpPr>
          <p:nvPr/>
        </p:nvCxnSpPr>
        <p:spPr>
          <a:xfrm flipH="1">
            <a:off x="1350498" y="1198272"/>
            <a:ext cx="3362102" cy="861744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219" name="Google Shape;219;p26"/>
          <p:cNvCxnSpPr>
            <a:cxnSpLocks/>
            <a:stCxn id="215" idx="1"/>
          </p:cNvCxnSpPr>
          <p:nvPr/>
        </p:nvCxnSpPr>
        <p:spPr>
          <a:xfrm flipH="1" flipV="1">
            <a:off x="1350498" y="2390354"/>
            <a:ext cx="3362102" cy="1416664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220" name="Google Shape;220;p26"/>
          <p:cNvCxnSpPr>
            <a:cxnSpLocks/>
            <a:stCxn id="217" idx="0"/>
          </p:cNvCxnSpPr>
          <p:nvPr/>
        </p:nvCxnSpPr>
        <p:spPr>
          <a:xfrm flipH="1" flipV="1">
            <a:off x="1350498" y="2679895"/>
            <a:ext cx="150902" cy="33115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221" name="Google Shape;221;p26"/>
          <p:cNvSpPr txBox="1"/>
          <p:nvPr/>
        </p:nvSpPr>
        <p:spPr>
          <a:xfrm>
            <a:off x="4712600" y="2263752"/>
            <a:ext cx="3000000" cy="354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 b="1" dirty="0"/>
              <a:t>2. URL </a:t>
            </a:r>
            <a:endParaRPr sz="1100" b="1" dirty="0"/>
          </a:p>
        </p:txBody>
      </p:sp>
      <p:sp>
        <p:nvSpPr>
          <p:cNvPr id="222" name="Google Shape;222;p26"/>
          <p:cNvSpPr txBox="1"/>
          <p:nvPr/>
        </p:nvSpPr>
        <p:spPr>
          <a:xfrm>
            <a:off x="4712600" y="2596650"/>
            <a:ext cx="3000000" cy="861744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/>
            <a:r>
              <a:rPr lang="en-US" sz="1100" dirty="0"/>
              <a:t>It tells where the request should go.</a:t>
            </a:r>
            <a:endParaRPr lang="en" sz="1100" dirty="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" sz="1100" dirty="0"/>
          </a:p>
          <a:p>
            <a:pPr lvl="0"/>
            <a:r>
              <a:rPr lang="en-IN" sz="1100" b="1" dirty="0"/>
              <a:t>Examples</a:t>
            </a:r>
            <a:r>
              <a:rPr lang="en" sz="1100" dirty="0"/>
              <a:t>:</a:t>
            </a:r>
            <a:endParaRPr sz="1100" dirty="0"/>
          </a:p>
          <a:p>
            <a:pPr marL="457200" lvl="0" indent="-298450">
              <a:buSzPts val="1100"/>
              <a:buChar char="●"/>
            </a:pPr>
            <a:r>
              <a:rPr lang="en-IN" sz="1100" dirty="0"/>
              <a:t>https://api.college.com/students</a:t>
            </a:r>
            <a:endParaRPr sz="1100" dirty="0"/>
          </a:p>
        </p:txBody>
      </p:sp>
      <p:cxnSp>
        <p:nvCxnSpPr>
          <p:cNvPr id="223" name="Google Shape;223;p26"/>
          <p:cNvCxnSpPr>
            <a:cxnSpLocks/>
            <a:stCxn id="222" idx="1"/>
          </p:cNvCxnSpPr>
          <p:nvPr/>
        </p:nvCxnSpPr>
        <p:spPr>
          <a:xfrm flipH="1" flipV="1">
            <a:off x="1198649" y="2244219"/>
            <a:ext cx="3513951" cy="783303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5" name="Text 2">
            <a:extLst>
              <a:ext uri="{FF2B5EF4-FFF2-40B4-BE49-F238E27FC236}">
                <a16:creationId xmlns:a16="http://schemas.microsoft.com/office/drawing/2014/main" id="{14D6A16E-960F-7974-8934-BB32085D3DB1}"/>
              </a:ext>
            </a:extLst>
          </p:cNvPr>
          <p:cNvSpPr/>
          <p:nvPr/>
        </p:nvSpPr>
        <p:spPr>
          <a:xfrm>
            <a:off x="292608" y="457200"/>
            <a:ext cx="81381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7376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HTTP Request Structure</a:t>
            </a:r>
            <a:endParaRPr lang="en-US" sz="2000" dirty="0"/>
          </a:p>
        </p:txBody>
      </p:sp>
      <p:sp>
        <p:nvSpPr>
          <p:cNvPr id="7" name="Shape 1">
            <a:extLst>
              <a:ext uri="{FF2B5EF4-FFF2-40B4-BE49-F238E27FC236}">
                <a16:creationId xmlns:a16="http://schemas.microsoft.com/office/drawing/2014/main" id="{4931CFC8-57B2-50CD-6151-3BB979E54329}"/>
              </a:ext>
            </a:extLst>
          </p:cNvPr>
          <p:cNvSpPr/>
          <p:nvPr/>
        </p:nvSpPr>
        <p:spPr>
          <a:xfrm>
            <a:off x="201168" y="457200"/>
            <a:ext cx="41148" cy="566928"/>
          </a:xfrm>
          <a:prstGeom prst="rect">
            <a:avLst/>
          </a:prstGeom>
          <a:solidFill>
            <a:srgbClr val="073763"/>
          </a:solidFill>
          <a:ln/>
        </p:spPr>
      </p:sp>
      <p:pic>
        <p:nvPicPr>
          <p:cNvPr id="9" name="Image 0" descr="preencoded.png">
            <a:extLst>
              <a:ext uri="{FF2B5EF4-FFF2-40B4-BE49-F238E27FC236}">
                <a16:creationId xmlns:a16="http://schemas.microsoft.com/office/drawing/2014/main" id="{EF1D3EA7-D02B-91AE-2FA9-9CCBC481934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12480" y="73152"/>
            <a:ext cx="566928" cy="621792"/>
          </a:xfrm>
          <a:prstGeom prst="rect">
            <a:avLst/>
          </a:prstGeom>
        </p:spPr>
      </p:pic>
      <p:sp>
        <p:nvSpPr>
          <p:cNvPr id="11" name="Text 0">
            <a:extLst>
              <a:ext uri="{FF2B5EF4-FFF2-40B4-BE49-F238E27FC236}">
                <a16:creationId xmlns:a16="http://schemas.microsoft.com/office/drawing/2014/main" id="{C7CF6FF5-8A2A-C274-31D6-F94B1E7B94EA}"/>
              </a:ext>
            </a:extLst>
          </p:cNvPr>
          <p:cNvSpPr/>
          <p:nvPr/>
        </p:nvSpPr>
        <p:spPr>
          <a:xfrm>
            <a:off x="8686800" y="4846320"/>
            <a:ext cx="365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99999"/>
                </a:solidFill>
                <a:latin typeface="Poppins" pitchFamily="34" charset="0"/>
                <a:cs typeface="Poppins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8F3D13-5BFF-5464-D17F-2C05BEAB92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
            <a:extLst>
              <a:ext uri="{FF2B5EF4-FFF2-40B4-BE49-F238E27FC236}">
                <a16:creationId xmlns:a16="http://schemas.microsoft.com/office/drawing/2014/main" id="{BA793BCE-2F02-1F08-C4C3-EA2ABB8D007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12480" y="73152"/>
            <a:ext cx="566928" cy="621792"/>
          </a:xfrm>
          <a:prstGeom prst="rect">
            <a:avLst/>
          </a:prstGeom>
        </p:spPr>
      </p:pic>
      <p:sp>
        <p:nvSpPr>
          <p:cNvPr id="3" name="Text 0">
            <a:extLst>
              <a:ext uri="{FF2B5EF4-FFF2-40B4-BE49-F238E27FC236}">
                <a16:creationId xmlns:a16="http://schemas.microsoft.com/office/drawing/2014/main" id="{E203093B-47AC-4554-B4EC-A8F14DF574F4}"/>
              </a:ext>
            </a:extLst>
          </p:cNvPr>
          <p:cNvSpPr/>
          <p:nvPr/>
        </p:nvSpPr>
        <p:spPr>
          <a:xfrm>
            <a:off x="8686800" y="4846320"/>
            <a:ext cx="365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99999"/>
                </a:solidFill>
                <a:latin typeface="Poppins" pitchFamily="34" charset="0"/>
                <a:cs typeface="Poppins" pitchFamily="34" charset="-120"/>
              </a:rPr>
              <a:t>10</a:t>
            </a:r>
            <a:endParaRPr lang="en-US" sz="900" dirty="0"/>
          </a:p>
        </p:txBody>
      </p:sp>
      <p:sp>
        <p:nvSpPr>
          <p:cNvPr id="4" name="Shape 1">
            <a:extLst>
              <a:ext uri="{FF2B5EF4-FFF2-40B4-BE49-F238E27FC236}">
                <a16:creationId xmlns:a16="http://schemas.microsoft.com/office/drawing/2014/main" id="{C1940C35-DD3A-A552-F0AB-6084A15D410E}"/>
              </a:ext>
            </a:extLst>
          </p:cNvPr>
          <p:cNvSpPr/>
          <p:nvPr/>
        </p:nvSpPr>
        <p:spPr>
          <a:xfrm>
            <a:off x="201168" y="457200"/>
            <a:ext cx="41148" cy="566928"/>
          </a:xfrm>
          <a:prstGeom prst="rect">
            <a:avLst/>
          </a:prstGeom>
          <a:solidFill>
            <a:srgbClr val="073763"/>
          </a:solidFill>
          <a:ln/>
        </p:spPr>
      </p:sp>
      <p:sp>
        <p:nvSpPr>
          <p:cNvPr id="5" name="Text 2">
            <a:extLst>
              <a:ext uri="{FF2B5EF4-FFF2-40B4-BE49-F238E27FC236}">
                <a16:creationId xmlns:a16="http://schemas.microsoft.com/office/drawing/2014/main" id="{FE5B8FA2-7D94-D277-9A93-1F99057DC783}"/>
              </a:ext>
            </a:extLst>
          </p:cNvPr>
          <p:cNvSpPr/>
          <p:nvPr/>
        </p:nvSpPr>
        <p:spPr>
          <a:xfrm>
            <a:off x="292608" y="457200"/>
            <a:ext cx="81381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000" b="1" dirty="0">
                <a:solidFill>
                  <a:srgbClr val="07376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HTTP Request &amp; Response Cycle</a:t>
            </a:r>
            <a:endParaRPr lang="en-US" sz="2000" dirty="0"/>
          </a:p>
        </p:txBody>
      </p:sp>
      <p:sp>
        <p:nvSpPr>
          <p:cNvPr id="9" name="Text 6">
            <a:extLst>
              <a:ext uri="{FF2B5EF4-FFF2-40B4-BE49-F238E27FC236}">
                <a16:creationId xmlns:a16="http://schemas.microsoft.com/office/drawing/2014/main" id="{96EFFA0A-BCA5-0817-4A4F-72B4CB8B3AC9}"/>
              </a:ext>
            </a:extLst>
          </p:cNvPr>
          <p:cNvSpPr/>
          <p:nvPr/>
        </p:nvSpPr>
        <p:spPr>
          <a:xfrm>
            <a:off x="365760" y="2514600"/>
            <a:ext cx="841248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71450" indent="-171450">
              <a:spcAft>
                <a:spcPts val="400"/>
              </a:spcAft>
              <a:buFont typeface="Courier New" panose="02070309020205020404" pitchFamily="49" charset="0"/>
              <a:buChar char="o"/>
            </a:pPr>
            <a:endParaRPr lang="en-US" sz="1100" dirty="0"/>
          </a:p>
        </p:txBody>
      </p:sp>
      <p:sp>
        <p:nvSpPr>
          <p:cNvPr id="11" name="Shape 3">
            <a:extLst>
              <a:ext uri="{FF2B5EF4-FFF2-40B4-BE49-F238E27FC236}">
                <a16:creationId xmlns:a16="http://schemas.microsoft.com/office/drawing/2014/main" id="{FBC0DBF6-C40E-33F7-242B-00A5A5CC1823}"/>
              </a:ext>
            </a:extLst>
          </p:cNvPr>
          <p:cNvSpPr/>
          <p:nvPr/>
        </p:nvSpPr>
        <p:spPr>
          <a:xfrm>
            <a:off x="827532" y="1501722"/>
            <a:ext cx="585216" cy="585216"/>
          </a:xfrm>
          <a:prstGeom prst="ellipse">
            <a:avLst/>
          </a:prstGeom>
          <a:solidFill>
            <a:srgbClr val="1C4587"/>
          </a:solidFill>
          <a:ln/>
        </p:spPr>
      </p:sp>
      <p:sp>
        <p:nvSpPr>
          <p:cNvPr id="12" name="Text 4">
            <a:extLst>
              <a:ext uri="{FF2B5EF4-FFF2-40B4-BE49-F238E27FC236}">
                <a16:creationId xmlns:a16="http://schemas.microsoft.com/office/drawing/2014/main" id="{F952AD89-572A-7F7E-A598-C509F47B0A7B}"/>
              </a:ext>
            </a:extLst>
          </p:cNvPr>
          <p:cNvSpPr/>
          <p:nvPr/>
        </p:nvSpPr>
        <p:spPr>
          <a:xfrm>
            <a:off x="827532" y="1501722"/>
            <a:ext cx="585216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</a:t>
            </a:r>
            <a:endParaRPr lang="en-US" sz="1600" dirty="0"/>
          </a:p>
        </p:txBody>
      </p:sp>
      <p:sp>
        <p:nvSpPr>
          <p:cNvPr id="13" name="Text 5">
            <a:extLst>
              <a:ext uri="{FF2B5EF4-FFF2-40B4-BE49-F238E27FC236}">
                <a16:creationId xmlns:a16="http://schemas.microsoft.com/office/drawing/2014/main" id="{1E62895F-ADE2-846C-DE67-D20952E53A23}"/>
              </a:ext>
            </a:extLst>
          </p:cNvPr>
          <p:cNvSpPr/>
          <p:nvPr/>
        </p:nvSpPr>
        <p:spPr>
          <a:xfrm>
            <a:off x="320040" y="2160090"/>
            <a:ext cx="16002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7376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User Action</a:t>
            </a:r>
            <a:endParaRPr lang="en-US" sz="1200" dirty="0"/>
          </a:p>
        </p:txBody>
      </p:sp>
      <p:sp>
        <p:nvSpPr>
          <p:cNvPr id="14" name="Text 6">
            <a:extLst>
              <a:ext uri="{FF2B5EF4-FFF2-40B4-BE49-F238E27FC236}">
                <a16:creationId xmlns:a16="http://schemas.microsoft.com/office/drawing/2014/main" id="{DEC9B524-B6B7-0393-CD34-4AE95F51A2F8}"/>
              </a:ext>
            </a:extLst>
          </p:cNvPr>
          <p:cNvSpPr/>
          <p:nvPr/>
        </p:nvSpPr>
        <p:spPr>
          <a:xfrm>
            <a:off x="320040" y="2644722"/>
            <a:ext cx="1600200" cy="1965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27323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User types URL or clicks link in browser</a:t>
            </a:r>
            <a:endParaRPr lang="en-US" sz="1100" dirty="0"/>
          </a:p>
        </p:txBody>
      </p:sp>
      <p:sp>
        <p:nvSpPr>
          <p:cNvPr id="15" name="Shape 7">
            <a:extLst>
              <a:ext uri="{FF2B5EF4-FFF2-40B4-BE49-F238E27FC236}">
                <a16:creationId xmlns:a16="http://schemas.microsoft.com/office/drawing/2014/main" id="{818650C7-DC3F-0097-2343-CAA29295E61A}"/>
              </a:ext>
            </a:extLst>
          </p:cNvPr>
          <p:cNvSpPr/>
          <p:nvPr/>
        </p:nvSpPr>
        <p:spPr>
          <a:xfrm>
            <a:off x="1938528" y="1757754"/>
            <a:ext cx="146304" cy="0"/>
          </a:xfrm>
          <a:prstGeom prst="line">
            <a:avLst/>
          </a:prstGeom>
          <a:noFill/>
          <a:ln w="25400">
            <a:solidFill>
              <a:srgbClr val="073763"/>
            </a:solidFill>
            <a:prstDash val="solid"/>
          </a:ln>
        </p:spPr>
      </p:sp>
      <p:sp>
        <p:nvSpPr>
          <p:cNvPr id="16" name="Text 8">
            <a:extLst>
              <a:ext uri="{FF2B5EF4-FFF2-40B4-BE49-F238E27FC236}">
                <a16:creationId xmlns:a16="http://schemas.microsoft.com/office/drawing/2014/main" id="{D3DAA558-5E7C-24CA-3E19-0425389F1FA5}"/>
              </a:ext>
            </a:extLst>
          </p:cNvPr>
          <p:cNvSpPr/>
          <p:nvPr/>
        </p:nvSpPr>
        <p:spPr>
          <a:xfrm>
            <a:off x="1920240" y="1638882"/>
            <a:ext cx="20116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7376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→</a:t>
            </a:r>
            <a:endParaRPr lang="en-US" sz="1400" dirty="0"/>
          </a:p>
        </p:txBody>
      </p:sp>
      <p:sp>
        <p:nvSpPr>
          <p:cNvPr id="17" name="Shape 9">
            <a:extLst>
              <a:ext uri="{FF2B5EF4-FFF2-40B4-BE49-F238E27FC236}">
                <a16:creationId xmlns:a16="http://schemas.microsoft.com/office/drawing/2014/main" id="{BD5A34C0-7175-6B75-063A-2AF9A401DD3C}"/>
              </a:ext>
            </a:extLst>
          </p:cNvPr>
          <p:cNvSpPr/>
          <p:nvPr/>
        </p:nvSpPr>
        <p:spPr>
          <a:xfrm>
            <a:off x="2592324" y="1501722"/>
            <a:ext cx="585216" cy="585216"/>
          </a:xfrm>
          <a:prstGeom prst="ellipse">
            <a:avLst/>
          </a:prstGeom>
          <a:solidFill>
            <a:srgbClr val="0277BD"/>
          </a:solidFill>
          <a:ln/>
        </p:spPr>
      </p:sp>
      <p:sp>
        <p:nvSpPr>
          <p:cNvPr id="18" name="Text 10">
            <a:extLst>
              <a:ext uri="{FF2B5EF4-FFF2-40B4-BE49-F238E27FC236}">
                <a16:creationId xmlns:a16="http://schemas.microsoft.com/office/drawing/2014/main" id="{AD2FFBBA-BF60-8B54-DD10-5CF6EF6AA576}"/>
              </a:ext>
            </a:extLst>
          </p:cNvPr>
          <p:cNvSpPr/>
          <p:nvPr/>
        </p:nvSpPr>
        <p:spPr>
          <a:xfrm>
            <a:off x="2592324" y="1501722"/>
            <a:ext cx="585216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</a:t>
            </a:r>
            <a:endParaRPr lang="en-US" sz="1600" dirty="0"/>
          </a:p>
        </p:txBody>
      </p:sp>
      <p:sp>
        <p:nvSpPr>
          <p:cNvPr id="19" name="Text 11">
            <a:extLst>
              <a:ext uri="{FF2B5EF4-FFF2-40B4-BE49-F238E27FC236}">
                <a16:creationId xmlns:a16="http://schemas.microsoft.com/office/drawing/2014/main" id="{369125D1-1B3D-F36D-E913-EBBBCB40C90F}"/>
              </a:ext>
            </a:extLst>
          </p:cNvPr>
          <p:cNvSpPr/>
          <p:nvPr/>
        </p:nvSpPr>
        <p:spPr>
          <a:xfrm>
            <a:off x="2084832" y="2160090"/>
            <a:ext cx="16002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7376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DNS Resolve</a:t>
            </a:r>
            <a:endParaRPr lang="en-US" sz="1200" dirty="0"/>
          </a:p>
        </p:txBody>
      </p:sp>
      <p:sp>
        <p:nvSpPr>
          <p:cNvPr id="20" name="Text 12">
            <a:extLst>
              <a:ext uri="{FF2B5EF4-FFF2-40B4-BE49-F238E27FC236}">
                <a16:creationId xmlns:a16="http://schemas.microsoft.com/office/drawing/2014/main" id="{65D4DCEE-85D3-B7B8-3DB4-46FA2093ADF6}"/>
              </a:ext>
            </a:extLst>
          </p:cNvPr>
          <p:cNvSpPr/>
          <p:nvPr/>
        </p:nvSpPr>
        <p:spPr>
          <a:xfrm>
            <a:off x="2084832" y="2644722"/>
            <a:ext cx="1600200" cy="1965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27323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Domain name → IP address lookup</a:t>
            </a:r>
            <a:endParaRPr lang="en-US" sz="1100" dirty="0"/>
          </a:p>
        </p:txBody>
      </p:sp>
      <p:sp>
        <p:nvSpPr>
          <p:cNvPr id="21" name="Shape 13">
            <a:extLst>
              <a:ext uri="{FF2B5EF4-FFF2-40B4-BE49-F238E27FC236}">
                <a16:creationId xmlns:a16="http://schemas.microsoft.com/office/drawing/2014/main" id="{8BD3CDEE-DB4B-FB30-481C-7AA03F30DA66}"/>
              </a:ext>
            </a:extLst>
          </p:cNvPr>
          <p:cNvSpPr/>
          <p:nvPr/>
        </p:nvSpPr>
        <p:spPr>
          <a:xfrm>
            <a:off x="3703320" y="1757754"/>
            <a:ext cx="146304" cy="0"/>
          </a:xfrm>
          <a:prstGeom prst="line">
            <a:avLst/>
          </a:prstGeom>
          <a:noFill/>
          <a:ln w="25400">
            <a:solidFill>
              <a:srgbClr val="073763"/>
            </a:solidFill>
            <a:prstDash val="solid"/>
          </a:ln>
        </p:spPr>
      </p:sp>
      <p:sp>
        <p:nvSpPr>
          <p:cNvPr id="22" name="Text 14">
            <a:extLst>
              <a:ext uri="{FF2B5EF4-FFF2-40B4-BE49-F238E27FC236}">
                <a16:creationId xmlns:a16="http://schemas.microsoft.com/office/drawing/2014/main" id="{2B38B4A0-BBEC-8B3D-B853-7BF751E635F6}"/>
              </a:ext>
            </a:extLst>
          </p:cNvPr>
          <p:cNvSpPr/>
          <p:nvPr/>
        </p:nvSpPr>
        <p:spPr>
          <a:xfrm>
            <a:off x="3685032" y="1638882"/>
            <a:ext cx="20116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7376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→</a:t>
            </a:r>
            <a:endParaRPr lang="en-US" sz="1400" dirty="0"/>
          </a:p>
        </p:txBody>
      </p:sp>
      <p:sp>
        <p:nvSpPr>
          <p:cNvPr id="23" name="Shape 15">
            <a:extLst>
              <a:ext uri="{FF2B5EF4-FFF2-40B4-BE49-F238E27FC236}">
                <a16:creationId xmlns:a16="http://schemas.microsoft.com/office/drawing/2014/main" id="{90A7566A-450E-6FAA-8B9E-6D85752E5D6E}"/>
              </a:ext>
            </a:extLst>
          </p:cNvPr>
          <p:cNvSpPr/>
          <p:nvPr/>
        </p:nvSpPr>
        <p:spPr>
          <a:xfrm>
            <a:off x="4357116" y="1501722"/>
            <a:ext cx="585216" cy="585216"/>
          </a:xfrm>
          <a:prstGeom prst="ellipse">
            <a:avLst/>
          </a:prstGeom>
          <a:solidFill>
            <a:srgbClr val="00838F"/>
          </a:solidFill>
          <a:ln/>
        </p:spPr>
      </p:sp>
      <p:sp>
        <p:nvSpPr>
          <p:cNvPr id="24" name="Text 16">
            <a:extLst>
              <a:ext uri="{FF2B5EF4-FFF2-40B4-BE49-F238E27FC236}">
                <a16:creationId xmlns:a16="http://schemas.microsoft.com/office/drawing/2014/main" id="{B21297F3-C761-4AEF-4527-D7EB9C20B293}"/>
              </a:ext>
            </a:extLst>
          </p:cNvPr>
          <p:cNvSpPr/>
          <p:nvPr/>
        </p:nvSpPr>
        <p:spPr>
          <a:xfrm>
            <a:off x="4357116" y="1501722"/>
            <a:ext cx="585216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3</a:t>
            </a:r>
            <a:endParaRPr lang="en-US" sz="1600" dirty="0"/>
          </a:p>
        </p:txBody>
      </p:sp>
      <p:sp>
        <p:nvSpPr>
          <p:cNvPr id="25" name="Text 17">
            <a:extLst>
              <a:ext uri="{FF2B5EF4-FFF2-40B4-BE49-F238E27FC236}">
                <a16:creationId xmlns:a16="http://schemas.microsoft.com/office/drawing/2014/main" id="{181DB463-7F6D-FCDD-E13A-930D317EE0C8}"/>
              </a:ext>
            </a:extLst>
          </p:cNvPr>
          <p:cNvSpPr/>
          <p:nvPr/>
        </p:nvSpPr>
        <p:spPr>
          <a:xfrm>
            <a:off x="3849624" y="2160090"/>
            <a:ext cx="16002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7376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TCP Connect</a:t>
            </a:r>
            <a:endParaRPr lang="en-US" sz="1200" dirty="0"/>
          </a:p>
        </p:txBody>
      </p:sp>
      <p:sp>
        <p:nvSpPr>
          <p:cNvPr id="26" name="Text 18">
            <a:extLst>
              <a:ext uri="{FF2B5EF4-FFF2-40B4-BE49-F238E27FC236}">
                <a16:creationId xmlns:a16="http://schemas.microsoft.com/office/drawing/2014/main" id="{749FF11A-0254-ABE5-BA0D-64B3E9AA26B8}"/>
              </a:ext>
            </a:extLst>
          </p:cNvPr>
          <p:cNvSpPr/>
          <p:nvPr/>
        </p:nvSpPr>
        <p:spPr>
          <a:xfrm>
            <a:off x="3849624" y="2644722"/>
            <a:ext cx="1600200" cy="1965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27323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Browser opens connection to server port 80/443</a:t>
            </a:r>
            <a:endParaRPr lang="en-US" sz="1100" dirty="0"/>
          </a:p>
        </p:txBody>
      </p:sp>
      <p:sp>
        <p:nvSpPr>
          <p:cNvPr id="27" name="Shape 19">
            <a:extLst>
              <a:ext uri="{FF2B5EF4-FFF2-40B4-BE49-F238E27FC236}">
                <a16:creationId xmlns:a16="http://schemas.microsoft.com/office/drawing/2014/main" id="{7DFBC516-0A30-DC73-8297-E12D852A452F}"/>
              </a:ext>
            </a:extLst>
          </p:cNvPr>
          <p:cNvSpPr/>
          <p:nvPr/>
        </p:nvSpPr>
        <p:spPr>
          <a:xfrm>
            <a:off x="5468112" y="1757754"/>
            <a:ext cx="146304" cy="0"/>
          </a:xfrm>
          <a:prstGeom prst="line">
            <a:avLst/>
          </a:prstGeom>
          <a:noFill/>
          <a:ln w="25400">
            <a:solidFill>
              <a:srgbClr val="073763"/>
            </a:solidFill>
            <a:prstDash val="solid"/>
          </a:ln>
        </p:spPr>
      </p:sp>
      <p:sp>
        <p:nvSpPr>
          <p:cNvPr id="28" name="Text 20">
            <a:extLst>
              <a:ext uri="{FF2B5EF4-FFF2-40B4-BE49-F238E27FC236}">
                <a16:creationId xmlns:a16="http://schemas.microsoft.com/office/drawing/2014/main" id="{BFAEBE33-494B-FB64-3761-FE577E115FE6}"/>
              </a:ext>
            </a:extLst>
          </p:cNvPr>
          <p:cNvSpPr/>
          <p:nvPr/>
        </p:nvSpPr>
        <p:spPr>
          <a:xfrm>
            <a:off x="5449824" y="1638882"/>
            <a:ext cx="20116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7376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→</a:t>
            </a:r>
            <a:endParaRPr lang="en-US" sz="1400" dirty="0"/>
          </a:p>
        </p:txBody>
      </p:sp>
      <p:sp>
        <p:nvSpPr>
          <p:cNvPr id="29" name="Shape 21">
            <a:extLst>
              <a:ext uri="{FF2B5EF4-FFF2-40B4-BE49-F238E27FC236}">
                <a16:creationId xmlns:a16="http://schemas.microsoft.com/office/drawing/2014/main" id="{450918FC-439D-8072-2849-9EADD35B6A25}"/>
              </a:ext>
            </a:extLst>
          </p:cNvPr>
          <p:cNvSpPr/>
          <p:nvPr/>
        </p:nvSpPr>
        <p:spPr>
          <a:xfrm>
            <a:off x="6121908" y="1501722"/>
            <a:ext cx="585216" cy="585216"/>
          </a:xfrm>
          <a:prstGeom prst="ellipse">
            <a:avLst/>
          </a:prstGeom>
          <a:solidFill>
            <a:srgbClr val="2E7D32"/>
          </a:solidFill>
          <a:ln/>
        </p:spPr>
      </p:sp>
      <p:sp>
        <p:nvSpPr>
          <p:cNvPr id="30" name="Text 22">
            <a:extLst>
              <a:ext uri="{FF2B5EF4-FFF2-40B4-BE49-F238E27FC236}">
                <a16:creationId xmlns:a16="http://schemas.microsoft.com/office/drawing/2014/main" id="{E2A7657B-74DF-EE24-A13C-23E7E23FC206}"/>
              </a:ext>
            </a:extLst>
          </p:cNvPr>
          <p:cNvSpPr/>
          <p:nvPr/>
        </p:nvSpPr>
        <p:spPr>
          <a:xfrm>
            <a:off x="6121908" y="1501722"/>
            <a:ext cx="585216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4</a:t>
            </a:r>
            <a:endParaRPr lang="en-US" sz="1600" dirty="0"/>
          </a:p>
        </p:txBody>
      </p:sp>
      <p:sp>
        <p:nvSpPr>
          <p:cNvPr id="31" name="Text 23">
            <a:extLst>
              <a:ext uri="{FF2B5EF4-FFF2-40B4-BE49-F238E27FC236}">
                <a16:creationId xmlns:a16="http://schemas.microsoft.com/office/drawing/2014/main" id="{5C49619C-6ECC-31AA-D476-06B630D18061}"/>
              </a:ext>
            </a:extLst>
          </p:cNvPr>
          <p:cNvSpPr/>
          <p:nvPr/>
        </p:nvSpPr>
        <p:spPr>
          <a:xfrm>
            <a:off x="5614416" y="2160090"/>
            <a:ext cx="16002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7376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HTTP Request</a:t>
            </a:r>
            <a:endParaRPr lang="en-US" sz="1200" dirty="0"/>
          </a:p>
        </p:txBody>
      </p:sp>
      <p:sp>
        <p:nvSpPr>
          <p:cNvPr id="32" name="Text 24">
            <a:extLst>
              <a:ext uri="{FF2B5EF4-FFF2-40B4-BE49-F238E27FC236}">
                <a16:creationId xmlns:a16="http://schemas.microsoft.com/office/drawing/2014/main" id="{D4702C94-2F84-2F3D-499C-BC4A958D3608}"/>
              </a:ext>
            </a:extLst>
          </p:cNvPr>
          <p:cNvSpPr/>
          <p:nvPr/>
        </p:nvSpPr>
        <p:spPr>
          <a:xfrm>
            <a:off x="5614416" y="2644722"/>
            <a:ext cx="1600200" cy="1965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27323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Browser sends GET/POST request with headers &amp; body</a:t>
            </a:r>
            <a:endParaRPr lang="en-US" sz="1100" dirty="0"/>
          </a:p>
        </p:txBody>
      </p:sp>
      <p:sp>
        <p:nvSpPr>
          <p:cNvPr id="33" name="Shape 25">
            <a:extLst>
              <a:ext uri="{FF2B5EF4-FFF2-40B4-BE49-F238E27FC236}">
                <a16:creationId xmlns:a16="http://schemas.microsoft.com/office/drawing/2014/main" id="{FFF9A728-812B-E8AD-30C4-5DC969587A46}"/>
              </a:ext>
            </a:extLst>
          </p:cNvPr>
          <p:cNvSpPr/>
          <p:nvPr/>
        </p:nvSpPr>
        <p:spPr>
          <a:xfrm>
            <a:off x="7232904" y="1757754"/>
            <a:ext cx="146304" cy="0"/>
          </a:xfrm>
          <a:prstGeom prst="line">
            <a:avLst/>
          </a:prstGeom>
          <a:noFill/>
          <a:ln w="25400">
            <a:solidFill>
              <a:srgbClr val="073763"/>
            </a:solidFill>
            <a:prstDash val="solid"/>
          </a:ln>
        </p:spPr>
      </p:sp>
      <p:sp>
        <p:nvSpPr>
          <p:cNvPr id="34" name="Text 26">
            <a:extLst>
              <a:ext uri="{FF2B5EF4-FFF2-40B4-BE49-F238E27FC236}">
                <a16:creationId xmlns:a16="http://schemas.microsoft.com/office/drawing/2014/main" id="{8704240D-03A9-325F-BF3B-A9F61919517D}"/>
              </a:ext>
            </a:extLst>
          </p:cNvPr>
          <p:cNvSpPr/>
          <p:nvPr/>
        </p:nvSpPr>
        <p:spPr>
          <a:xfrm>
            <a:off x="7214616" y="1638882"/>
            <a:ext cx="20116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7376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→</a:t>
            </a:r>
            <a:endParaRPr lang="en-US" sz="1400" dirty="0"/>
          </a:p>
        </p:txBody>
      </p:sp>
      <p:sp>
        <p:nvSpPr>
          <p:cNvPr id="35" name="Shape 27">
            <a:extLst>
              <a:ext uri="{FF2B5EF4-FFF2-40B4-BE49-F238E27FC236}">
                <a16:creationId xmlns:a16="http://schemas.microsoft.com/office/drawing/2014/main" id="{6119D4F5-70F3-4763-970F-87A9FE9C723F}"/>
              </a:ext>
            </a:extLst>
          </p:cNvPr>
          <p:cNvSpPr/>
          <p:nvPr/>
        </p:nvSpPr>
        <p:spPr>
          <a:xfrm>
            <a:off x="7886700" y="1501722"/>
            <a:ext cx="585216" cy="585216"/>
          </a:xfrm>
          <a:prstGeom prst="ellipse">
            <a:avLst/>
          </a:prstGeom>
          <a:solidFill>
            <a:srgbClr val="558B2F"/>
          </a:solidFill>
          <a:ln/>
        </p:spPr>
      </p:sp>
      <p:sp>
        <p:nvSpPr>
          <p:cNvPr id="36" name="Text 28">
            <a:extLst>
              <a:ext uri="{FF2B5EF4-FFF2-40B4-BE49-F238E27FC236}">
                <a16:creationId xmlns:a16="http://schemas.microsoft.com/office/drawing/2014/main" id="{D406323A-5B2D-499A-08E1-568B6EADBD90}"/>
              </a:ext>
            </a:extLst>
          </p:cNvPr>
          <p:cNvSpPr/>
          <p:nvPr/>
        </p:nvSpPr>
        <p:spPr>
          <a:xfrm>
            <a:off x="7886700" y="1501722"/>
            <a:ext cx="585216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5</a:t>
            </a:r>
            <a:endParaRPr lang="en-US" sz="1600" dirty="0"/>
          </a:p>
        </p:txBody>
      </p:sp>
      <p:sp>
        <p:nvSpPr>
          <p:cNvPr id="37" name="Text 29">
            <a:extLst>
              <a:ext uri="{FF2B5EF4-FFF2-40B4-BE49-F238E27FC236}">
                <a16:creationId xmlns:a16="http://schemas.microsoft.com/office/drawing/2014/main" id="{F204930B-3933-0C27-CA5B-23A0008A23DB}"/>
              </a:ext>
            </a:extLst>
          </p:cNvPr>
          <p:cNvSpPr/>
          <p:nvPr/>
        </p:nvSpPr>
        <p:spPr>
          <a:xfrm>
            <a:off x="7379208" y="2160090"/>
            <a:ext cx="16002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7376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Server Process</a:t>
            </a:r>
            <a:endParaRPr lang="en-US" sz="1200" dirty="0"/>
          </a:p>
        </p:txBody>
      </p:sp>
      <p:sp>
        <p:nvSpPr>
          <p:cNvPr id="38" name="Text 30">
            <a:extLst>
              <a:ext uri="{FF2B5EF4-FFF2-40B4-BE49-F238E27FC236}">
                <a16:creationId xmlns:a16="http://schemas.microsoft.com/office/drawing/2014/main" id="{3E79EEB2-9B59-F700-6442-974D50707AC1}"/>
              </a:ext>
            </a:extLst>
          </p:cNvPr>
          <p:cNvSpPr/>
          <p:nvPr/>
        </p:nvSpPr>
        <p:spPr>
          <a:xfrm>
            <a:off x="7379208" y="2644722"/>
            <a:ext cx="1600200" cy="1965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27323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Server runs code, queries DB, prepares response</a:t>
            </a:r>
            <a:endParaRPr lang="en-US" sz="1100" dirty="0"/>
          </a:p>
        </p:txBody>
      </p:sp>
    </p:spTree>
    <p:extLst>
      <p:ext uri="{BB962C8B-B14F-4D97-AF65-F5344CB8AC3E}">
        <p14:creationId xmlns:p14="http://schemas.microsoft.com/office/powerpoint/2010/main" val="190371842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12480" y="73152"/>
            <a:ext cx="566928" cy="62179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686800" y="4846320"/>
            <a:ext cx="365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99999"/>
                </a:solidFill>
                <a:latin typeface="Poppins" pitchFamily="34" charset="0"/>
                <a:cs typeface="Poppins" pitchFamily="34" charset="-120"/>
              </a:rPr>
              <a:t>11</a:t>
            </a:r>
            <a:endParaRPr lang="en-US" sz="900" dirty="0"/>
          </a:p>
        </p:txBody>
      </p:sp>
      <p:sp>
        <p:nvSpPr>
          <p:cNvPr id="4" name="Shape 1"/>
          <p:cNvSpPr/>
          <p:nvPr/>
        </p:nvSpPr>
        <p:spPr>
          <a:xfrm>
            <a:off x="201168" y="457200"/>
            <a:ext cx="41148" cy="566928"/>
          </a:xfrm>
          <a:prstGeom prst="rect">
            <a:avLst/>
          </a:prstGeom>
          <a:solidFill>
            <a:srgbClr val="073763"/>
          </a:solidFill>
          <a:ln/>
        </p:spPr>
      </p:sp>
      <p:sp>
        <p:nvSpPr>
          <p:cNvPr id="5" name="Text 2"/>
          <p:cNvSpPr/>
          <p:nvPr/>
        </p:nvSpPr>
        <p:spPr>
          <a:xfrm>
            <a:off x="292608" y="457200"/>
            <a:ext cx="81381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7376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HTTP Methods</a:t>
            </a:r>
            <a:endParaRPr lang="en-US" sz="2000" dirty="0"/>
          </a:p>
        </p:txBody>
      </p:sp>
      <p:sp>
        <p:nvSpPr>
          <p:cNvPr id="9" name="Text 6"/>
          <p:cNvSpPr/>
          <p:nvPr/>
        </p:nvSpPr>
        <p:spPr>
          <a:xfrm>
            <a:off x="475488" y="1055074"/>
            <a:ext cx="813816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7323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HTTP methods are verbs telling the server what action you want. GET, POST, PUT, PATCH, DELETE are the main ones. Each has a specific purpose and meaning.</a:t>
            </a:r>
            <a:endParaRPr lang="en-US" sz="1200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2505276B-C2ED-662E-F422-739DCEEBD72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48812" y="1705214"/>
            <a:ext cx="6859686" cy="3426682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12480" y="73152"/>
            <a:ext cx="566928" cy="62179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686800" y="4846320"/>
            <a:ext cx="365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99999"/>
                </a:solidFill>
                <a:latin typeface="Poppins" pitchFamily="34" charset="0"/>
                <a:cs typeface="Poppins" pitchFamily="34" charset="-120"/>
              </a:rPr>
              <a:t>12</a:t>
            </a:r>
            <a:endParaRPr lang="en-US" sz="900" dirty="0"/>
          </a:p>
        </p:txBody>
      </p:sp>
      <p:sp>
        <p:nvSpPr>
          <p:cNvPr id="4" name="Shape 1"/>
          <p:cNvSpPr/>
          <p:nvPr/>
        </p:nvSpPr>
        <p:spPr>
          <a:xfrm>
            <a:off x="201168" y="457200"/>
            <a:ext cx="41148" cy="566928"/>
          </a:xfrm>
          <a:prstGeom prst="rect">
            <a:avLst/>
          </a:prstGeom>
          <a:solidFill>
            <a:srgbClr val="073763"/>
          </a:solidFill>
          <a:ln/>
        </p:spPr>
      </p:sp>
      <p:sp>
        <p:nvSpPr>
          <p:cNvPr id="5" name="Text 2"/>
          <p:cNvSpPr/>
          <p:nvPr/>
        </p:nvSpPr>
        <p:spPr>
          <a:xfrm>
            <a:off x="292608" y="457200"/>
            <a:ext cx="81381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7376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HTTP Methods</a:t>
            </a:r>
            <a:endParaRPr lang="en-US" sz="20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/>
        </p:nvGraphicFramePr>
        <p:xfrm>
          <a:off x="365760" y="1170432"/>
          <a:ext cx="8412480" cy="3657600"/>
        </p:xfrm>
        <a:graphic>
          <a:graphicData uri="http://schemas.openxmlformats.org/drawingml/2006/table">
            <a:tbl>
              <a:tblPr/>
              <a:tblGrid>
                <a:gridCol w="168249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8249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8249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8249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68249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Method</a:t>
                      </a:r>
                      <a:endParaRPr lang="en-US" sz="120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7376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Purpose</a:t>
                      </a:r>
                      <a:endParaRPr lang="en-US" sz="120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7376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Has Body?</a:t>
                      </a:r>
                      <a:endParaRPr lang="en-US" sz="120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7376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Idempotent?</a:t>
                      </a:r>
                      <a:endParaRPr lang="en-US" sz="120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7376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Example Use</a:t>
                      </a:r>
                      <a:endParaRPr lang="en-US" sz="120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7376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73239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GET</a:t>
                      </a:r>
                      <a:endParaRPr lang="en-US" sz="115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73239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Retrieve data</a:t>
                      </a:r>
                      <a:endParaRPr lang="en-US" sz="115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73239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No</a:t>
                      </a:r>
                      <a:endParaRPr lang="en-US" sz="115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73239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Yes</a:t>
                      </a:r>
                      <a:endParaRPr lang="en-US" sz="115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73239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Fetch user list</a:t>
                      </a:r>
                      <a:endParaRPr lang="en-US" sz="115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73239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POST</a:t>
                      </a:r>
                      <a:endParaRPr lang="en-US" sz="115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73239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Create a new resource</a:t>
                      </a:r>
                      <a:endParaRPr lang="en-US" sz="115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73239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Yes</a:t>
                      </a:r>
                      <a:endParaRPr lang="en-US" sz="115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73239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No</a:t>
                      </a:r>
                      <a:endParaRPr lang="en-US" sz="115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73239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Register a user</a:t>
                      </a:r>
                      <a:endParaRPr lang="en-US" sz="115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73239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PUT</a:t>
                      </a:r>
                      <a:endParaRPr lang="en-US" sz="115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73239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Replace entire resource</a:t>
                      </a:r>
                      <a:endParaRPr lang="en-US" sz="115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73239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Yes</a:t>
                      </a:r>
                      <a:endParaRPr lang="en-US" sz="115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73239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Yes</a:t>
                      </a:r>
                      <a:endParaRPr lang="en-US" sz="115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73239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Update full profile</a:t>
                      </a:r>
                      <a:endParaRPr lang="en-US" sz="115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73239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PATCH</a:t>
                      </a:r>
                      <a:endParaRPr lang="en-US" sz="115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73239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Partially update a resource</a:t>
                      </a:r>
                      <a:endParaRPr lang="en-US" sz="115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73239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Yes</a:t>
                      </a:r>
                      <a:endParaRPr lang="en-US" sz="115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73239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Yes</a:t>
                      </a:r>
                      <a:endParaRPr lang="en-US" sz="115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73239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Change only email</a:t>
                      </a:r>
                      <a:endParaRPr lang="en-US" sz="115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73239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DELETE</a:t>
                      </a:r>
                      <a:endParaRPr lang="en-US" sz="115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73239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Remove a resource</a:t>
                      </a:r>
                      <a:endParaRPr lang="en-US" sz="115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73239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No</a:t>
                      </a:r>
                      <a:endParaRPr lang="en-US" sz="115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73239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Yes</a:t>
                      </a:r>
                      <a:endParaRPr lang="en-US" sz="115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73239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Delete a post</a:t>
                      </a:r>
                      <a:endParaRPr lang="en-US" sz="115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73239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HEAD</a:t>
                      </a:r>
                      <a:endParaRPr lang="en-US" sz="115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73239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Like GET but no response body</a:t>
                      </a:r>
                      <a:endParaRPr lang="en-US" sz="115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73239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No</a:t>
                      </a:r>
                      <a:endParaRPr lang="en-US" sz="115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73239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Yes</a:t>
                      </a:r>
                      <a:endParaRPr lang="en-US" sz="115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73239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Check if file exists</a:t>
                      </a:r>
                      <a:endParaRPr lang="en-US" sz="115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73239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OPTIONS</a:t>
                      </a:r>
                      <a:endParaRPr lang="en-US" sz="115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73239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Describe available methods (CORS)</a:t>
                      </a:r>
                      <a:endParaRPr lang="en-US" sz="115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73239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No</a:t>
                      </a:r>
                      <a:endParaRPr lang="en-US" sz="115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73239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Yes</a:t>
                      </a:r>
                      <a:endParaRPr lang="en-US" sz="115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73239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CORS preflight check</a:t>
                      </a:r>
                      <a:endParaRPr lang="en-US" sz="115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12480" y="73152"/>
            <a:ext cx="566928" cy="62179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686800" y="4846320"/>
            <a:ext cx="365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9999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13</a:t>
            </a:r>
            <a:endParaRPr lang="en-US" sz="900" dirty="0"/>
          </a:p>
        </p:txBody>
      </p:sp>
      <p:sp>
        <p:nvSpPr>
          <p:cNvPr id="4" name="Shape 1"/>
          <p:cNvSpPr/>
          <p:nvPr/>
        </p:nvSpPr>
        <p:spPr>
          <a:xfrm>
            <a:off x="201168" y="457200"/>
            <a:ext cx="41148" cy="566928"/>
          </a:xfrm>
          <a:prstGeom prst="rect">
            <a:avLst/>
          </a:prstGeom>
          <a:solidFill>
            <a:srgbClr val="073763"/>
          </a:solidFill>
          <a:ln/>
        </p:spPr>
      </p:sp>
      <p:sp>
        <p:nvSpPr>
          <p:cNvPr id="5" name="Text 2"/>
          <p:cNvSpPr/>
          <p:nvPr/>
        </p:nvSpPr>
        <p:spPr>
          <a:xfrm>
            <a:off x="292608" y="457200"/>
            <a:ext cx="81381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7376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HTTP Status Codes</a:t>
            </a:r>
            <a:endParaRPr lang="en-US" sz="2000" dirty="0"/>
          </a:p>
        </p:txBody>
      </p:sp>
      <p:sp>
        <p:nvSpPr>
          <p:cNvPr id="9" name="Text 6"/>
          <p:cNvSpPr/>
          <p:nvPr/>
        </p:nvSpPr>
        <p:spPr>
          <a:xfrm>
            <a:off x="475488" y="1125407"/>
            <a:ext cx="813816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71450" indent="-171450">
              <a:buClr>
                <a:schemeClr val="accent1">
                  <a:lumMod val="50000"/>
                </a:schemeClr>
              </a:buClr>
              <a:buFont typeface="Courier New" panose="02070309020205020404" pitchFamily="49" charset="0"/>
              <a:buChar char="o"/>
            </a:pPr>
            <a:r>
              <a:rPr lang="en-US" sz="1200" dirty="0">
                <a:solidFill>
                  <a:srgbClr val="27323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HTTP Status Codes are 3-digit numbers sent by the server to tell the client whether the request was successful or not.</a:t>
            </a:r>
          </a:p>
          <a:p>
            <a:pPr marL="171450" indent="-171450">
              <a:buClr>
                <a:schemeClr val="accent1">
                  <a:lumMod val="50000"/>
                </a:schemeClr>
              </a:buClr>
              <a:buFont typeface="Courier New" panose="02070309020205020404" pitchFamily="49" charset="0"/>
              <a:buChar char="o"/>
            </a:pPr>
            <a:endParaRPr lang="en-US" sz="1200" dirty="0">
              <a:solidFill>
                <a:srgbClr val="273239"/>
              </a:solidFill>
              <a:latin typeface="Poppins" pitchFamily="34" charset="0"/>
              <a:ea typeface="Poppins" pitchFamily="34" charset="-122"/>
              <a:cs typeface="Poppins" pitchFamily="34" charset="-120"/>
            </a:endParaRPr>
          </a:p>
          <a:p>
            <a:pPr marL="171450" indent="-171450">
              <a:buClr>
                <a:schemeClr val="accent1">
                  <a:lumMod val="50000"/>
                </a:schemeClr>
              </a:buClr>
              <a:buFont typeface="Courier New" panose="02070309020205020404" pitchFamily="49" charset="0"/>
              <a:buChar char="o"/>
            </a:pPr>
            <a:r>
              <a:rPr lang="en-US" sz="1200" dirty="0">
                <a:solidFill>
                  <a:srgbClr val="27323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They're essential for error handling.</a:t>
            </a:r>
            <a:endParaRPr lang="en-US" sz="1200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E944AE7-3FEB-144C-413D-F16C3B45077B}"/>
              </a:ext>
            </a:extLst>
          </p:cNvPr>
          <p:cNvSpPr txBox="1"/>
          <p:nvPr/>
        </p:nvSpPr>
        <p:spPr>
          <a:xfrm>
            <a:off x="3411416" y="2550477"/>
            <a:ext cx="4572000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Browser (Client)</a:t>
            </a:r>
          </a:p>
          <a:p>
            <a:r>
              <a:rPr lang="en-IN" dirty="0"/>
              <a:t>      │</a:t>
            </a:r>
          </a:p>
          <a:p>
            <a:r>
              <a:rPr lang="en-IN" dirty="0"/>
              <a:t>      │ HTTP Request</a:t>
            </a:r>
          </a:p>
          <a:p>
            <a:r>
              <a:rPr lang="en-IN" dirty="0"/>
              <a:t>      ▼</a:t>
            </a:r>
          </a:p>
          <a:p>
            <a:r>
              <a:rPr lang="en-IN" dirty="0"/>
              <a:t>Server</a:t>
            </a:r>
          </a:p>
          <a:p>
            <a:r>
              <a:rPr lang="en-IN" dirty="0"/>
              <a:t>      │</a:t>
            </a:r>
          </a:p>
          <a:p>
            <a:r>
              <a:rPr lang="en-IN" dirty="0"/>
              <a:t>      │ HTTP Status Code + Response</a:t>
            </a:r>
          </a:p>
          <a:p>
            <a:r>
              <a:rPr lang="en-IN" dirty="0"/>
              <a:t>      ▼</a:t>
            </a:r>
          </a:p>
          <a:p>
            <a:r>
              <a:rPr lang="en-IN" dirty="0"/>
              <a:t>Browser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531C899-34F4-A883-CDED-74CCC097D82C}"/>
              </a:ext>
            </a:extLst>
          </p:cNvPr>
          <p:cNvSpPr txBox="1"/>
          <p:nvPr/>
        </p:nvSpPr>
        <p:spPr>
          <a:xfrm>
            <a:off x="520502" y="2104850"/>
            <a:ext cx="4572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/>
              <a:t>HTTP Request → Response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5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5A4725-91D7-9FDB-5AF5-FE70D441A5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
            <a:extLst>
              <a:ext uri="{FF2B5EF4-FFF2-40B4-BE49-F238E27FC236}">
                <a16:creationId xmlns:a16="http://schemas.microsoft.com/office/drawing/2014/main" id="{C4D00D5F-48FA-D1A5-0694-480999A238E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12480" y="73152"/>
            <a:ext cx="566928" cy="621792"/>
          </a:xfrm>
          <a:prstGeom prst="rect">
            <a:avLst/>
          </a:prstGeom>
        </p:spPr>
      </p:pic>
      <p:sp>
        <p:nvSpPr>
          <p:cNvPr id="3" name="Text 0">
            <a:extLst>
              <a:ext uri="{FF2B5EF4-FFF2-40B4-BE49-F238E27FC236}">
                <a16:creationId xmlns:a16="http://schemas.microsoft.com/office/drawing/2014/main" id="{66AC4266-F2EA-1CF9-5478-A16DCE45CA8D}"/>
              </a:ext>
            </a:extLst>
          </p:cNvPr>
          <p:cNvSpPr/>
          <p:nvPr/>
        </p:nvSpPr>
        <p:spPr>
          <a:xfrm>
            <a:off x="8686800" y="4846320"/>
            <a:ext cx="365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9999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14</a:t>
            </a:r>
            <a:endParaRPr lang="en-US" sz="900" dirty="0"/>
          </a:p>
        </p:txBody>
      </p:sp>
      <p:sp>
        <p:nvSpPr>
          <p:cNvPr id="4" name="Shape 1">
            <a:extLst>
              <a:ext uri="{FF2B5EF4-FFF2-40B4-BE49-F238E27FC236}">
                <a16:creationId xmlns:a16="http://schemas.microsoft.com/office/drawing/2014/main" id="{7FA95D18-BBD4-69D9-A20F-06B611523332}"/>
              </a:ext>
            </a:extLst>
          </p:cNvPr>
          <p:cNvSpPr/>
          <p:nvPr/>
        </p:nvSpPr>
        <p:spPr>
          <a:xfrm>
            <a:off x="201168" y="457200"/>
            <a:ext cx="41148" cy="566928"/>
          </a:xfrm>
          <a:prstGeom prst="rect">
            <a:avLst/>
          </a:prstGeom>
          <a:solidFill>
            <a:srgbClr val="073763"/>
          </a:solidFill>
          <a:ln/>
        </p:spPr>
      </p:sp>
      <p:sp>
        <p:nvSpPr>
          <p:cNvPr id="5" name="Text 2">
            <a:extLst>
              <a:ext uri="{FF2B5EF4-FFF2-40B4-BE49-F238E27FC236}">
                <a16:creationId xmlns:a16="http://schemas.microsoft.com/office/drawing/2014/main" id="{6E476782-76FB-ECD0-AAA2-CC7665085998}"/>
              </a:ext>
            </a:extLst>
          </p:cNvPr>
          <p:cNvSpPr/>
          <p:nvPr/>
        </p:nvSpPr>
        <p:spPr>
          <a:xfrm>
            <a:off x="292608" y="457200"/>
            <a:ext cx="81381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7376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HTTP Status Codes</a:t>
            </a:r>
            <a:endParaRPr lang="en-US" sz="2000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EB7A2CC-67A0-D5B6-294F-7A240CF15C4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4748" y="903068"/>
            <a:ext cx="7653880" cy="41748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024964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12480" y="73152"/>
            <a:ext cx="566928" cy="62179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686800" y="4846320"/>
            <a:ext cx="365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9999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15</a:t>
            </a:r>
            <a:endParaRPr lang="en-US" sz="900" dirty="0"/>
          </a:p>
        </p:txBody>
      </p:sp>
      <p:sp>
        <p:nvSpPr>
          <p:cNvPr id="4" name="Shape 1"/>
          <p:cNvSpPr/>
          <p:nvPr/>
        </p:nvSpPr>
        <p:spPr>
          <a:xfrm>
            <a:off x="201168" y="457200"/>
            <a:ext cx="41148" cy="566928"/>
          </a:xfrm>
          <a:prstGeom prst="rect">
            <a:avLst/>
          </a:prstGeom>
          <a:solidFill>
            <a:srgbClr val="073763"/>
          </a:solidFill>
          <a:ln/>
        </p:spPr>
      </p:sp>
      <p:sp>
        <p:nvSpPr>
          <p:cNvPr id="5" name="Text 2"/>
          <p:cNvSpPr/>
          <p:nvPr/>
        </p:nvSpPr>
        <p:spPr>
          <a:xfrm>
            <a:off x="292608" y="457200"/>
            <a:ext cx="81381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7376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HTTP Headers</a:t>
            </a:r>
            <a:endParaRPr lang="en-US" sz="2000" dirty="0"/>
          </a:p>
        </p:txBody>
      </p:sp>
      <p:sp>
        <p:nvSpPr>
          <p:cNvPr id="9" name="Text 6"/>
          <p:cNvSpPr/>
          <p:nvPr/>
        </p:nvSpPr>
        <p:spPr>
          <a:xfrm>
            <a:off x="468454" y="956602"/>
            <a:ext cx="813816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7323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Headers are key-value pairs carrying metadata about the request or response. They tell the server and client extra information beyond just the data.</a:t>
            </a:r>
            <a:endParaRPr lang="en-US" sz="1200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97F89BE2-1F08-EE9B-CB02-B5FB055DA0CE}"/>
              </a:ext>
            </a:extLst>
          </p:cNvPr>
          <p:cNvSpPr txBox="1"/>
          <p:nvPr/>
        </p:nvSpPr>
        <p:spPr>
          <a:xfrm>
            <a:off x="468453" y="1882618"/>
            <a:ext cx="7887755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1200" b="1" dirty="0">
                <a:latin typeface="Poppins" panose="00000500000000000000" pitchFamily="2" charset="0"/>
                <a:cs typeface="Poppins" panose="00000500000000000000" pitchFamily="2" charset="0"/>
              </a:rPr>
              <a:t>Imagine you are sending a courier parcel:</a:t>
            </a:r>
          </a:p>
          <a:p>
            <a:pPr>
              <a:buNone/>
            </a:pPr>
            <a:endParaRPr lang="en-IN" sz="1200" b="1" dirty="0">
              <a:latin typeface="Poppins" panose="00000500000000000000" pitchFamily="2" charset="0"/>
              <a:cs typeface="Poppins" panose="00000500000000000000" pitchFamily="2" charset="0"/>
            </a:endParaRPr>
          </a:p>
          <a:p>
            <a:pPr>
              <a:buNone/>
            </a:pPr>
            <a:r>
              <a:rPr lang="en-IN" sz="1200" dirty="0">
                <a:latin typeface="Poppins" panose="00000500000000000000" pitchFamily="2" charset="0"/>
                <a:cs typeface="Poppins" panose="00000500000000000000" pitchFamily="2" charset="0"/>
              </a:rPr>
              <a:t>The parcel contains your gift (the main data), but there is also a label attached with:</a:t>
            </a:r>
          </a:p>
          <a:p>
            <a:pPr>
              <a:buNone/>
            </a:pPr>
            <a:endParaRPr lang="en-IN" sz="1200" dirty="0">
              <a:latin typeface="Poppins" panose="00000500000000000000" pitchFamily="2" charset="0"/>
              <a:cs typeface="Poppins" panose="00000500000000000000" pitchFamily="2" charset="0"/>
            </a:endParaRPr>
          </a:p>
          <a:p>
            <a:pPr marL="628650" lvl="1" indent="-171450">
              <a:buClr>
                <a:schemeClr val="accent1">
                  <a:lumMod val="50000"/>
                </a:schemeClr>
              </a:buClr>
              <a:buFont typeface="Courier New" panose="02070309020205020404" pitchFamily="49" charset="0"/>
              <a:buChar char="o"/>
            </a:pPr>
            <a:r>
              <a:rPr lang="en-IN" sz="1200" dirty="0">
                <a:latin typeface="Poppins" panose="00000500000000000000" pitchFamily="2" charset="0"/>
                <a:cs typeface="Poppins" panose="00000500000000000000" pitchFamily="2" charset="0"/>
              </a:rPr>
              <a:t> Sender Name </a:t>
            </a:r>
          </a:p>
          <a:p>
            <a:pPr marL="628650" lvl="1" indent="-171450">
              <a:buClr>
                <a:schemeClr val="accent1">
                  <a:lumMod val="50000"/>
                </a:schemeClr>
              </a:buClr>
              <a:buFont typeface="Courier New" panose="02070309020205020404" pitchFamily="49" charset="0"/>
              <a:buChar char="o"/>
            </a:pPr>
            <a:r>
              <a:rPr lang="en-IN" sz="1200" dirty="0">
                <a:latin typeface="Poppins" panose="00000500000000000000" pitchFamily="2" charset="0"/>
                <a:cs typeface="Poppins" panose="00000500000000000000" pitchFamily="2" charset="0"/>
              </a:rPr>
              <a:t> Receiver Address </a:t>
            </a:r>
          </a:p>
          <a:p>
            <a:pPr marL="628650" lvl="1" indent="-171450">
              <a:buClr>
                <a:schemeClr val="accent1">
                  <a:lumMod val="50000"/>
                </a:schemeClr>
              </a:buClr>
              <a:buFont typeface="Courier New" panose="02070309020205020404" pitchFamily="49" charset="0"/>
              <a:buChar char="o"/>
            </a:pPr>
            <a:r>
              <a:rPr lang="en-IN" sz="1200" dirty="0">
                <a:latin typeface="Poppins" panose="00000500000000000000" pitchFamily="2" charset="0"/>
                <a:cs typeface="Poppins" panose="00000500000000000000" pitchFamily="2" charset="0"/>
              </a:rPr>
              <a:t> Fragile </a:t>
            </a:r>
          </a:p>
          <a:p>
            <a:pPr marL="628650" lvl="1" indent="-171450">
              <a:buClr>
                <a:schemeClr val="accent1">
                  <a:lumMod val="50000"/>
                </a:schemeClr>
              </a:buClr>
              <a:buFont typeface="Courier New" panose="02070309020205020404" pitchFamily="49" charset="0"/>
              <a:buChar char="o"/>
            </a:pPr>
            <a:r>
              <a:rPr lang="en-IN" sz="1200" dirty="0">
                <a:latin typeface="Poppins" panose="00000500000000000000" pitchFamily="2" charset="0"/>
                <a:cs typeface="Poppins" panose="00000500000000000000" pitchFamily="2" charset="0"/>
              </a:rPr>
              <a:t> Weight </a:t>
            </a:r>
          </a:p>
          <a:p>
            <a:pPr marL="171450" indent="-171450">
              <a:buClr>
                <a:schemeClr val="accent1">
                  <a:lumMod val="50000"/>
                </a:schemeClr>
              </a:buClr>
              <a:buFont typeface="Courier New" panose="02070309020205020404" pitchFamily="49" charset="0"/>
              <a:buChar char="o"/>
            </a:pPr>
            <a:endParaRPr lang="en-IN" sz="1200" dirty="0">
              <a:latin typeface="Poppins" panose="00000500000000000000" pitchFamily="2" charset="0"/>
              <a:cs typeface="Poppins" panose="00000500000000000000" pitchFamily="2" charset="0"/>
            </a:endParaRPr>
          </a:p>
          <a:p>
            <a:pPr>
              <a:buNone/>
            </a:pPr>
            <a:r>
              <a:rPr lang="en-IN" sz="1200" dirty="0">
                <a:latin typeface="Poppins" panose="00000500000000000000" pitchFamily="2" charset="0"/>
                <a:cs typeface="Poppins" panose="00000500000000000000" pitchFamily="2" charset="0"/>
              </a:rPr>
              <a:t>These labels don't change the gift, but they tell the courier how to handle it.</a:t>
            </a:r>
          </a:p>
          <a:p>
            <a:pPr>
              <a:buNone/>
            </a:pPr>
            <a:endParaRPr lang="en-IN" sz="1200" dirty="0">
              <a:latin typeface="Poppins" panose="00000500000000000000" pitchFamily="2" charset="0"/>
              <a:cs typeface="Poppins" panose="00000500000000000000" pitchFamily="2" charset="0"/>
            </a:endParaRPr>
          </a:p>
          <a:p>
            <a:pPr>
              <a:buNone/>
            </a:pPr>
            <a:endParaRPr lang="en-IN" sz="1200" b="1" dirty="0">
              <a:latin typeface="Poppins" panose="00000500000000000000" pitchFamily="2" charset="0"/>
              <a:cs typeface="Poppins" panose="00000500000000000000" pitchFamily="2" charset="0"/>
            </a:endParaRPr>
          </a:p>
          <a:p>
            <a:pPr>
              <a:buNone/>
            </a:pPr>
            <a:r>
              <a:rPr lang="en-IN" sz="1200" b="1" dirty="0">
                <a:latin typeface="Poppins" panose="00000500000000000000" pitchFamily="2" charset="0"/>
                <a:cs typeface="Poppins" panose="00000500000000000000" pitchFamily="2" charset="0"/>
              </a:rPr>
              <a:t>HTTP Headers work exactly like these labels.</a:t>
            </a:r>
            <a:r>
              <a:rPr lang="en-IN" sz="1200" dirty="0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</a:p>
          <a:p>
            <a:pPr>
              <a:buNone/>
            </a:pPr>
            <a:endParaRPr lang="en-IN" sz="1200" dirty="0">
              <a:latin typeface="Poppins" panose="00000500000000000000" pitchFamily="2" charset="0"/>
              <a:cs typeface="Poppins" panose="00000500000000000000" pitchFamily="2" charset="0"/>
            </a:endParaRPr>
          </a:p>
          <a:p>
            <a:pPr>
              <a:buNone/>
            </a:pPr>
            <a:r>
              <a:rPr lang="en-IN" sz="1200" dirty="0">
                <a:latin typeface="Poppins" panose="00000500000000000000" pitchFamily="2" charset="0"/>
                <a:cs typeface="Poppins" panose="00000500000000000000" pitchFamily="2" charset="0"/>
              </a:rPr>
              <a:t>They carry extra information about the request or response.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12480" y="73152"/>
            <a:ext cx="566928" cy="62179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686800" y="4846320"/>
            <a:ext cx="365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99999"/>
                </a:solidFill>
                <a:latin typeface="Poppins" pitchFamily="34" charset="0"/>
                <a:cs typeface="Poppins" pitchFamily="34" charset="-120"/>
              </a:rPr>
              <a:t>16</a:t>
            </a:r>
            <a:endParaRPr lang="en-US" sz="900" dirty="0"/>
          </a:p>
        </p:txBody>
      </p:sp>
      <p:sp>
        <p:nvSpPr>
          <p:cNvPr id="4" name="Shape 1"/>
          <p:cNvSpPr/>
          <p:nvPr/>
        </p:nvSpPr>
        <p:spPr>
          <a:xfrm>
            <a:off x="201168" y="457200"/>
            <a:ext cx="41148" cy="566928"/>
          </a:xfrm>
          <a:prstGeom prst="rect">
            <a:avLst/>
          </a:prstGeom>
          <a:solidFill>
            <a:srgbClr val="073763"/>
          </a:solidFill>
          <a:ln/>
        </p:spPr>
      </p:sp>
      <p:sp>
        <p:nvSpPr>
          <p:cNvPr id="5" name="Text 2"/>
          <p:cNvSpPr/>
          <p:nvPr/>
        </p:nvSpPr>
        <p:spPr>
          <a:xfrm>
            <a:off x="292608" y="457200"/>
            <a:ext cx="81381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000" b="1" dirty="0">
                <a:solidFill>
                  <a:srgbClr val="07376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HTTP Headers</a:t>
            </a:r>
            <a:endParaRPr lang="en-US" sz="2000" dirty="0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E43C3E20-3A79-3296-44F1-0313839B951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4147" y="990606"/>
            <a:ext cx="7522347" cy="4103098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Google Shape;325;p33"/>
          <p:cNvSpPr txBox="1">
            <a:spLocks noGrp="1"/>
          </p:cNvSpPr>
          <p:nvPr>
            <p:ph type="title"/>
          </p:nvPr>
        </p:nvSpPr>
        <p:spPr>
          <a:xfrm>
            <a:off x="310900" y="210300"/>
            <a:ext cx="747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latin typeface="Poppins"/>
                <a:ea typeface="Poppins"/>
                <a:cs typeface="Poppins"/>
                <a:sym typeface="Poppins"/>
              </a:rPr>
              <a:t>|</a:t>
            </a:r>
            <a:r>
              <a:rPr lang="en"/>
              <a:t> </a:t>
            </a:r>
            <a:r>
              <a:rPr lang="en" b="1">
                <a:solidFill>
                  <a:srgbClr val="073763"/>
                </a:solidFill>
                <a:latin typeface="Poppins"/>
                <a:ea typeface="Poppins"/>
                <a:cs typeface="Poppins"/>
                <a:sym typeface="Poppins"/>
              </a:rPr>
              <a:t>Check Your Understanding</a:t>
            </a:r>
            <a:endParaRPr b="1">
              <a:solidFill>
                <a:srgbClr val="073763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327" name="Google Shape;327;p33"/>
          <p:cNvSpPr txBox="1"/>
          <p:nvPr/>
        </p:nvSpPr>
        <p:spPr>
          <a:xfrm>
            <a:off x="310900" y="1228825"/>
            <a:ext cx="81615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>
              <a:buClr>
                <a:srgbClr val="000000"/>
              </a:buClr>
              <a:defRPr/>
            </a:pPr>
            <a:r>
              <a:rPr kumimoji="0" lang="en" sz="1400" b="1" i="0" u="none" strike="noStrike" kern="0" cap="none" spc="0" normalizeH="0" baseline="0" noProof="0" dirty="0">
                <a:ln>
                  <a:noFill/>
                </a:ln>
                <a:solidFill>
                  <a:srgbClr val="273239"/>
                </a:solidFill>
                <a:effectLst/>
                <a:uLnTx/>
                <a:uFillTx/>
                <a:latin typeface="Poppins"/>
                <a:ea typeface="Poppins"/>
                <a:cs typeface="Poppins"/>
                <a:sym typeface="Poppins"/>
              </a:rPr>
              <a:t>Question :  </a:t>
            </a:r>
            <a:r>
              <a:rPr kumimoji="0" lang="en" sz="11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rPr>
              <a:t>   </a:t>
            </a:r>
            <a:r>
              <a:rPr lang="en-US" sz="1100" kern="0" dirty="0">
                <a:solidFill>
                  <a:srgbClr val="000000"/>
                </a:solidFill>
                <a:cs typeface="Arial"/>
                <a:sym typeface="Arial"/>
              </a:rPr>
              <a:t>Which HTTP method should you use to create a new user?</a:t>
            </a:r>
            <a:r>
              <a:rPr kumimoji="0" lang="en" sz="11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rPr>
              <a:t> </a:t>
            </a:r>
            <a:endParaRPr kumimoji="0" sz="13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328" name="Google Shape;328;p33"/>
          <p:cNvSpPr txBox="1"/>
          <p:nvPr/>
        </p:nvSpPr>
        <p:spPr>
          <a:xfrm>
            <a:off x="310900" y="1748350"/>
            <a:ext cx="8084700" cy="17858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>
              <a:lnSpc>
                <a:spcPct val="115000"/>
              </a:lnSpc>
              <a:spcBef>
                <a:spcPts val="1200"/>
              </a:spcBef>
              <a:buClr>
                <a:srgbClr val="000000"/>
              </a:buClr>
              <a:defRPr/>
            </a:pPr>
            <a:r>
              <a:rPr kumimoji="0" lang="en" sz="1400" b="1" i="0" u="none" strike="noStrike" kern="0" cap="none" spc="0" normalizeH="0" baseline="0" noProof="0" dirty="0">
                <a:ln>
                  <a:noFill/>
                </a:ln>
                <a:solidFill>
                  <a:srgbClr val="273239"/>
                </a:solidFill>
                <a:effectLst/>
                <a:uLnTx/>
                <a:uFillTx/>
                <a:latin typeface="Poppins"/>
                <a:ea typeface="Poppins"/>
                <a:cs typeface="Poppins"/>
                <a:sym typeface="Poppins"/>
              </a:rPr>
              <a:t>Options    :</a:t>
            </a:r>
            <a:r>
              <a:rPr kumimoji="0" lang="en" sz="11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rPr>
              <a:t> </a:t>
            </a:r>
            <a:r>
              <a:rPr kumimoji="0" lang="en" sz="11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oppins"/>
                <a:ea typeface="Poppins"/>
                <a:cs typeface="Poppins"/>
                <a:sym typeface="Poppins"/>
              </a:rPr>
              <a:t>           A. </a:t>
            </a:r>
            <a:r>
              <a:rPr lang="en-US" sz="1100" dirty="0">
                <a:solidFill>
                  <a:srgbClr val="27323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GET /</a:t>
            </a:r>
            <a:r>
              <a:rPr lang="en-US" sz="1100" dirty="0" err="1">
                <a:solidFill>
                  <a:srgbClr val="27323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api</a:t>
            </a:r>
            <a:r>
              <a:rPr lang="en-US" sz="1100" dirty="0">
                <a:solidFill>
                  <a:srgbClr val="27323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/users</a:t>
            </a:r>
            <a:endParaRPr kumimoji="0" sz="11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Poppins"/>
              <a:ea typeface="Poppins"/>
              <a:cs typeface="Poppins"/>
              <a:sym typeface="Poppins"/>
            </a:endParaRPr>
          </a:p>
          <a:p>
            <a:pPr marL="1371600" lvl="0">
              <a:lnSpc>
                <a:spcPct val="115000"/>
              </a:lnSpc>
              <a:spcBef>
                <a:spcPts val="1200"/>
              </a:spcBef>
              <a:buClr>
                <a:srgbClr val="000000"/>
              </a:buClr>
              <a:defRPr/>
            </a:pPr>
            <a:r>
              <a:rPr kumimoji="0" lang="en" sz="11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oppins"/>
                <a:ea typeface="Poppins"/>
                <a:cs typeface="Poppins"/>
                <a:sym typeface="Poppins"/>
              </a:rPr>
              <a:t>B. </a:t>
            </a:r>
            <a:r>
              <a:rPr lang="en-US" sz="1100" dirty="0">
                <a:solidFill>
                  <a:srgbClr val="27323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POST /</a:t>
            </a:r>
            <a:r>
              <a:rPr lang="en-US" sz="1100" dirty="0" err="1">
                <a:solidFill>
                  <a:srgbClr val="27323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api</a:t>
            </a:r>
            <a:r>
              <a:rPr lang="en-US" sz="1100" dirty="0">
                <a:solidFill>
                  <a:srgbClr val="27323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/users</a:t>
            </a:r>
            <a:endParaRPr kumimoji="0" sz="11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Poppins"/>
              <a:ea typeface="Poppins"/>
              <a:cs typeface="Poppins"/>
              <a:sym typeface="Poppins"/>
            </a:endParaRPr>
          </a:p>
          <a:p>
            <a:pPr marL="1371600" lvl="0">
              <a:lnSpc>
                <a:spcPct val="115000"/>
              </a:lnSpc>
              <a:spcBef>
                <a:spcPts val="1200"/>
              </a:spcBef>
              <a:buClr>
                <a:srgbClr val="000000"/>
              </a:buClr>
              <a:defRPr/>
            </a:pPr>
            <a:r>
              <a:rPr kumimoji="0" lang="en" sz="11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oppins"/>
                <a:ea typeface="Poppins"/>
                <a:cs typeface="Poppins"/>
                <a:sym typeface="Poppins"/>
              </a:rPr>
              <a:t>C. </a:t>
            </a:r>
            <a:r>
              <a:rPr lang="en-US" sz="1100" kern="0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DELETE</a:t>
            </a:r>
            <a:r>
              <a:rPr lang="en-US" sz="1100" dirty="0">
                <a:solidFill>
                  <a:srgbClr val="27323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/</a:t>
            </a:r>
            <a:r>
              <a:rPr lang="en-US" sz="1100" dirty="0" err="1">
                <a:solidFill>
                  <a:srgbClr val="27323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api</a:t>
            </a:r>
            <a:r>
              <a:rPr lang="en-US" sz="1100" dirty="0">
                <a:solidFill>
                  <a:srgbClr val="27323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/users</a:t>
            </a:r>
            <a:endParaRPr kumimoji="0" sz="11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Poppins"/>
              <a:ea typeface="Poppins"/>
              <a:cs typeface="Poppins"/>
              <a:sym typeface="Poppins"/>
            </a:endParaRPr>
          </a:p>
          <a:p>
            <a:pPr marL="1371600" lv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rgbClr val="000000"/>
              </a:buClr>
              <a:defRPr/>
            </a:pPr>
            <a:r>
              <a:rPr kumimoji="0" lang="en" sz="11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oppins"/>
                <a:ea typeface="Poppins"/>
                <a:cs typeface="Poppins"/>
                <a:sym typeface="Poppins"/>
              </a:rPr>
              <a:t>D. </a:t>
            </a:r>
            <a:r>
              <a:rPr lang="en-US" sz="1100" kern="0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PUT</a:t>
            </a:r>
            <a:r>
              <a:rPr lang="en-US" sz="1100" dirty="0">
                <a:solidFill>
                  <a:srgbClr val="27323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/</a:t>
            </a:r>
            <a:r>
              <a:rPr lang="en-US" sz="1100" dirty="0" err="1">
                <a:solidFill>
                  <a:srgbClr val="27323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api</a:t>
            </a:r>
            <a:r>
              <a:rPr lang="en-US" sz="1100" dirty="0">
                <a:solidFill>
                  <a:srgbClr val="27323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/users</a:t>
            </a:r>
            <a:r>
              <a:rPr kumimoji="0" lang="en" sz="11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oppins"/>
                <a:ea typeface="Poppins"/>
                <a:cs typeface="Poppins"/>
                <a:sym typeface="Poppins"/>
              </a:rPr>
              <a:t> </a:t>
            </a:r>
            <a:endParaRPr kumimoji="0" sz="11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329" name="Google Shape;329;p33" title="question-and-answer-illustration-download-in-svg-png-gif-file-formats--answers-faq-comments-chatting-business-pack-people-illustrations-4257057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051839" y="3027775"/>
            <a:ext cx="3001612" cy="2001075"/>
          </a:xfrm>
          <a:prstGeom prst="rect">
            <a:avLst/>
          </a:prstGeom>
          <a:noFill/>
          <a:ln>
            <a:noFill/>
          </a:ln>
        </p:spPr>
      </p:pic>
      <p:sp>
        <p:nvSpPr>
          <p:cNvPr id="331" name="Google Shape;331;p33"/>
          <p:cNvSpPr txBox="1"/>
          <p:nvPr/>
        </p:nvSpPr>
        <p:spPr>
          <a:xfrm>
            <a:off x="310950" y="3313725"/>
            <a:ext cx="6260400" cy="4616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>
              <a:buClr>
                <a:srgbClr val="000000"/>
              </a:buClr>
              <a:defRPr/>
            </a:pPr>
            <a:r>
              <a:rPr kumimoji="0" lang="en" sz="1400" b="1" i="0" u="none" strike="noStrike" kern="0" cap="none" spc="0" normalizeH="0" baseline="0" noProof="0" dirty="0">
                <a:ln>
                  <a:noFill/>
                </a:ln>
                <a:solidFill>
                  <a:srgbClr val="273239"/>
                </a:solidFill>
                <a:effectLst/>
                <a:uLnTx/>
                <a:uFillTx/>
                <a:latin typeface="Poppins"/>
                <a:ea typeface="Poppins"/>
                <a:cs typeface="Poppins"/>
                <a:sym typeface="Poppins"/>
              </a:rPr>
              <a:t>Answer :</a:t>
            </a:r>
            <a:r>
              <a:rPr kumimoji="0" lang="en" sz="1800" b="0" i="0" u="none" strike="noStrike" kern="0" cap="none" spc="0" normalizeH="0" baseline="0" noProof="0" dirty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rPr>
              <a:t>  </a:t>
            </a:r>
            <a:r>
              <a:rPr kumimoji="0" lang="en" sz="11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oppins"/>
                <a:ea typeface="Poppins"/>
                <a:cs typeface="Poppins"/>
                <a:sym typeface="Poppins"/>
              </a:rPr>
              <a:t>  B. </a:t>
            </a:r>
            <a:r>
              <a:rPr lang="en-US" sz="1100" dirty="0">
                <a:solidFill>
                  <a:srgbClr val="27323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POST /</a:t>
            </a:r>
            <a:r>
              <a:rPr lang="en-US" sz="1100" dirty="0" err="1">
                <a:solidFill>
                  <a:srgbClr val="27323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api</a:t>
            </a:r>
            <a:r>
              <a:rPr lang="en-US" sz="1100" dirty="0">
                <a:solidFill>
                  <a:srgbClr val="27323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/users</a:t>
            </a:r>
            <a:r>
              <a:rPr kumimoji="0" lang="en" sz="11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oppins"/>
                <a:ea typeface="Poppins"/>
                <a:cs typeface="Poppins"/>
                <a:sym typeface="Poppins"/>
              </a:rPr>
              <a:t> </a:t>
            </a:r>
            <a:endParaRPr kumimoji="0" sz="1800" b="0" i="0" u="none" strike="noStrike" kern="0" cap="none" spc="0" normalizeH="0" baseline="0" noProof="0" dirty="0">
              <a:ln>
                <a:noFill/>
              </a:ln>
              <a:solidFill>
                <a:srgbClr val="595959"/>
              </a:solidFill>
              <a:effectLst/>
              <a:uLnTx/>
              <a:uFillTx/>
              <a:latin typeface="Poppins"/>
              <a:ea typeface="Poppins"/>
              <a:cs typeface="Poppins"/>
              <a:sym typeface="Poppins"/>
            </a:endParaRPr>
          </a:p>
        </p:txBody>
      </p:sp>
      <p:grpSp>
        <p:nvGrpSpPr>
          <p:cNvPr id="332" name="Google Shape;332;p33"/>
          <p:cNvGrpSpPr/>
          <p:nvPr/>
        </p:nvGrpSpPr>
        <p:grpSpPr>
          <a:xfrm>
            <a:off x="310900" y="3959263"/>
            <a:ext cx="6005825" cy="1076430"/>
            <a:chOff x="310900" y="3959263"/>
            <a:chExt cx="6005825" cy="1076430"/>
          </a:xfrm>
        </p:grpSpPr>
        <p:sp>
          <p:nvSpPr>
            <p:cNvPr id="333" name="Google Shape;333;p33"/>
            <p:cNvSpPr txBox="1"/>
            <p:nvPr/>
          </p:nvSpPr>
          <p:spPr>
            <a:xfrm>
              <a:off x="310900" y="3959263"/>
              <a:ext cx="13359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15000"/>
                </a:lnSpc>
                <a:spcBef>
                  <a:spcPts val="1200"/>
                </a:spcBef>
                <a:spcAft>
                  <a:spcPts val="1200"/>
                </a:spcAft>
                <a:buClr>
                  <a:srgbClr val="000000"/>
                </a:buClr>
                <a:buSzPts val="1100"/>
                <a:buFont typeface="Arial"/>
                <a:buNone/>
                <a:tabLst/>
                <a:defRPr/>
              </a:pPr>
              <a:r>
                <a:rPr kumimoji="0" lang="en" sz="1400" b="1" i="0" u="none" strike="noStrike" kern="0" cap="none" spc="0" normalizeH="0" baseline="0" noProof="0">
                  <a:ln>
                    <a:noFill/>
                  </a:ln>
                  <a:solidFill>
                    <a:srgbClr val="273239"/>
                  </a:solidFill>
                  <a:effectLst/>
                  <a:uLnTx/>
                  <a:uFillTx/>
                  <a:latin typeface="Poppins"/>
                  <a:ea typeface="Poppins"/>
                  <a:cs typeface="Poppins"/>
                  <a:sym typeface="Poppins"/>
                </a:rPr>
                <a:t>Explanation:</a:t>
              </a: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334" name="Google Shape;334;p33"/>
            <p:cNvSpPr txBox="1"/>
            <p:nvPr/>
          </p:nvSpPr>
          <p:spPr>
            <a:xfrm>
              <a:off x="1607925" y="3959275"/>
              <a:ext cx="4708800" cy="107641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15000"/>
                </a:lnSpc>
                <a:spcBef>
                  <a:spcPts val="1200"/>
                </a:spcBef>
                <a:spcAft>
                  <a:spcPts val="120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en-US" sz="11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Poppins"/>
                  <a:ea typeface="Poppins"/>
                  <a:cs typeface="Poppins"/>
                  <a:sym typeface="Poppins"/>
                </a:rPr>
                <a:t>POST is for creating new resources. GET retrieves, PUT replaces, DELETE removes. Always use the semantically correct method. POST /</a:t>
              </a:r>
              <a:r>
                <a:rPr kumimoji="0" lang="en-US" sz="1100" b="0" i="0" u="none" strike="noStrike" kern="0" cap="none" spc="0" normalizeH="0" baseline="0" noProof="0" dirty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Poppins"/>
                  <a:ea typeface="Poppins"/>
                  <a:cs typeface="Poppins"/>
                  <a:sym typeface="Poppins"/>
                </a:rPr>
                <a:t>api</a:t>
              </a:r>
              <a:r>
                <a:rPr kumimoji="0" lang="en-US" sz="11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Poppins"/>
                  <a:ea typeface="Poppins"/>
                  <a:cs typeface="Poppins"/>
                  <a:sym typeface="Poppins"/>
                </a:rPr>
                <a:t>/users with user data in body creates a new user.</a:t>
              </a:r>
              <a:endParaRPr kumimoji="0" sz="11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oppins"/>
                <a:ea typeface="Poppins"/>
                <a:cs typeface="Poppins"/>
                <a:sym typeface="Poppins"/>
              </a:endParaRPr>
            </a:p>
          </p:txBody>
        </p:sp>
      </p:grpSp>
      <p:sp>
        <p:nvSpPr>
          <p:cNvPr id="3" name="Text 0">
            <a:extLst>
              <a:ext uri="{FF2B5EF4-FFF2-40B4-BE49-F238E27FC236}">
                <a16:creationId xmlns:a16="http://schemas.microsoft.com/office/drawing/2014/main" id="{7A2221DD-BC30-8B5F-F11B-89BAF348C2A6}"/>
              </a:ext>
            </a:extLst>
          </p:cNvPr>
          <p:cNvSpPr/>
          <p:nvPr/>
        </p:nvSpPr>
        <p:spPr>
          <a:xfrm>
            <a:off x="8686800" y="4846320"/>
            <a:ext cx="365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999999"/>
                </a:solidFill>
                <a:effectLst/>
                <a:uLnTx/>
                <a:uFillTx/>
                <a:latin typeface="Poppins" pitchFamily="34" charset="0"/>
                <a:ea typeface="+mn-ea"/>
                <a:cs typeface="Poppins" pitchFamily="34" charset="-120"/>
              </a:rPr>
              <a:t>17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pic>
        <p:nvPicPr>
          <p:cNvPr id="4" name="Image 0" descr="preencoded.png">
            <a:extLst>
              <a:ext uri="{FF2B5EF4-FFF2-40B4-BE49-F238E27FC236}">
                <a16:creationId xmlns:a16="http://schemas.microsoft.com/office/drawing/2014/main" id="{7CF84310-DD7C-2B63-4619-703796CD54D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12480" y="73152"/>
            <a:ext cx="566928" cy="621792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3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1000"/>
                                        <p:tgtEl>
                                          <p:spTgt spid="3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1000"/>
                                        <p:tgtEl>
                                          <p:spTgt spid="3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4">
          <a:extLst>
            <a:ext uri="{FF2B5EF4-FFF2-40B4-BE49-F238E27FC236}">
              <a16:creationId xmlns:a16="http://schemas.microsoft.com/office/drawing/2014/main" id="{B99D6FF7-C8C7-FD5D-C96C-EB2F86E6A7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Google Shape;325;p33">
            <a:extLst>
              <a:ext uri="{FF2B5EF4-FFF2-40B4-BE49-F238E27FC236}">
                <a16:creationId xmlns:a16="http://schemas.microsoft.com/office/drawing/2014/main" id="{B7420C60-181A-4D0A-2F24-FBFEFAD94C5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0900" y="210300"/>
            <a:ext cx="747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latin typeface="Poppins"/>
                <a:ea typeface="Poppins"/>
                <a:cs typeface="Poppins"/>
                <a:sym typeface="Poppins"/>
              </a:rPr>
              <a:t>|</a:t>
            </a:r>
            <a:r>
              <a:rPr lang="en"/>
              <a:t> </a:t>
            </a:r>
            <a:r>
              <a:rPr lang="en" b="1">
                <a:solidFill>
                  <a:srgbClr val="073763"/>
                </a:solidFill>
                <a:latin typeface="Poppins"/>
                <a:ea typeface="Poppins"/>
                <a:cs typeface="Poppins"/>
                <a:sym typeface="Poppins"/>
              </a:rPr>
              <a:t>Check Your Understanding</a:t>
            </a:r>
            <a:endParaRPr b="1">
              <a:solidFill>
                <a:srgbClr val="073763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327" name="Google Shape;327;p33">
            <a:extLst>
              <a:ext uri="{FF2B5EF4-FFF2-40B4-BE49-F238E27FC236}">
                <a16:creationId xmlns:a16="http://schemas.microsoft.com/office/drawing/2014/main" id="{49CB0BB3-BB13-BA4B-2D23-6485C82AAEA2}"/>
              </a:ext>
            </a:extLst>
          </p:cNvPr>
          <p:cNvSpPr txBox="1"/>
          <p:nvPr/>
        </p:nvSpPr>
        <p:spPr>
          <a:xfrm>
            <a:off x="310900" y="1228825"/>
            <a:ext cx="81615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>
              <a:buClr>
                <a:srgbClr val="000000"/>
              </a:buClr>
              <a:defRPr/>
            </a:pPr>
            <a:r>
              <a:rPr kumimoji="0" lang="en" sz="1400" b="1" i="0" u="none" strike="noStrike" kern="0" cap="none" spc="0" normalizeH="0" baseline="0" noProof="0" dirty="0">
                <a:ln>
                  <a:noFill/>
                </a:ln>
                <a:solidFill>
                  <a:srgbClr val="273239"/>
                </a:solidFill>
                <a:effectLst/>
                <a:uLnTx/>
                <a:uFillTx/>
                <a:latin typeface="Poppins"/>
                <a:ea typeface="Poppins"/>
                <a:cs typeface="Poppins"/>
                <a:sym typeface="Poppins"/>
              </a:rPr>
              <a:t>Question :  </a:t>
            </a:r>
            <a:r>
              <a:rPr kumimoji="0" lang="en" sz="11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rPr>
              <a:t>   </a:t>
            </a:r>
            <a:r>
              <a:rPr lang="en-US" sz="1100" kern="0" dirty="0">
                <a:solidFill>
                  <a:srgbClr val="000000"/>
                </a:solidFill>
                <a:cs typeface="Arial"/>
                <a:sym typeface="Arial"/>
              </a:rPr>
              <a:t>What does a 404-status code mean?</a:t>
            </a:r>
            <a:endParaRPr kumimoji="0" sz="130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328" name="Google Shape;328;p33">
            <a:extLst>
              <a:ext uri="{FF2B5EF4-FFF2-40B4-BE49-F238E27FC236}">
                <a16:creationId xmlns:a16="http://schemas.microsoft.com/office/drawing/2014/main" id="{A020ACA2-1EA6-77A8-57BF-E5CEA21D586B}"/>
              </a:ext>
            </a:extLst>
          </p:cNvPr>
          <p:cNvSpPr txBox="1"/>
          <p:nvPr/>
        </p:nvSpPr>
        <p:spPr>
          <a:xfrm>
            <a:off x="310900" y="1748350"/>
            <a:ext cx="8084700" cy="17858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>
              <a:lnSpc>
                <a:spcPct val="115000"/>
              </a:lnSpc>
              <a:spcBef>
                <a:spcPts val="1200"/>
              </a:spcBef>
              <a:buClr>
                <a:srgbClr val="000000"/>
              </a:buClr>
              <a:defRPr/>
            </a:pPr>
            <a:r>
              <a:rPr kumimoji="0" lang="en" sz="1400" b="1" i="0" u="none" strike="noStrike" kern="0" cap="none" spc="0" normalizeH="0" baseline="0" noProof="0" dirty="0">
                <a:ln>
                  <a:noFill/>
                </a:ln>
                <a:solidFill>
                  <a:srgbClr val="273239"/>
                </a:solidFill>
                <a:effectLst/>
                <a:uLnTx/>
                <a:uFillTx/>
                <a:latin typeface="Poppins"/>
                <a:ea typeface="Poppins"/>
                <a:cs typeface="Poppins"/>
                <a:sym typeface="Poppins"/>
              </a:rPr>
              <a:t>Options    :</a:t>
            </a:r>
            <a:r>
              <a:rPr kumimoji="0" lang="en" sz="11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rPr>
              <a:t> </a:t>
            </a:r>
            <a:r>
              <a:rPr kumimoji="0" lang="en" sz="11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oppins"/>
                <a:ea typeface="Poppins"/>
                <a:cs typeface="Poppins"/>
                <a:sym typeface="Poppins"/>
              </a:rPr>
              <a:t>           A. </a:t>
            </a:r>
            <a:r>
              <a:rPr lang="en-US" sz="1100" dirty="0">
                <a:solidFill>
                  <a:srgbClr val="27323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Server error</a:t>
            </a:r>
            <a:endParaRPr kumimoji="0" sz="11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Poppins"/>
              <a:ea typeface="Poppins"/>
              <a:cs typeface="Poppins"/>
              <a:sym typeface="Poppins"/>
            </a:endParaRPr>
          </a:p>
          <a:p>
            <a:pPr marL="1371600">
              <a:lnSpc>
                <a:spcPct val="115000"/>
              </a:lnSpc>
              <a:spcBef>
                <a:spcPts val="1200"/>
              </a:spcBef>
              <a:buClr>
                <a:srgbClr val="000000"/>
              </a:buClr>
              <a:defRPr/>
            </a:pPr>
            <a:r>
              <a:rPr kumimoji="0" lang="en" sz="11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oppins"/>
                <a:ea typeface="Poppins"/>
                <a:cs typeface="Poppins"/>
                <a:sym typeface="Poppins"/>
              </a:rPr>
              <a:t>B. </a:t>
            </a:r>
            <a:r>
              <a:rPr lang="en-US" sz="1100" dirty="0">
                <a:solidFill>
                  <a:srgbClr val="27323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Bad request</a:t>
            </a:r>
            <a:endParaRPr kumimoji="0" sz="11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Poppins"/>
              <a:ea typeface="Poppins"/>
              <a:cs typeface="Poppins"/>
              <a:sym typeface="Poppins"/>
            </a:endParaRPr>
          </a:p>
          <a:p>
            <a:pPr marL="1371600" lvl="0">
              <a:lnSpc>
                <a:spcPct val="115000"/>
              </a:lnSpc>
              <a:spcBef>
                <a:spcPts val="1200"/>
              </a:spcBef>
              <a:buClr>
                <a:srgbClr val="000000"/>
              </a:buClr>
              <a:defRPr/>
            </a:pPr>
            <a:r>
              <a:rPr kumimoji="0" lang="en" sz="11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oppins"/>
                <a:ea typeface="Poppins"/>
                <a:cs typeface="Poppins"/>
                <a:sym typeface="Poppins"/>
              </a:rPr>
              <a:t>C. </a:t>
            </a:r>
            <a:r>
              <a:rPr lang="en-US" sz="1100" dirty="0">
                <a:solidFill>
                  <a:srgbClr val="27323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Resource not found</a:t>
            </a:r>
            <a:endParaRPr kumimoji="0" sz="11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Poppins"/>
              <a:ea typeface="Poppins"/>
              <a:cs typeface="Poppins"/>
              <a:sym typeface="Poppins"/>
            </a:endParaRPr>
          </a:p>
          <a:p>
            <a:pPr marL="1371600" lv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rgbClr val="000000"/>
              </a:buClr>
              <a:defRPr/>
            </a:pPr>
            <a:r>
              <a:rPr kumimoji="0" lang="en" sz="11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oppins"/>
                <a:ea typeface="Poppins"/>
                <a:cs typeface="Poppins"/>
                <a:sym typeface="Poppins"/>
              </a:rPr>
              <a:t>D. </a:t>
            </a:r>
            <a:r>
              <a:rPr lang="en-US" sz="1100" dirty="0">
                <a:solidFill>
                  <a:srgbClr val="27323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Unauthorized access</a:t>
            </a:r>
            <a:r>
              <a:rPr kumimoji="0" lang="en" sz="11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oppins"/>
                <a:ea typeface="Poppins"/>
                <a:cs typeface="Poppins"/>
                <a:sym typeface="Poppins"/>
              </a:rPr>
              <a:t> </a:t>
            </a:r>
            <a:endParaRPr kumimoji="0" sz="11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329" name="Google Shape;329;p33" title="question-and-answer-illustration-download-in-svg-png-gif-file-formats--answers-faq-comments-chatting-business-pack-people-illustrations-4257057.png">
            <a:extLst>
              <a:ext uri="{FF2B5EF4-FFF2-40B4-BE49-F238E27FC236}">
                <a16:creationId xmlns:a16="http://schemas.microsoft.com/office/drawing/2014/main" id="{9410F557-8BED-39DC-6469-7238A3F0C155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051839" y="3027775"/>
            <a:ext cx="3001612" cy="2001075"/>
          </a:xfrm>
          <a:prstGeom prst="rect">
            <a:avLst/>
          </a:prstGeom>
          <a:noFill/>
          <a:ln>
            <a:noFill/>
          </a:ln>
        </p:spPr>
      </p:pic>
      <p:sp>
        <p:nvSpPr>
          <p:cNvPr id="331" name="Google Shape;331;p33">
            <a:extLst>
              <a:ext uri="{FF2B5EF4-FFF2-40B4-BE49-F238E27FC236}">
                <a16:creationId xmlns:a16="http://schemas.microsoft.com/office/drawing/2014/main" id="{6E788E18-D80E-C74D-862C-182D398EC59B}"/>
              </a:ext>
            </a:extLst>
          </p:cNvPr>
          <p:cNvSpPr txBox="1"/>
          <p:nvPr/>
        </p:nvSpPr>
        <p:spPr>
          <a:xfrm>
            <a:off x="310950" y="3313725"/>
            <a:ext cx="6260400" cy="4616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>
              <a:buClr>
                <a:srgbClr val="000000"/>
              </a:buClr>
              <a:defRPr/>
            </a:pPr>
            <a:r>
              <a:rPr kumimoji="0" lang="en" sz="1400" b="1" i="0" u="none" strike="noStrike" kern="0" cap="none" spc="0" normalizeH="0" baseline="0" noProof="0" dirty="0">
                <a:ln>
                  <a:noFill/>
                </a:ln>
                <a:solidFill>
                  <a:srgbClr val="273239"/>
                </a:solidFill>
                <a:effectLst/>
                <a:uLnTx/>
                <a:uFillTx/>
                <a:latin typeface="Poppins"/>
                <a:ea typeface="Poppins"/>
                <a:cs typeface="Poppins"/>
                <a:sym typeface="Poppins"/>
              </a:rPr>
              <a:t>Answer :</a:t>
            </a:r>
            <a:r>
              <a:rPr kumimoji="0" lang="en" sz="1800" b="0" i="0" u="none" strike="noStrike" kern="0" cap="none" spc="0" normalizeH="0" baseline="0" noProof="0" dirty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rPr>
              <a:t>  </a:t>
            </a:r>
            <a:r>
              <a:rPr kumimoji="0" lang="en" sz="11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oppins"/>
                <a:ea typeface="Poppins"/>
                <a:cs typeface="Poppins"/>
                <a:sym typeface="Poppins"/>
              </a:rPr>
              <a:t>  C. </a:t>
            </a:r>
            <a:r>
              <a:rPr lang="en-US" sz="1100" dirty="0">
                <a:solidFill>
                  <a:srgbClr val="27323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Resource not found</a:t>
            </a:r>
            <a:r>
              <a:rPr kumimoji="0" lang="en" sz="11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oppins"/>
                <a:ea typeface="Poppins"/>
                <a:cs typeface="Poppins"/>
                <a:sym typeface="Poppins"/>
              </a:rPr>
              <a:t> </a:t>
            </a:r>
            <a:endParaRPr kumimoji="0" sz="1800" b="0" i="0" u="none" strike="noStrike" kern="0" cap="none" spc="0" normalizeH="0" baseline="0" noProof="0" dirty="0">
              <a:ln>
                <a:noFill/>
              </a:ln>
              <a:solidFill>
                <a:srgbClr val="595959"/>
              </a:solidFill>
              <a:effectLst/>
              <a:uLnTx/>
              <a:uFillTx/>
              <a:latin typeface="Poppins"/>
              <a:ea typeface="Poppins"/>
              <a:cs typeface="Poppins"/>
              <a:sym typeface="Poppins"/>
            </a:endParaRPr>
          </a:p>
        </p:txBody>
      </p:sp>
      <p:grpSp>
        <p:nvGrpSpPr>
          <p:cNvPr id="332" name="Google Shape;332;p33">
            <a:extLst>
              <a:ext uri="{FF2B5EF4-FFF2-40B4-BE49-F238E27FC236}">
                <a16:creationId xmlns:a16="http://schemas.microsoft.com/office/drawing/2014/main" id="{E01BA456-4072-F17B-D4E0-3765D26494D1}"/>
              </a:ext>
            </a:extLst>
          </p:cNvPr>
          <p:cNvGrpSpPr/>
          <p:nvPr/>
        </p:nvGrpSpPr>
        <p:grpSpPr>
          <a:xfrm>
            <a:off x="310900" y="3959263"/>
            <a:ext cx="6005825" cy="1076430"/>
            <a:chOff x="310900" y="3959263"/>
            <a:chExt cx="6005825" cy="1076430"/>
          </a:xfrm>
        </p:grpSpPr>
        <p:sp>
          <p:nvSpPr>
            <p:cNvPr id="333" name="Google Shape;333;p33">
              <a:extLst>
                <a:ext uri="{FF2B5EF4-FFF2-40B4-BE49-F238E27FC236}">
                  <a16:creationId xmlns:a16="http://schemas.microsoft.com/office/drawing/2014/main" id="{D5E0E3F0-2BCF-6299-A630-704562951D81}"/>
                </a:ext>
              </a:extLst>
            </p:cNvPr>
            <p:cNvSpPr txBox="1"/>
            <p:nvPr/>
          </p:nvSpPr>
          <p:spPr>
            <a:xfrm>
              <a:off x="310900" y="3959263"/>
              <a:ext cx="13359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15000"/>
                </a:lnSpc>
                <a:spcBef>
                  <a:spcPts val="1200"/>
                </a:spcBef>
                <a:spcAft>
                  <a:spcPts val="1200"/>
                </a:spcAft>
                <a:buClr>
                  <a:srgbClr val="000000"/>
                </a:buClr>
                <a:buSzPts val="1100"/>
                <a:buFont typeface="Arial"/>
                <a:buNone/>
                <a:tabLst/>
                <a:defRPr/>
              </a:pPr>
              <a:r>
                <a:rPr kumimoji="0" lang="en" sz="1400" b="1" i="0" u="none" strike="noStrike" kern="0" cap="none" spc="0" normalizeH="0" baseline="0" noProof="0">
                  <a:ln>
                    <a:noFill/>
                  </a:ln>
                  <a:solidFill>
                    <a:srgbClr val="273239"/>
                  </a:solidFill>
                  <a:effectLst/>
                  <a:uLnTx/>
                  <a:uFillTx/>
                  <a:latin typeface="Poppins"/>
                  <a:ea typeface="Poppins"/>
                  <a:cs typeface="Poppins"/>
                  <a:sym typeface="Poppins"/>
                </a:rPr>
                <a:t>Explanation:</a:t>
              </a: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334" name="Google Shape;334;p33">
              <a:extLst>
                <a:ext uri="{FF2B5EF4-FFF2-40B4-BE49-F238E27FC236}">
                  <a16:creationId xmlns:a16="http://schemas.microsoft.com/office/drawing/2014/main" id="{D6927AF4-212A-B50D-4BB4-938CE928408C}"/>
                </a:ext>
              </a:extLst>
            </p:cNvPr>
            <p:cNvSpPr txBox="1"/>
            <p:nvPr/>
          </p:nvSpPr>
          <p:spPr>
            <a:xfrm>
              <a:off x="1607925" y="3959275"/>
              <a:ext cx="4708800" cy="107641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15000"/>
                </a:lnSpc>
                <a:spcBef>
                  <a:spcPts val="1200"/>
                </a:spcBef>
                <a:spcAft>
                  <a:spcPts val="120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en-US" sz="11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Poppins"/>
                  <a:ea typeface="Poppins"/>
                  <a:cs typeface="Poppins"/>
                  <a:sym typeface="Poppins"/>
                </a:rPr>
                <a:t>404 specifically means the server couldn't find the resource you asked for (wrong URL, deleted item, etc.). 400 = bad request format, 401 = need authentication, 500 = server bug.</a:t>
              </a:r>
              <a:endParaRPr kumimoji="0" sz="11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oppins"/>
                <a:ea typeface="Poppins"/>
                <a:cs typeface="Poppins"/>
                <a:sym typeface="Poppins"/>
              </a:endParaRPr>
            </a:p>
          </p:txBody>
        </p:sp>
      </p:grpSp>
      <p:sp>
        <p:nvSpPr>
          <p:cNvPr id="3" name="Text 0">
            <a:extLst>
              <a:ext uri="{FF2B5EF4-FFF2-40B4-BE49-F238E27FC236}">
                <a16:creationId xmlns:a16="http://schemas.microsoft.com/office/drawing/2014/main" id="{7C4F8A4E-F508-F3CE-B099-CB4AC184CB69}"/>
              </a:ext>
            </a:extLst>
          </p:cNvPr>
          <p:cNvSpPr/>
          <p:nvPr/>
        </p:nvSpPr>
        <p:spPr>
          <a:xfrm>
            <a:off x="8686800" y="4846320"/>
            <a:ext cx="365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999999"/>
                </a:solidFill>
                <a:effectLst/>
                <a:uLnTx/>
                <a:uFillTx/>
                <a:latin typeface="Poppins" pitchFamily="34" charset="0"/>
                <a:ea typeface="+mn-ea"/>
                <a:cs typeface="Poppins" pitchFamily="34" charset="-120"/>
              </a:rPr>
              <a:t>18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pic>
        <p:nvPicPr>
          <p:cNvPr id="4" name="Image 0" descr="preencoded.png">
            <a:extLst>
              <a:ext uri="{FF2B5EF4-FFF2-40B4-BE49-F238E27FC236}">
                <a16:creationId xmlns:a16="http://schemas.microsoft.com/office/drawing/2014/main" id="{075E6D94-9987-9146-C8E4-9806BC45439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12480" y="73152"/>
            <a:ext cx="566928" cy="6217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036032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3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1000"/>
                                        <p:tgtEl>
                                          <p:spTgt spid="3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1000"/>
                                        <p:tgtEl>
                                          <p:spTgt spid="3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4">
          <a:extLst>
            <a:ext uri="{FF2B5EF4-FFF2-40B4-BE49-F238E27FC236}">
              <a16:creationId xmlns:a16="http://schemas.microsoft.com/office/drawing/2014/main" id="{06EF339B-3CD8-6C78-DD69-FF30ACCC8D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Google Shape;325;p33">
            <a:extLst>
              <a:ext uri="{FF2B5EF4-FFF2-40B4-BE49-F238E27FC236}">
                <a16:creationId xmlns:a16="http://schemas.microsoft.com/office/drawing/2014/main" id="{F8171F07-3434-8313-5DAA-6A6C849F03B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0900" y="210300"/>
            <a:ext cx="747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latin typeface="Poppins"/>
                <a:ea typeface="Poppins"/>
                <a:cs typeface="Poppins"/>
                <a:sym typeface="Poppins"/>
              </a:rPr>
              <a:t>|</a:t>
            </a:r>
            <a:r>
              <a:rPr lang="en"/>
              <a:t> </a:t>
            </a:r>
            <a:r>
              <a:rPr lang="en" b="1">
                <a:solidFill>
                  <a:srgbClr val="073763"/>
                </a:solidFill>
                <a:latin typeface="Poppins"/>
                <a:ea typeface="Poppins"/>
                <a:cs typeface="Poppins"/>
                <a:sym typeface="Poppins"/>
              </a:rPr>
              <a:t>Check Your Understanding</a:t>
            </a:r>
            <a:endParaRPr b="1">
              <a:solidFill>
                <a:srgbClr val="073763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327" name="Google Shape;327;p33">
            <a:extLst>
              <a:ext uri="{FF2B5EF4-FFF2-40B4-BE49-F238E27FC236}">
                <a16:creationId xmlns:a16="http://schemas.microsoft.com/office/drawing/2014/main" id="{7B6D74DF-3D0F-1C87-1848-C73CF3D2A39D}"/>
              </a:ext>
            </a:extLst>
          </p:cNvPr>
          <p:cNvSpPr txBox="1"/>
          <p:nvPr/>
        </p:nvSpPr>
        <p:spPr>
          <a:xfrm>
            <a:off x="310900" y="1228825"/>
            <a:ext cx="81615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>
              <a:buClr>
                <a:srgbClr val="000000"/>
              </a:buClr>
              <a:defRPr/>
            </a:pPr>
            <a:r>
              <a:rPr kumimoji="0" lang="en" sz="1400" b="1" i="0" u="none" strike="noStrike" kern="0" cap="none" spc="0" normalizeH="0" baseline="0" noProof="0" dirty="0">
                <a:ln>
                  <a:noFill/>
                </a:ln>
                <a:solidFill>
                  <a:srgbClr val="273239"/>
                </a:solidFill>
                <a:effectLst/>
                <a:uLnTx/>
                <a:uFillTx/>
                <a:latin typeface="Poppins"/>
                <a:ea typeface="Poppins"/>
                <a:cs typeface="Poppins"/>
                <a:sym typeface="Poppins"/>
              </a:rPr>
              <a:t>Question :  </a:t>
            </a:r>
            <a:r>
              <a:rPr kumimoji="0" lang="en" sz="11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rPr>
              <a:t>   </a:t>
            </a:r>
            <a:r>
              <a:rPr lang="en-US" sz="1100" kern="0" dirty="0">
                <a:solidFill>
                  <a:srgbClr val="000000"/>
                </a:solidFill>
                <a:cs typeface="Arial"/>
                <a:sym typeface="Arial"/>
              </a:rPr>
              <a:t>Why should you set Content-Type: application/</a:t>
            </a:r>
            <a:r>
              <a:rPr lang="en-US" sz="1100" kern="0" dirty="0" err="1">
                <a:solidFill>
                  <a:srgbClr val="000000"/>
                </a:solidFill>
                <a:cs typeface="Arial"/>
                <a:sym typeface="Arial"/>
              </a:rPr>
              <a:t>json</a:t>
            </a:r>
            <a:r>
              <a:rPr lang="en-US" sz="1100" kern="0" dirty="0">
                <a:solidFill>
                  <a:srgbClr val="000000"/>
                </a:solidFill>
                <a:cs typeface="Arial"/>
                <a:sym typeface="Arial"/>
              </a:rPr>
              <a:t> in your request header?</a:t>
            </a:r>
            <a:endParaRPr kumimoji="0" sz="13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328" name="Google Shape;328;p33">
            <a:extLst>
              <a:ext uri="{FF2B5EF4-FFF2-40B4-BE49-F238E27FC236}">
                <a16:creationId xmlns:a16="http://schemas.microsoft.com/office/drawing/2014/main" id="{E81B70AD-C5DE-4D16-47E5-A3AB86DBC502}"/>
              </a:ext>
            </a:extLst>
          </p:cNvPr>
          <p:cNvSpPr txBox="1"/>
          <p:nvPr/>
        </p:nvSpPr>
        <p:spPr>
          <a:xfrm>
            <a:off x="310900" y="1748350"/>
            <a:ext cx="8084700" cy="17858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>
              <a:lnSpc>
                <a:spcPct val="115000"/>
              </a:lnSpc>
              <a:spcBef>
                <a:spcPts val="1200"/>
              </a:spcBef>
              <a:buClr>
                <a:srgbClr val="000000"/>
              </a:buClr>
              <a:defRPr/>
            </a:pPr>
            <a:r>
              <a:rPr kumimoji="0" lang="en" sz="1400" b="1" i="0" u="none" strike="noStrike" kern="0" cap="none" spc="0" normalizeH="0" baseline="0" noProof="0" dirty="0">
                <a:ln>
                  <a:noFill/>
                </a:ln>
                <a:solidFill>
                  <a:srgbClr val="273239"/>
                </a:solidFill>
                <a:effectLst/>
                <a:uLnTx/>
                <a:uFillTx/>
                <a:latin typeface="Poppins"/>
                <a:ea typeface="Poppins"/>
                <a:cs typeface="Poppins"/>
                <a:sym typeface="Poppins"/>
              </a:rPr>
              <a:t>Options    :</a:t>
            </a:r>
            <a:r>
              <a:rPr kumimoji="0" lang="en" sz="11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rPr>
              <a:t> </a:t>
            </a:r>
            <a:r>
              <a:rPr kumimoji="0" lang="en" sz="11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oppins"/>
                <a:ea typeface="Poppins"/>
                <a:cs typeface="Poppins"/>
                <a:sym typeface="Poppins"/>
              </a:rPr>
              <a:t>           A. </a:t>
            </a:r>
            <a:r>
              <a:rPr lang="en-US" sz="1100" dirty="0">
                <a:solidFill>
                  <a:srgbClr val="27323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It's just a suggestion</a:t>
            </a:r>
            <a:endParaRPr kumimoji="0" sz="11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Poppins"/>
              <a:ea typeface="Poppins"/>
              <a:cs typeface="Poppins"/>
              <a:sym typeface="Poppins"/>
            </a:endParaRPr>
          </a:p>
          <a:p>
            <a:pPr marL="1371600" lvl="0">
              <a:lnSpc>
                <a:spcPct val="115000"/>
              </a:lnSpc>
              <a:spcBef>
                <a:spcPts val="1200"/>
              </a:spcBef>
              <a:buClr>
                <a:srgbClr val="000000"/>
              </a:buClr>
              <a:defRPr/>
            </a:pPr>
            <a:r>
              <a:rPr kumimoji="0" lang="en" sz="11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oppins"/>
                <a:ea typeface="Poppins"/>
                <a:cs typeface="Poppins"/>
                <a:sym typeface="Poppins"/>
              </a:rPr>
              <a:t>B. </a:t>
            </a:r>
            <a:r>
              <a:rPr lang="en-US" sz="1100" dirty="0">
                <a:solidFill>
                  <a:srgbClr val="27323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It has no real purpose</a:t>
            </a:r>
            <a:endParaRPr kumimoji="0" sz="11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Poppins"/>
              <a:ea typeface="Poppins"/>
              <a:cs typeface="Poppins"/>
              <a:sym typeface="Poppins"/>
            </a:endParaRPr>
          </a:p>
          <a:p>
            <a:pPr marL="1371600" lvl="0">
              <a:lnSpc>
                <a:spcPct val="115000"/>
              </a:lnSpc>
              <a:spcBef>
                <a:spcPts val="1200"/>
              </a:spcBef>
              <a:buClr>
                <a:srgbClr val="000000"/>
              </a:buClr>
              <a:defRPr/>
            </a:pPr>
            <a:r>
              <a:rPr kumimoji="0" lang="en" sz="11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oppins"/>
                <a:ea typeface="Poppins"/>
                <a:cs typeface="Poppins"/>
                <a:sym typeface="Poppins"/>
              </a:rPr>
              <a:t>C. </a:t>
            </a:r>
            <a:r>
              <a:rPr lang="en-US" sz="1100" dirty="0">
                <a:solidFill>
                  <a:srgbClr val="27323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Only needed for responses</a:t>
            </a:r>
            <a:endParaRPr kumimoji="0" sz="11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Poppins"/>
              <a:ea typeface="Poppins"/>
              <a:cs typeface="Poppins"/>
              <a:sym typeface="Poppins"/>
            </a:endParaRPr>
          </a:p>
          <a:p>
            <a:pPr marL="1371600" lv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rgbClr val="000000"/>
              </a:buClr>
              <a:defRPr/>
            </a:pPr>
            <a:r>
              <a:rPr kumimoji="0" lang="en" sz="11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oppins"/>
                <a:ea typeface="Poppins"/>
                <a:cs typeface="Poppins"/>
                <a:sym typeface="Poppins"/>
              </a:rPr>
              <a:t>D. </a:t>
            </a:r>
            <a:r>
              <a:rPr lang="en-US" sz="1100" kern="0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It tells server how to parse the request body you're sending</a:t>
            </a:r>
            <a:r>
              <a:rPr kumimoji="0" lang="en" sz="11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oppins"/>
                <a:ea typeface="Poppins"/>
                <a:cs typeface="Poppins"/>
                <a:sym typeface="Poppins"/>
              </a:rPr>
              <a:t> </a:t>
            </a:r>
            <a:endParaRPr kumimoji="0" sz="11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329" name="Google Shape;329;p33" title="question-and-answer-illustration-download-in-svg-png-gif-file-formats--answers-faq-comments-chatting-business-pack-people-illustrations-4257057.png">
            <a:extLst>
              <a:ext uri="{FF2B5EF4-FFF2-40B4-BE49-F238E27FC236}">
                <a16:creationId xmlns:a16="http://schemas.microsoft.com/office/drawing/2014/main" id="{3C5819C6-D286-64B5-CD6B-B5A3CC01B603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051839" y="3027775"/>
            <a:ext cx="3001612" cy="2001075"/>
          </a:xfrm>
          <a:prstGeom prst="rect">
            <a:avLst/>
          </a:prstGeom>
          <a:noFill/>
          <a:ln>
            <a:noFill/>
          </a:ln>
        </p:spPr>
      </p:pic>
      <p:sp>
        <p:nvSpPr>
          <p:cNvPr id="331" name="Google Shape;331;p33">
            <a:extLst>
              <a:ext uri="{FF2B5EF4-FFF2-40B4-BE49-F238E27FC236}">
                <a16:creationId xmlns:a16="http://schemas.microsoft.com/office/drawing/2014/main" id="{C08861AE-3654-3BBC-9E9B-5729CC0C0E8B}"/>
              </a:ext>
            </a:extLst>
          </p:cNvPr>
          <p:cNvSpPr txBox="1"/>
          <p:nvPr/>
        </p:nvSpPr>
        <p:spPr>
          <a:xfrm>
            <a:off x="310950" y="3313725"/>
            <a:ext cx="6260400" cy="4616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>
              <a:buClr>
                <a:srgbClr val="000000"/>
              </a:buClr>
              <a:defRPr/>
            </a:pPr>
            <a:r>
              <a:rPr kumimoji="0" lang="en" sz="1400" b="1" i="0" u="none" strike="noStrike" kern="0" cap="none" spc="0" normalizeH="0" baseline="0" noProof="0" dirty="0">
                <a:ln>
                  <a:noFill/>
                </a:ln>
                <a:solidFill>
                  <a:srgbClr val="273239"/>
                </a:solidFill>
                <a:effectLst/>
                <a:uLnTx/>
                <a:uFillTx/>
                <a:latin typeface="Poppins"/>
                <a:ea typeface="Poppins"/>
                <a:cs typeface="Poppins"/>
                <a:sym typeface="Poppins"/>
              </a:rPr>
              <a:t>Answer :</a:t>
            </a:r>
            <a:r>
              <a:rPr kumimoji="0" lang="en" sz="1800" b="0" i="0" u="none" strike="noStrike" kern="0" cap="none" spc="0" normalizeH="0" baseline="0" noProof="0" dirty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rPr>
              <a:t>  </a:t>
            </a:r>
            <a:r>
              <a:rPr kumimoji="0" lang="en" sz="11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oppins"/>
                <a:ea typeface="Poppins"/>
                <a:cs typeface="Poppins"/>
                <a:sym typeface="Poppins"/>
              </a:rPr>
              <a:t>  D. </a:t>
            </a:r>
            <a:r>
              <a:rPr lang="en-US" sz="1100" dirty="0">
                <a:solidFill>
                  <a:srgbClr val="27323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It tells server how to parse the request body you're sending</a:t>
            </a:r>
            <a:r>
              <a:rPr kumimoji="0" lang="en" sz="11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oppins"/>
                <a:ea typeface="Poppins"/>
                <a:cs typeface="Poppins"/>
                <a:sym typeface="Poppins"/>
              </a:rPr>
              <a:t> </a:t>
            </a:r>
            <a:endParaRPr kumimoji="0" sz="1800" b="0" i="0" u="none" strike="noStrike" kern="0" cap="none" spc="0" normalizeH="0" baseline="0" noProof="0" dirty="0">
              <a:ln>
                <a:noFill/>
              </a:ln>
              <a:solidFill>
                <a:srgbClr val="595959"/>
              </a:solidFill>
              <a:effectLst/>
              <a:uLnTx/>
              <a:uFillTx/>
              <a:latin typeface="Poppins"/>
              <a:ea typeface="Poppins"/>
              <a:cs typeface="Poppins"/>
              <a:sym typeface="Poppins"/>
            </a:endParaRPr>
          </a:p>
        </p:txBody>
      </p:sp>
      <p:grpSp>
        <p:nvGrpSpPr>
          <p:cNvPr id="332" name="Google Shape;332;p33">
            <a:extLst>
              <a:ext uri="{FF2B5EF4-FFF2-40B4-BE49-F238E27FC236}">
                <a16:creationId xmlns:a16="http://schemas.microsoft.com/office/drawing/2014/main" id="{F2E3C472-9C0F-399C-50C8-013765F0F493}"/>
              </a:ext>
            </a:extLst>
          </p:cNvPr>
          <p:cNvGrpSpPr/>
          <p:nvPr/>
        </p:nvGrpSpPr>
        <p:grpSpPr>
          <a:xfrm>
            <a:off x="310900" y="3959263"/>
            <a:ext cx="6005825" cy="1271099"/>
            <a:chOff x="310900" y="3959263"/>
            <a:chExt cx="6005825" cy="1271099"/>
          </a:xfrm>
        </p:grpSpPr>
        <p:sp>
          <p:nvSpPr>
            <p:cNvPr id="333" name="Google Shape;333;p33">
              <a:extLst>
                <a:ext uri="{FF2B5EF4-FFF2-40B4-BE49-F238E27FC236}">
                  <a16:creationId xmlns:a16="http://schemas.microsoft.com/office/drawing/2014/main" id="{FC842795-0EF4-D2A2-153D-C67836919356}"/>
                </a:ext>
              </a:extLst>
            </p:cNvPr>
            <p:cNvSpPr txBox="1"/>
            <p:nvPr/>
          </p:nvSpPr>
          <p:spPr>
            <a:xfrm>
              <a:off x="310900" y="3959263"/>
              <a:ext cx="13359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15000"/>
                </a:lnSpc>
                <a:spcBef>
                  <a:spcPts val="1200"/>
                </a:spcBef>
                <a:spcAft>
                  <a:spcPts val="1200"/>
                </a:spcAft>
                <a:buClr>
                  <a:srgbClr val="000000"/>
                </a:buClr>
                <a:buSzPts val="1100"/>
                <a:buFont typeface="Arial"/>
                <a:buNone/>
                <a:tabLst/>
                <a:defRPr/>
              </a:pPr>
              <a:r>
                <a:rPr kumimoji="0" lang="en" sz="1400" b="1" i="0" u="none" strike="noStrike" kern="0" cap="none" spc="0" normalizeH="0" baseline="0" noProof="0">
                  <a:ln>
                    <a:noFill/>
                  </a:ln>
                  <a:solidFill>
                    <a:srgbClr val="273239"/>
                  </a:solidFill>
                  <a:effectLst/>
                  <a:uLnTx/>
                  <a:uFillTx/>
                  <a:latin typeface="Poppins"/>
                  <a:ea typeface="Poppins"/>
                  <a:cs typeface="Poppins"/>
                  <a:sym typeface="Poppins"/>
                </a:rPr>
                <a:t>Explanation:</a:t>
              </a: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334" name="Google Shape;334;p33">
              <a:extLst>
                <a:ext uri="{FF2B5EF4-FFF2-40B4-BE49-F238E27FC236}">
                  <a16:creationId xmlns:a16="http://schemas.microsoft.com/office/drawing/2014/main" id="{3B7ECC6A-5D41-0619-0730-60355CB821CD}"/>
                </a:ext>
              </a:extLst>
            </p:cNvPr>
            <p:cNvSpPr txBox="1"/>
            <p:nvPr/>
          </p:nvSpPr>
          <p:spPr>
            <a:xfrm>
              <a:off x="1607925" y="3959275"/>
              <a:ext cx="4708800" cy="127108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15000"/>
                </a:lnSpc>
                <a:spcBef>
                  <a:spcPts val="1200"/>
                </a:spcBef>
                <a:spcAft>
                  <a:spcPts val="120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en-US" sz="11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Poppins"/>
                  <a:ea typeface="Poppins"/>
                  <a:cs typeface="Poppins"/>
                  <a:sym typeface="Poppins"/>
                </a:rPr>
                <a:t>Content-Type in request tells SERVER what format the body is in (JSON, form data, plain text, etc.). Without it, server doesn't know how to parse body. Frontend must match Content-Type to actual body format.</a:t>
              </a:r>
              <a:endParaRPr kumimoji="0" sz="11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oppins"/>
                <a:ea typeface="Poppins"/>
                <a:cs typeface="Poppins"/>
                <a:sym typeface="Poppins"/>
              </a:endParaRPr>
            </a:p>
          </p:txBody>
        </p:sp>
      </p:grpSp>
      <p:sp>
        <p:nvSpPr>
          <p:cNvPr id="3" name="Text 0">
            <a:extLst>
              <a:ext uri="{FF2B5EF4-FFF2-40B4-BE49-F238E27FC236}">
                <a16:creationId xmlns:a16="http://schemas.microsoft.com/office/drawing/2014/main" id="{4D7841D6-510E-EC0F-F1E3-731F9D37AAD9}"/>
              </a:ext>
            </a:extLst>
          </p:cNvPr>
          <p:cNvSpPr/>
          <p:nvPr/>
        </p:nvSpPr>
        <p:spPr>
          <a:xfrm>
            <a:off x="8686800" y="4846320"/>
            <a:ext cx="365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999999"/>
                </a:solidFill>
                <a:effectLst/>
                <a:uLnTx/>
                <a:uFillTx/>
                <a:latin typeface="Poppins" pitchFamily="34" charset="0"/>
                <a:ea typeface="+mn-ea"/>
                <a:cs typeface="Poppins" pitchFamily="34" charset="-120"/>
              </a:rPr>
              <a:t>19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pic>
        <p:nvPicPr>
          <p:cNvPr id="4" name="Image 0" descr="preencoded.png">
            <a:extLst>
              <a:ext uri="{FF2B5EF4-FFF2-40B4-BE49-F238E27FC236}">
                <a16:creationId xmlns:a16="http://schemas.microsoft.com/office/drawing/2014/main" id="{734FA0E2-7CA9-4F91-130C-DAF3A8C2DA8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12480" y="73152"/>
            <a:ext cx="566928" cy="6217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57436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3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1000"/>
                                        <p:tgtEl>
                                          <p:spTgt spid="3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1000"/>
                                        <p:tgtEl>
                                          <p:spTgt spid="3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4">
          <a:extLst>
            <a:ext uri="{FF2B5EF4-FFF2-40B4-BE49-F238E27FC236}">
              <a16:creationId xmlns:a16="http://schemas.microsoft.com/office/drawing/2014/main" id="{337EBB20-525C-43CB-718F-D3DA1F4742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Google Shape;325;p33">
            <a:extLst>
              <a:ext uri="{FF2B5EF4-FFF2-40B4-BE49-F238E27FC236}">
                <a16:creationId xmlns:a16="http://schemas.microsoft.com/office/drawing/2014/main" id="{259A0137-A9AE-056D-EA15-6BE4A54C680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0900" y="210300"/>
            <a:ext cx="747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latin typeface="Poppins"/>
                <a:ea typeface="Poppins"/>
                <a:cs typeface="Poppins"/>
                <a:sym typeface="Poppins"/>
              </a:rPr>
              <a:t>|</a:t>
            </a:r>
            <a:r>
              <a:rPr lang="en"/>
              <a:t> </a:t>
            </a:r>
            <a:r>
              <a:rPr lang="en" b="1">
                <a:solidFill>
                  <a:srgbClr val="073763"/>
                </a:solidFill>
                <a:latin typeface="Poppins"/>
                <a:ea typeface="Poppins"/>
                <a:cs typeface="Poppins"/>
                <a:sym typeface="Poppins"/>
              </a:rPr>
              <a:t>Check Your Understanding</a:t>
            </a:r>
            <a:endParaRPr b="1">
              <a:solidFill>
                <a:srgbClr val="073763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327" name="Google Shape;327;p33">
            <a:extLst>
              <a:ext uri="{FF2B5EF4-FFF2-40B4-BE49-F238E27FC236}">
                <a16:creationId xmlns:a16="http://schemas.microsoft.com/office/drawing/2014/main" id="{873FDFE9-C69A-247E-F608-5114F785E9EF}"/>
              </a:ext>
            </a:extLst>
          </p:cNvPr>
          <p:cNvSpPr txBox="1"/>
          <p:nvPr/>
        </p:nvSpPr>
        <p:spPr>
          <a:xfrm>
            <a:off x="310900" y="1228825"/>
            <a:ext cx="81615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>
              <a:buClr>
                <a:srgbClr val="000000"/>
              </a:buClr>
              <a:defRPr/>
            </a:pPr>
            <a:r>
              <a:rPr kumimoji="0" lang="en" sz="1400" b="1" i="0" u="none" strike="noStrike" kern="0" cap="none" spc="0" normalizeH="0" baseline="0" noProof="0" dirty="0">
                <a:ln>
                  <a:noFill/>
                </a:ln>
                <a:solidFill>
                  <a:srgbClr val="273239"/>
                </a:solidFill>
                <a:effectLst/>
                <a:uLnTx/>
                <a:uFillTx/>
                <a:latin typeface="Poppins"/>
                <a:ea typeface="Poppins"/>
                <a:cs typeface="Poppins"/>
                <a:sym typeface="Poppins"/>
              </a:rPr>
              <a:t>Question :  </a:t>
            </a:r>
            <a:r>
              <a:rPr kumimoji="0" lang="en" sz="11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rPr>
              <a:t>   </a:t>
            </a:r>
            <a:r>
              <a:rPr lang="en-US" sz="1100" kern="0" dirty="0">
                <a:solidFill>
                  <a:srgbClr val="000000"/>
                </a:solidFill>
                <a:cs typeface="Arial"/>
                <a:sym typeface="Arial"/>
              </a:rPr>
              <a:t>What's the difference between PUT and PATCH?</a:t>
            </a:r>
            <a:endParaRPr kumimoji="0" sz="13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328" name="Google Shape;328;p33">
            <a:extLst>
              <a:ext uri="{FF2B5EF4-FFF2-40B4-BE49-F238E27FC236}">
                <a16:creationId xmlns:a16="http://schemas.microsoft.com/office/drawing/2014/main" id="{C9E7EBB8-A749-987D-FBB6-B16B4393569E}"/>
              </a:ext>
            </a:extLst>
          </p:cNvPr>
          <p:cNvSpPr txBox="1"/>
          <p:nvPr/>
        </p:nvSpPr>
        <p:spPr>
          <a:xfrm>
            <a:off x="310900" y="1748350"/>
            <a:ext cx="8084700" cy="17858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>
              <a:lnSpc>
                <a:spcPct val="115000"/>
              </a:lnSpc>
              <a:spcBef>
                <a:spcPts val="1200"/>
              </a:spcBef>
              <a:buClr>
                <a:srgbClr val="000000"/>
              </a:buClr>
              <a:defRPr/>
            </a:pPr>
            <a:r>
              <a:rPr kumimoji="0" lang="en" sz="1400" b="1" i="0" u="none" strike="noStrike" kern="0" cap="none" spc="0" normalizeH="0" baseline="0" noProof="0" dirty="0">
                <a:ln>
                  <a:noFill/>
                </a:ln>
                <a:solidFill>
                  <a:srgbClr val="273239"/>
                </a:solidFill>
                <a:effectLst/>
                <a:uLnTx/>
                <a:uFillTx/>
                <a:latin typeface="Poppins"/>
                <a:ea typeface="Poppins"/>
                <a:cs typeface="Poppins"/>
                <a:sym typeface="Poppins"/>
              </a:rPr>
              <a:t>Options    :</a:t>
            </a:r>
            <a:r>
              <a:rPr kumimoji="0" lang="en" sz="11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rPr>
              <a:t> </a:t>
            </a:r>
            <a:r>
              <a:rPr kumimoji="0" lang="en" sz="11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oppins"/>
                <a:ea typeface="Poppins"/>
                <a:cs typeface="Poppins"/>
                <a:sym typeface="Poppins"/>
              </a:rPr>
              <a:t>           A. </a:t>
            </a:r>
            <a:r>
              <a:rPr lang="en-US" sz="1100" dirty="0">
                <a:solidFill>
                  <a:srgbClr val="27323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PUT replaces entire resource, PATCH updates only specific fields</a:t>
            </a:r>
            <a:endParaRPr kumimoji="0" sz="11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Poppins"/>
              <a:ea typeface="Poppins"/>
              <a:cs typeface="Poppins"/>
              <a:sym typeface="Poppins"/>
            </a:endParaRPr>
          </a:p>
          <a:p>
            <a:pPr marL="1371600" lvl="0">
              <a:lnSpc>
                <a:spcPct val="115000"/>
              </a:lnSpc>
              <a:spcBef>
                <a:spcPts val="1200"/>
              </a:spcBef>
              <a:buClr>
                <a:srgbClr val="000000"/>
              </a:buClr>
              <a:defRPr/>
            </a:pPr>
            <a:r>
              <a:rPr kumimoji="0" lang="en" sz="11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oppins"/>
                <a:ea typeface="Poppins"/>
                <a:cs typeface="Poppins"/>
                <a:sym typeface="Poppins"/>
              </a:rPr>
              <a:t>B. </a:t>
            </a:r>
            <a:r>
              <a:rPr lang="en-US" sz="1100" dirty="0">
                <a:solidFill>
                  <a:srgbClr val="27323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No difference, they're identical</a:t>
            </a:r>
            <a:endParaRPr kumimoji="0" sz="11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Poppins"/>
              <a:ea typeface="Poppins"/>
              <a:cs typeface="Poppins"/>
              <a:sym typeface="Poppins"/>
            </a:endParaRPr>
          </a:p>
          <a:p>
            <a:pPr marL="1371600" lvl="0">
              <a:lnSpc>
                <a:spcPct val="115000"/>
              </a:lnSpc>
              <a:spcBef>
                <a:spcPts val="1200"/>
              </a:spcBef>
              <a:buClr>
                <a:srgbClr val="000000"/>
              </a:buClr>
              <a:defRPr/>
            </a:pPr>
            <a:r>
              <a:rPr kumimoji="0" lang="en" sz="11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oppins"/>
                <a:ea typeface="Poppins"/>
                <a:cs typeface="Poppins"/>
                <a:sym typeface="Poppins"/>
              </a:rPr>
              <a:t>C. </a:t>
            </a:r>
            <a:r>
              <a:rPr lang="en-US" sz="1100" dirty="0">
                <a:solidFill>
                  <a:srgbClr val="27323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PATCH is faster</a:t>
            </a:r>
            <a:endParaRPr kumimoji="0" sz="11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Poppins"/>
              <a:ea typeface="Poppins"/>
              <a:cs typeface="Poppins"/>
              <a:sym typeface="Poppins"/>
            </a:endParaRPr>
          </a:p>
          <a:p>
            <a:pPr marL="1371600" lv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rgbClr val="000000"/>
              </a:buClr>
              <a:defRPr/>
            </a:pPr>
            <a:r>
              <a:rPr kumimoji="0" lang="en" sz="11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oppins"/>
                <a:ea typeface="Poppins"/>
                <a:cs typeface="Poppins"/>
                <a:sym typeface="Poppins"/>
              </a:rPr>
              <a:t>D. </a:t>
            </a:r>
            <a:r>
              <a:rPr lang="en-US" sz="1100" dirty="0">
                <a:solidFill>
                  <a:srgbClr val="27323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PUT is for DELETE operations</a:t>
            </a:r>
            <a:endParaRPr kumimoji="0" sz="11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329" name="Google Shape;329;p33" title="question-and-answer-illustration-download-in-svg-png-gif-file-formats--answers-faq-comments-chatting-business-pack-people-illustrations-4257057.png">
            <a:extLst>
              <a:ext uri="{FF2B5EF4-FFF2-40B4-BE49-F238E27FC236}">
                <a16:creationId xmlns:a16="http://schemas.microsoft.com/office/drawing/2014/main" id="{21609D07-E784-1627-5FB3-46DEA8235E85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051839" y="3027775"/>
            <a:ext cx="3001612" cy="2001075"/>
          </a:xfrm>
          <a:prstGeom prst="rect">
            <a:avLst/>
          </a:prstGeom>
          <a:noFill/>
          <a:ln>
            <a:noFill/>
          </a:ln>
        </p:spPr>
      </p:pic>
      <p:sp>
        <p:nvSpPr>
          <p:cNvPr id="331" name="Google Shape;331;p33">
            <a:extLst>
              <a:ext uri="{FF2B5EF4-FFF2-40B4-BE49-F238E27FC236}">
                <a16:creationId xmlns:a16="http://schemas.microsoft.com/office/drawing/2014/main" id="{F9FBD886-A4FF-EC18-D2FB-88169897B8BE}"/>
              </a:ext>
            </a:extLst>
          </p:cNvPr>
          <p:cNvSpPr txBox="1"/>
          <p:nvPr/>
        </p:nvSpPr>
        <p:spPr>
          <a:xfrm>
            <a:off x="310950" y="3313725"/>
            <a:ext cx="6260400" cy="4616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>
              <a:buClr>
                <a:srgbClr val="000000"/>
              </a:buClr>
              <a:defRPr/>
            </a:pPr>
            <a:r>
              <a:rPr kumimoji="0" lang="en" sz="1400" b="1" i="0" u="none" strike="noStrike" kern="0" cap="none" spc="0" normalizeH="0" baseline="0" noProof="0" dirty="0">
                <a:ln>
                  <a:noFill/>
                </a:ln>
                <a:solidFill>
                  <a:srgbClr val="273239"/>
                </a:solidFill>
                <a:effectLst/>
                <a:uLnTx/>
                <a:uFillTx/>
                <a:latin typeface="Poppins"/>
                <a:ea typeface="Poppins"/>
                <a:cs typeface="Poppins"/>
                <a:sym typeface="Poppins"/>
              </a:rPr>
              <a:t>Answer :</a:t>
            </a:r>
            <a:r>
              <a:rPr kumimoji="0" lang="en" sz="1800" b="0" i="0" u="none" strike="noStrike" kern="0" cap="none" spc="0" normalizeH="0" baseline="0" noProof="0" dirty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rPr>
              <a:t>  </a:t>
            </a:r>
            <a:r>
              <a:rPr kumimoji="0" lang="en" sz="11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oppins"/>
                <a:ea typeface="Poppins"/>
                <a:cs typeface="Poppins"/>
                <a:sym typeface="Poppins"/>
              </a:rPr>
              <a:t>  </a:t>
            </a:r>
            <a:r>
              <a:rPr lang="en" sz="1100" kern="0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A</a:t>
            </a:r>
            <a:r>
              <a:rPr kumimoji="0" lang="en" sz="11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oppins"/>
                <a:ea typeface="Poppins"/>
                <a:cs typeface="Poppins"/>
                <a:sym typeface="Poppins"/>
              </a:rPr>
              <a:t>. </a:t>
            </a:r>
            <a:r>
              <a:rPr lang="en-US" sz="1100" dirty="0">
                <a:solidFill>
                  <a:srgbClr val="27323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PUT replaces entire resource, PATCH updates only specific fields</a:t>
            </a:r>
            <a:endParaRPr kumimoji="0" sz="1800" b="0" i="0" u="none" strike="noStrike" kern="0" cap="none" spc="0" normalizeH="0" baseline="0" noProof="0" dirty="0">
              <a:ln>
                <a:noFill/>
              </a:ln>
              <a:solidFill>
                <a:srgbClr val="595959"/>
              </a:solidFill>
              <a:effectLst/>
              <a:uLnTx/>
              <a:uFillTx/>
              <a:latin typeface="Poppins"/>
              <a:ea typeface="Poppins"/>
              <a:cs typeface="Poppins"/>
              <a:sym typeface="Poppins"/>
            </a:endParaRPr>
          </a:p>
        </p:txBody>
      </p:sp>
      <p:grpSp>
        <p:nvGrpSpPr>
          <p:cNvPr id="332" name="Google Shape;332;p33">
            <a:extLst>
              <a:ext uri="{FF2B5EF4-FFF2-40B4-BE49-F238E27FC236}">
                <a16:creationId xmlns:a16="http://schemas.microsoft.com/office/drawing/2014/main" id="{CCFE47B1-D2FA-360F-8A93-798EEFA5260D}"/>
              </a:ext>
            </a:extLst>
          </p:cNvPr>
          <p:cNvGrpSpPr/>
          <p:nvPr/>
        </p:nvGrpSpPr>
        <p:grpSpPr>
          <a:xfrm>
            <a:off x="310900" y="3959263"/>
            <a:ext cx="6005825" cy="1076430"/>
            <a:chOff x="310900" y="3959263"/>
            <a:chExt cx="6005825" cy="1076430"/>
          </a:xfrm>
        </p:grpSpPr>
        <p:sp>
          <p:nvSpPr>
            <p:cNvPr id="333" name="Google Shape;333;p33">
              <a:extLst>
                <a:ext uri="{FF2B5EF4-FFF2-40B4-BE49-F238E27FC236}">
                  <a16:creationId xmlns:a16="http://schemas.microsoft.com/office/drawing/2014/main" id="{BADBA1B1-698C-AFCB-A19A-162F45C754BF}"/>
                </a:ext>
              </a:extLst>
            </p:cNvPr>
            <p:cNvSpPr txBox="1"/>
            <p:nvPr/>
          </p:nvSpPr>
          <p:spPr>
            <a:xfrm>
              <a:off x="310900" y="3959263"/>
              <a:ext cx="13359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15000"/>
                </a:lnSpc>
                <a:spcBef>
                  <a:spcPts val="1200"/>
                </a:spcBef>
                <a:spcAft>
                  <a:spcPts val="1200"/>
                </a:spcAft>
                <a:buClr>
                  <a:srgbClr val="000000"/>
                </a:buClr>
                <a:buSzPts val="1100"/>
                <a:buFont typeface="Arial"/>
                <a:buNone/>
                <a:tabLst/>
                <a:defRPr/>
              </a:pPr>
              <a:r>
                <a:rPr kumimoji="0" lang="en" sz="1400" b="1" i="0" u="none" strike="noStrike" kern="0" cap="none" spc="0" normalizeH="0" baseline="0" noProof="0">
                  <a:ln>
                    <a:noFill/>
                  </a:ln>
                  <a:solidFill>
                    <a:srgbClr val="273239"/>
                  </a:solidFill>
                  <a:effectLst/>
                  <a:uLnTx/>
                  <a:uFillTx/>
                  <a:latin typeface="Poppins"/>
                  <a:ea typeface="Poppins"/>
                  <a:cs typeface="Poppins"/>
                  <a:sym typeface="Poppins"/>
                </a:rPr>
                <a:t>Explanation:</a:t>
              </a: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334" name="Google Shape;334;p33">
              <a:extLst>
                <a:ext uri="{FF2B5EF4-FFF2-40B4-BE49-F238E27FC236}">
                  <a16:creationId xmlns:a16="http://schemas.microsoft.com/office/drawing/2014/main" id="{DE2B91F1-DF92-9F7D-5C45-671EEF720F0D}"/>
                </a:ext>
              </a:extLst>
            </p:cNvPr>
            <p:cNvSpPr txBox="1"/>
            <p:nvPr/>
          </p:nvSpPr>
          <p:spPr>
            <a:xfrm>
              <a:off x="1607925" y="3959275"/>
              <a:ext cx="4708800" cy="107641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15000"/>
                </a:lnSpc>
                <a:spcBef>
                  <a:spcPts val="1200"/>
                </a:spcBef>
                <a:spcAft>
                  <a:spcPts val="120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en-US" sz="11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Poppins"/>
                  <a:ea typeface="Poppins"/>
                  <a:cs typeface="Poppins"/>
                  <a:sym typeface="Poppins"/>
                </a:rPr>
                <a:t>PUT expects complete replacement data. If you PUT a user and only send name field, you lose all other fields. PATCH updates only the fields you send. PATCH is safer for partial updates.</a:t>
              </a:r>
              <a:endParaRPr kumimoji="0" sz="11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oppins"/>
                <a:ea typeface="Poppins"/>
                <a:cs typeface="Poppins"/>
                <a:sym typeface="Poppins"/>
              </a:endParaRPr>
            </a:p>
          </p:txBody>
        </p:sp>
      </p:grpSp>
      <p:sp>
        <p:nvSpPr>
          <p:cNvPr id="3" name="Text 0">
            <a:extLst>
              <a:ext uri="{FF2B5EF4-FFF2-40B4-BE49-F238E27FC236}">
                <a16:creationId xmlns:a16="http://schemas.microsoft.com/office/drawing/2014/main" id="{FDFCBC9C-FFF4-AFB7-46BC-786AA52FF3A9}"/>
              </a:ext>
            </a:extLst>
          </p:cNvPr>
          <p:cNvSpPr/>
          <p:nvPr/>
        </p:nvSpPr>
        <p:spPr>
          <a:xfrm>
            <a:off x="8686800" y="4846320"/>
            <a:ext cx="365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900" dirty="0">
                <a:solidFill>
                  <a:srgbClr val="999999"/>
                </a:solidFill>
                <a:latin typeface="Poppins" pitchFamily="34" charset="0"/>
                <a:cs typeface="Poppins" pitchFamily="34" charset="-120"/>
              </a:rPr>
              <a:t>20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pic>
        <p:nvPicPr>
          <p:cNvPr id="4" name="Image 0" descr="preencoded.png">
            <a:extLst>
              <a:ext uri="{FF2B5EF4-FFF2-40B4-BE49-F238E27FC236}">
                <a16:creationId xmlns:a16="http://schemas.microsoft.com/office/drawing/2014/main" id="{0D87DD1E-549B-2080-BC4E-ED017B42B01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12480" y="73152"/>
            <a:ext cx="566928" cy="6217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152335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3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1000"/>
                                        <p:tgtEl>
                                          <p:spTgt spid="3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1000"/>
                                        <p:tgtEl>
                                          <p:spTgt spid="3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3" name="Google Shape;373;p43"/>
          <p:cNvSpPr txBox="1">
            <a:spLocks noGrp="1"/>
          </p:cNvSpPr>
          <p:nvPr>
            <p:ph type="title"/>
          </p:nvPr>
        </p:nvSpPr>
        <p:spPr>
          <a:xfrm>
            <a:off x="310896" y="210312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latin typeface="Poppins"/>
                <a:ea typeface="Poppins"/>
                <a:cs typeface="Poppins"/>
                <a:sym typeface="Poppins"/>
              </a:rPr>
              <a:t>|</a:t>
            </a:r>
            <a:r>
              <a:rPr lang="en"/>
              <a:t>  </a:t>
            </a:r>
            <a:r>
              <a:rPr lang="en" b="1">
                <a:solidFill>
                  <a:srgbClr val="073763"/>
                </a:solidFill>
                <a:latin typeface="Poppins"/>
                <a:ea typeface="Poppins"/>
                <a:cs typeface="Poppins"/>
                <a:sym typeface="Poppins"/>
              </a:rPr>
              <a:t>References</a:t>
            </a:r>
            <a:endParaRPr b="1">
              <a:solidFill>
                <a:srgbClr val="073763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375" name="Google Shape;375;p43"/>
          <p:cNvSpPr txBox="1"/>
          <p:nvPr/>
        </p:nvSpPr>
        <p:spPr>
          <a:xfrm>
            <a:off x="358850" y="1181200"/>
            <a:ext cx="8520600" cy="343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298450">
              <a:lnSpc>
                <a:spcPct val="115000"/>
              </a:lnSpc>
              <a:buSzPts val="1100"/>
              <a:buChar char="●"/>
            </a:pPr>
            <a:r>
              <a:rPr lang="en-IN" sz="1100" b="1" dirty="0">
                <a:latin typeface="Poppins" panose="00000500000000000000" pitchFamily="2" charset="0"/>
                <a:cs typeface="Poppins" panose="00000500000000000000" pitchFamily="2" charset="0"/>
              </a:rPr>
              <a:t>Node.js Official Documentation</a:t>
            </a:r>
            <a:r>
              <a:rPr lang="en-IN" sz="1100" dirty="0">
                <a:latin typeface="Poppins" panose="00000500000000000000" pitchFamily="2" charset="0"/>
                <a:cs typeface="Poppins" panose="00000500000000000000" pitchFamily="2" charset="0"/>
              </a:rPr>
              <a:t> : Comprehensive and official documentation for Node.js runtime, modules, APIs, file system, HTTP, Express integration basics, and backend development concepts.</a:t>
            </a:r>
            <a:br>
              <a:rPr lang="en-IN" sz="1100" dirty="0">
                <a:latin typeface="Poppins" panose="00000500000000000000" pitchFamily="2" charset="0"/>
                <a:cs typeface="Poppins" panose="00000500000000000000" pitchFamily="2" charset="0"/>
              </a:rPr>
            </a:br>
            <a:r>
              <a:rPr lang="en-IN" sz="1100" dirty="0">
                <a:latin typeface="Poppins" panose="00000500000000000000" pitchFamily="2" charset="0"/>
                <a:cs typeface="Poppins" panose="00000500000000000000" pitchFamily="2" charset="0"/>
              </a:rPr>
              <a:t>🔗 </a:t>
            </a:r>
            <a:r>
              <a:rPr lang="en-IN" sz="1100" dirty="0">
                <a:latin typeface="Poppins" panose="00000500000000000000" pitchFamily="2" charset="0"/>
                <a:cs typeface="Poppins" panose="00000500000000000000" pitchFamily="2" charset="0"/>
                <a:hlinkClick r:id="rId3"/>
              </a:rPr>
              <a:t>Node.js Official Docs</a:t>
            </a:r>
            <a:endParaRPr sz="1100" u="sng" dirty="0">
              <a:solidFill>
                <a:schemeClr val="hlink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  <a:p>
            <a:pPr marL="45720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100" u="sng" dirty="0">
              <a:solidFill>
                <a:schemeClr val="hlink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  <a:p>
            <a:pPr marL="45720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100" u="sng" dirty="0">
              <a:solidFill>
                <a:schemeClr val="hlink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  <a:p>
            <a:pPr marL="457200" lvl="0" indent="-298450">
              <a:lnSpc>
                <a:spcPct val="115000"/>
              </a:lnSpc>
              <a:buClr>
                <a:schemeClr val="dk1"/>
              </a:buClr>
              <a:buSzPts val="1100"/>
              <a:buChar char="●"/>
            </a:pPr>
            <a:r>
              <a:rPr lang="en-IN" sz="1100" b="1" dirty="0">
                <a:latin typeface="Poppins" panose="00000500000000000000" pitchFamily="2" charset="0"/>
                <a:cs typeface="Poppins" panose="00000500000000000000" pitchFamily="2" charset="0"/>
              </a:rPr>
              <a:t>W3Schools – Node.js Tutorial</a:t>
            </a:r>
            <a:r>
              <a:rPr lang="en-IN" sz="1100" dirty="0">
                <a:latin typeface="Poppins" panose="00000500000000000000" pitchFamily="2" charset="0"/>
                <a:cs typeface="Poppins" panose="00000500000000000000" pitchFamily="2" charset="0"/>
              </a:rPr>
              <a:t> : Beginner-friendly Node.js tutorials with easy explanations, examples, and hands-on practice for backend development fundamentals.</a:t>
            </a:r>
            <a:br>
              <a:rPr lang="en-IN" sz="1100" dirty="0">
                <a:latin typeface="Poppins" panose="00000500000000000000" pitchFamily="2" charset="0"/>
                <a:cs typeface="Poppins" panose="00000500000000000000" pitchFamily="2" charset="0"/>
              </a:rPr>
            </a:br>
            <a:r>
              <a:rPr lang="en-IN" sz="1100" dirty="0">
                <a:latin typeface="Poppins" panose="00000500000000000000" pitchFamily="2" charset="0"/>
                <a:cs typeface="Poppins" panose="00000500000000000000" pitchFamily="2" charset="0"/>
              </a:rPr>
              <a:t>🔗 </a:t>
            </a:r>
            <a:r>
              <a:rPr lang="en-IN" sz="1100" dirty="0">
                <a:latin typeface="Poppins" panose="00000500000000000000" pitchFamily="2" charset="0"/>
                <a:cs typeface="Poppins" panose="00000500000000000000" pitchFamily="2" charset="0"/>
                <a:hlinkClick r:id="rId4"/>
              </a:rPr>
              <a:t>W3Schools Node.js Tutorial</a:t>
            </a:r>
            <a:endParaRPr lang="en-US" sz="1100" dirty="0">
              <a:solidFill>
                <a:schemeClr val="dk1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100" dirty="0">
              <a:solidFill>
                <a:schemeClr val="dk1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100" dirty="0">
              <a:solidFill>
                <a:schemeClr val="dk1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  <a:p>
            <a:pPr marL="457200" lvl="0" indent="-298450">
              <a:lnSpc>
                <a:spcPct val="115000"/>
              </a:lnSpc>
              <a:buClr>
                <a:schemeClr val="dk1"/>
              </a:buClr>
              <a:buSzPts val="1100"/>
              <a:buChar char="●"/>
            </a:pPr>
            <a:r>
              <a:rPr lang="en-IN" sz="1100" b="1" dirty="0" err="1">
                <a:latin typeface="Poppins" panose="00000500000000000000" pitchFamily="2" charset="0"/>
                <a:cs typeface="Poppins" panose="00000500000000000000" pitchFamily="2" charset="0"/>
              </a:rPr>
              <a:t>freeCodeCamp</a:t>
            </a:r>
            <a:r>
              <a:rPr lang="en-IN" sz="1100" b="1" dirty="0">
                <a:latin typeface="Poppins" panose="00000500000000000000" pitchFamily="2" charset="0"/>
                <a:cs typeface="Poppins" panose="00000500000000000000" pitchFamily="2" charset="0"/>
              </a:rPr>
              <a:t> – Node.js Course</a:t>
            </a:r>
            <a:r>
              <a:rPr lang="en-IN" sz="1100" dirty="0">
                <a:latin typeface="Poppins" panose="00000500000000000000" pitchFamily="2" charset="0"/>
                <a:cs typeface="Poppins" panose="00000500000000000000" pitchFamily="2" charset="0"/>
              </a:rPr>
              <a:t> : Free practical tutorials and project-based learning resources for Node.js, Express.js, REST APIs, and backend development.</a:t>
            </a:r>
            <a:br>
              <a:rPr lang="en-IN" sz="1100" dirty="0">
                <a:latin typeface="Poppins" panose="00000500000000000000" pitchFamily="2" charset="0"/>
                <a:cs typeface="Poppins" panose="00000500000000000000" pitchFamily="2" charset="0"/>
              </a:rPr>
            </a:br>
            <a:r>
              <a:rPr lang="en-IN" sz="1100" dirty="0">
                <a:latin typeface="Poppins" panose="00000500000000000000" pitchFamily="2" charset="0"/>
                <a:cs typeface="Poppins" panose="00000500000000000000" pitchFamily="2" charset="0"/>
              </a:rPr>
              <a:t>🔗 </a:t>
            </a:r>
            <a:r>
              <a:rPr lang="en-IN" sz="1100" dirty="0" err="1">
                <a:latin typeface="Poppins" panose="00000500000000000000" pitchFamily="2" charset="0"/>
                <a:cs typeface="Poppins" panose="00000500000000000000" pitchFamily="2" charset="0"/>
                <a:hlinkClick r:id="rId5"/>
              </a:rPr>
              <a:t>freeCodeCamp</a:t>
            </a:r>
            <a:r>
              <a:rPr lang="en-IN" sz="1100" dirty="0">
                <a:latin typeface="Poppins" panose="00000500000000000000" pitchFamily="2" charset="0"/>
                <a:cs typeface="Poppins" panose="00000500000000000000" pitchFamily="2" charset="0"/>
                <a:hlinkClick r:id="rId5"/>
              </a:rPr>
              <a:t> Node.js Resources</a:t>
            </a:r>
            <a:endParaRPr lang="en-IN" sz="1100" dirty="0">
              <a:latin typeface="Poppins" panose="00000500000000000000" pitchFamily="2" charset="0"/>
              <a:cs typeface="Poppins" panose="00000500000000000000" pitchFamily="2" charset="0"/>
            </a:endParaRPr>
          </a:p>
          <a:p>
            <a:pPr marL="457200" lvl="0" indent="-298450">
              <a:lnSpc>
                <a:spcPct val="115000"/>
              </a:lnSpc>
              <a:buClr>
                <a:schemeClr val="dk1"/>
              </a:buClr>
              <a:buSzPts val="1100"/>
              <a:buChar char="●"/>
            </a:pPr>
            <a:endParaRPr lang="en-IN" sz="1100" i="1" dirty="0">
              <a:solidFill>
                <a:schemeClr val="dk1"/>
              </a:solidFill>
              <a:latin typeface="Poppins" panose="00000500000000000000" pitchFamily="2" charset="0"/>
              <a:ea typeface="Poppins"/>
              <a:cs typeface="Poppins" panose="00000500000000000000" pitchFamily="2" charset="0"/>
              <a:sym typeface="Poppins"/>
            </a:endParaRPr>
          </a:p>
          <a:p>
            <a:pPr marL="457200" lvl="0" indent="-298450">
              <a:lnSpc>
                <a:spcPct val="115000"/>
              </a:lnSpc>
              <a:buClr>
                <a:schemeClr val="dk1"/>
              </a:buClr>
              <a:buSzPts val="1100"/>
              <a:buChar char="●"/>
            </a:pPr>
            <a:endParaRPr lang="en-IN" sz="1100" i="1" dirty="0">
              <a:solidFill>
                <a:schemeClr val="dk1"/>
              </a:solidFill>
              <a:latin typeface="Poppins" panose="00000500000000000000" pitchFamily="2" charset="0"/>
              <a:ea typeface="Poppins"/>
              <a:cs typeface="Poppins" panose="00000500000000000000" pitchFamily="2" charset="0"/>
              <a:sym typeface="Poppins"/>
            </a:endParaRPr>
          </a:p>
          <a:p>
            <a:pPr marL="457200" lvl="0" indent="-298450">
              <a:lnSpc>
                <a:spcPct val="115000"/>
              </a:lnSpc>
              <a:buClr>
                <a:schemeClr val="dk1"/>
              </a:buClr>
              <a:buSzPts val="1100"/>
              <a:buChar char="●"/>
            </a:pPr>
            <a:r>
              <a:rPr lang="en-US" sz="1100" b="1" dirty="0">
                <a:latin typeface="Poppins" pitchFamily="34" charset="0"/>
                <a:ea typeface="Poppins" pitchFamily="34" charset="-122"/>
                <a:cs typeface="Poppins" pitchFamily="34" charset="-120"/>
              </a:rPr>
              <a:t>HTTP Status : </a:t>
            </a:r>
            <a:r>
              <a:rPr lang="en-US" sz="1100" dirty="0">
                <a:latin typeface="Poppins" pitchFamily="34" charset="0"/>
                <a:ea typeface="Poppins" pitchFamily="34" charset="-122"/>
                <a:cs typeface="Poppins" pitchFamily="34" charset="-120"/>
              </a:rPr>
              <a:t>Every HTTP status code explained. </a:t>
            </a:r>
            <a:r>
              <a:rPr lang="en-US" sz="1050" u="sng" dirty="0">
                <a:latin typeface="Poppins" pitchFamily="34" charset="0"/>
                <a:ea typeface="Poppins" pitchFamily="34" charset="-122"/>
                <a:cs typeface="Poppins" pitchFamily="34" charset="-120"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r>
              <a:rPr lang="en-US" sz="1050" u="sng" dirty="0">
                <a:solidFill>
                  <a:srgbClr val="1C4587"/>
                </a:solidFill>
                <a:latin typeface="Poppins" pitchFamily="34" charset="0"/>
                <a:ea typeface="Poppins" pitchFamily="34" charset="-122"/>
                <a:cs typeface="Poppins" pitchFamily="34" charset="-120"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🔗 https://httpstatuses.com/</a:t>
            </a:r>
            <a:endParaRPr sz="1100" i="1" dirty="0">
              <a:solidFill>
                <a:schemeClr val="dk1"/>
              </a:solidFill>
              <a:latin typeface="Poppins" panose="00000500000000000000" pitchFamily="2" charset="0"/>
              <a:ea typeface="Poppins"/>
              <a:cs typeface="Poppins" panose="00000500000000000000" pitchFamily="2" charset="0"/>
              <a:sym typeface="Poppins"/>
            </a:endParaRPr>
          </a:p>
        </p:txBody>
      </p:sp>
      <p:sp>
        <p:nvSpPr>
          <p:cNvPr id="2" name="Text 0">
            <a:extLst>
              <a:ext uri="{FF2B5EF4-FFF2-40B4-BE49-F238E27FC236}">
                <a16:creationId xmlns:a16="http://schemas.microsoft.com/office/drawing/2014/main" id="{776FBA4A-CC92-CFF0-C0A3-3B8D0286268A}"/>
              </a:ext>
            </a:extLst>
          </p:cNvPr>
          <p:cNvSpPr/>
          <p:nvPr/>
        </p:nvSpPr>
        <p:spPr>
          <a:xfrm>
            <a:off x="8686800" y="4846320"/>
            <a:ext cx="365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9999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21</a:t>
            </a:r>
            <a:endParaRPr lang="en-US" sz="900" dirty="0"/>
          </a:p>
        </p:txBody>
      </p:sp>
      <p:pic>
        <p:nvPicPr>
          <p:cNvPr id="4" name="Image 0" descr="preencoded.png">
            <a:extLst>
              <a:ext uri="{FF2B5EF4-FFF2-40B4-BE49-F238E27FC236}">
                <a16:creationId xmlns:a16="http://schemas.microsoft.com/office/drawing/2014/main" id="{7742D39F-4CDD-6D14-B542-378508E5EE60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412480" y="73152"/>
            <a:ext cx="566928" cy="621792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1" name="Google Shape;381;p44" title="subtle-prism (2)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5400050">
            <a:off x="-395563" y="395600"/>
            <a:ext cx="5157175" cy="4365975"/>
          </a:xfrm>
          <a:prstGeom prst="flowChartManualInput">
            <a:avLst/>
          </a:prstGeom>
          <a:noFill/>
          <a:ln>
            <a:noFill/>
          </a:ln>
        </p:spPr>
      </p:pic>
      <p:pic>
        <p:nvPicPr>
          <p:cNvPr id="382" name="Google Shape;382;p44" title="KRMU_Full_heading_Logo-removebg-preview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806125" y="452500"/>
            <a:ext cx="5337876" cy="1363050"/>
          </a:xfrm>
          <a:prstGeom prst="rect">
            <a:avLst/>
          </a:prstGeom>
          <a:noFill/>
          <a:ln>
            <a:noFill/>
          </a:ln>
        </p:spPr>
      </p:pic>
      <p:sp>
        <p:nvSpPr>
          <p:cNvPr id="383" name="Google Shape;383;p44"/>
          <p:cNvSpPr txBox="1"/>
          <p:nvPr/>
        </p:nvSpPr>
        <p:spPr>
          <a:xfrm>
            <a:off x="4407400" y="2020825"/>
            <a:ext cx="4636200" cy="55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b="1" dirty="0">
                <a:solidFill>
                  <a:srgbClr val="173034"/>
                </a:solidFill>
              </a:rPr>
              <a:t>Course - Web Development - III</a:t>
            </a:r>
            <a:endParaRPr sz="2400" b="1" dirty="0">
              <a:solidFill>
                <a:srgbClr val="173034"/>
              </a:solidFill>
            </a:endParaRPr>
          </a:p>
        </p:txBody>
      </p:sp>
      <p:grpSp>
        <p:nvGrpSpPr>
          <p:cNvPr id="384" name="Google Shape;384;p44"/>
          <p:cNvGrpSpPr/>
          <p:nvPr/>
        </p:nvGrpSpPr>
        <p:grpSpPr>
          <a:xfrm>
            <a:off x="4572000" y="4881413"/>
            <a:ext cx="1607600" cy="292500"/>
            <a:chOff x="5060775" y="4881413"/>
            <a:chExt cx="1607600" cy="292500"/>
          </a:xfrm>
        </p:grpSpPr>
        <p:sp>
          <p:nvSpPr>
            <p:cNvPr id="385" name="Google Shape;385;p44"/>
            <p:cNvSpPr txBox="1"/>
            <p:nvPr/>
          </p:nvSpPr>
          <p:spPr>
            <a:xfrm>
              <a:off x="5165675" y="4881413"/>
              <a:ext cx="1502700" cy="292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700">
                  <a:solidFill>
                    <a:schemeClr val="dk1"/>
                  </a:solidFill>
                </a:rPr>
                <a:t>welcome@krmangalam.edu.in</a:t>
              </a:r>
              <a:endParaRPr sz="900">
                <a:solidFill>
                  <a:schemeClr val="dk1"/>
                </a:solidFill>
              </a:endParaRPr>
            </a:p>
          </p:txBody>
        </p:sp>
        <p:pic>
          <p:nvPicPr>
            <p:cNvPr id="386" name="Google Shape;386;p44" title="email.png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5060775" y="4966738"/>
              <a:ext cx="137160" cy="13716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387" name="Google Shape;387;p44"/>
          <p:cNvSpPr txBox="1"/>
          <p:nvPr/>
        </p:nvSpPr>
        <p:spPr>
          <a:xfrm>
            <a:off x="7326500" y="4881425"/>
            <a:ext cx="2340000" cy="29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>
                <a:solidFill>
                  <a:schemeClr val="accent2"/>
                </a:solidFill>
              </a:rPr>
              <a:t>Sohna Road,Gurugram,Haryana 122103</a:t>
            </a:r>
            <a:endParaRPr sz="700">
              <a:solidFill>
                <a:schemeClr val="accent2"/>
              </a:solidFill>
            </a:endParaRPr>
          </a:p>
        </p:txBody>
      </p:sp>
      <p:pic>
        <p:nvPicPr>
          <p:cNvPr id="388" name="Google Shape;388;p44" title="location.pn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7229300" y="4959088"/>
            <a:ext cx="137160" cy="137160"/>
          </a:xfrm>
          <a:prstGeom prst="rect">
            <a:avLst/>
          </a:prstGeom>
          <a:noFill/>
          <a:ln>
            <a:noFill/>
          </a:ln>
        </p:spPr>
      </p:pic>
      <p:sp>
        <p:nvSpPr>
          <p:cNvPr id="390" name="Google Shape;390;p44"/>
          <p:cNvSpPr txBox="1"/>
          <p:nvPr/>
        </p:nvSpPr>
        <p:spPr>
          <a:xfrm>
            <a:off x="1033275" y="1691650"/>
            <a:ext cx="2313000" cy="175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400" dirty="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Thanks</a:t>
            </a:r>
            <a:endParaRPr sz="3400" dirty="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400" dirty="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For</a:t>
            </a:r>
            <a:endParaRPr sz="3400" dirty="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400" dirty="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Watching</a:t>
            </a:r>
            <a:endParaRPr sz="3400" dirty="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" name="Text 0">
            <a:extLst>
              <a:ext uri="{FF2B5EF4-FFF2-40B4-BE49-F238E27FC236}">
                <a16:creationId xmlns:a16="http://schemas.microsoft.com/office/drawing/2014/main" id="{4E5F4146-6277-E219-3EC0-EA0CC9D1A5C4}"/>
              </a:ext>
            </a:extLst>
          </p:cNvPr>
          <p:cNvSpPr/>
          <p:nvPr/>
        </p:nvSpPr>
        <p:spPr>
          <a:xfrm>
            <a:off x="8686800" y="4846320"/>
            <a:ext cx="365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99999"/>
                </a:solidFill>
                <a:latin typeface="Poppins" pitchFamily="34" charset="0"/>
                <a:cs typeface="Poppins" pitchFamily="34" charset="-120"/>
              </a:rPr>
              <a:t>22</a:t>
            </a:r>
            <a:endParaRPr lang="en-US" sz="9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F7E63C4-164A-7067-961A-7683EC8A43CF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170007" y="2208918"/>
            <a:ext cx="2798268" cy="2798268"/>
          </a:xfrm>
          <a:prstGeom prst="rect">
            <a:avLst/>
          </a:prstGeom>
        </p:spPr>
      </p:pic>
    </p:spTree>
  </p:cSld>
  <p:clrMapOvr>
    <a:masterClrMapping/>
  </p:clrMapOvr>
  <p:transition spd="med">
    <p:fade thruBlk="1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295</TotalTime>
  <Words>1272</Words>
  <Application>Microsoft Office PowerPoint</Application>
  <PresentationFormat>On-screen Show (16:9)</PresentationFormat>
  <Paragraphs>247</Paragraphs>
  <Slides>22</Slides>
  <Notes>22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22</vt:i4>
      </vt:variant>
    </vt:vector>
  </HeadingPairs>
  <TitlesOfParts>
    <vt:vector size="29" baseType="lpstr">
      <vt:lpstr>Arial</vt:lpstr>
      <vt:lpstr>Calibri</vt:lpstr>
      <vt:lpstr>Courier New</vt:lpstr>
      <vt:lpstr>Poppins</vt:lpstr>
      <vt:lpstr>Roboto Slab</vt:lpstr>
      <vt:lpstr>Office Theme</vt:lpstr>
      <vt:lpstr>Simple Light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| Check Your Understanding</vt:lpstr>
      <vt:lpstr>| Check Your Understanding</vt:lpstr>
      <vt:lpstr>| Check Your Understanding</vt:lpstr>
      <vt:lpstr>| Check Your Understanding</vt:lpstr>
      <vt:lpstr>|  References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Love Porwal</cp:lastModifiedBy>
  <cp:revision>8</cp:revision>
  <dcterms:created xsi:type="dcterms:W3CDTF">2026-05-19T08:42:25Z</dcterms:created>
  <dcterms:modified xsi:type="dcterms:W3CDTF">2026-07-12T18:52:00Z</dcterms:modified>
</cp:coreProperties>
</file>