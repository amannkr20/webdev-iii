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23"/>
  </p:notesMasterIdLst>
  <p:sldIdLst>
    <p:sldId id="256" r:id="rId3"/>
    <p:sldId id="302" r:id="rId4"/>
    <p:sldId id="303" r:id="rId5"/>
    <p:sldId id="257" r:id="rId6"/>
    <p:sldId id="258" r:id="rId7"/>
    <p:sldId id="260" r:id="rId8"/>
    <p:sldId id="298" r:id="rId9"/>
    <p:sldId id="299" r:id="rId10"/>
    <p:sldId id="300" r:id="rId11"/>
    <p:sldId id="301" r:id="rId12"/>
    <p:sldId id="263" r:id="rId13"/>
    <p:sldId id="264" r:id="rId14"/>
    <p:sldId id="295" r:id="rId15"/>
    <p:sldId id="296" r:id="rId16"/>
    <p:sldId id="297" r:id="rId17"/>
    <p:sldId id="320" r:id="rId18"/>
    <p:sldId id="321" r:id="rId19"/>
    <p:sldId id="322" r:id="rId20"/>
    <p:sldId id="286" r:id="rId21"/>
    <p:sldId id="287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500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93fc7151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93fc7151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B680F-5E8C-2F6B-A07D-98375B8FD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149AEA-7895-7929-B88D-A4A47BECD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B74E88-A4E4-BE10-DD04-B3B9C9FB8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0FD01-F951-2B0F-990F-AC25C477B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617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FED62-74F7-111C-05BB-8654B6A8A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0491BB-9AC2-58E9-A719-A073D6F4F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50F6F7-3478-B416-7ACD-D008A0C5D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B41C0-EFC4-A9CA-1727-EA2EED3249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8505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>
          <a:extLst>
            <a:ext uri="{FF2B5EF4-FFF2-40B4-BE49-F238E27FC236}">
              <a16:creationId xmlns:a16="http://schemas.microsoft.com/office/drawing/2014/main" id="{48A2AABD-5734-52D9-B929-CB5C40FE1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93fc7151a_0_96:notes">
            <a:extLst>
              <a:ext uri="{FF2B5EF4-FFF2-40B4-BE49-F238E27FC236}">
                <a16:creationId xmlns:a16="http://schemas.microsoft.com/office/drawing/2014/main" id="{C2516E97-32B0-188C-E97E-C71B69B27F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93fc7151a_0_96:notes">
            <a:extLst>
              <a:ext uri="{FF2B5EF4-FFF2-40B4-BE49-F238E27FC236}">
                <a16:creationId xmlns:a16="http://schemas.microsoft.com/office/drawing/2014/main" id="{81A63584-2E2D-9F4C-4B22-B04569551D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84472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>
          <a:extLst>
            <a:ext uri="{FF2B5EF4-FFF2-40B4-BE49-F238E27FC236}">
              <a16:creationId xmlns:a16="http://schemas.microsoft.com/office/drawing/2014/main" id="{EDDA35F8-9037-7E69-9693-8853738C3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93fc7151a_0_96:notes">
            <a:extLst>
              <a:ext uri="{FF2B5EF4-FFF2-40B4-BE49-F238E27FC236}">
                <a16:creationId xmlns:a16="http://schemas.microsoft.com/office/drawing/2014/main" id="{6A505CC7-7814-4241-5577-B16CF30264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93fc7151a_0_96:notes">
            <a:extLst>
              <a:ext uri="{FF2B5EF4-FFF2-40B4-BE49-F238E27FC236}">
                <a16:creationId xmlns:a16="http://schemas.microsoft.com/office/drawing/2014/main" id="{8F441EF7-D485-38E2-9F5A-FFAB4C237A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04790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>
          <a:extLst>
            <a:ext uri="{FF2B5EF4-FFF2-40B4-BE49-F238E27FC236}">
              <a16:creationId xmlns:a16="http://schemas.microsoft.com/office/drawing/2014/main" id="{D7A80778-26C3-C75F-B9B6-A37322BEF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93fc7151a_0_96:notes">
            <a:extLst>
              <a:ext uri="{FF2B5EF4-FFF2-40B4-BE49-F238E27FC236}">
                <a16:creationId xmlns:a16="http://schemas.microsoft.com/office/drawing/2014/main" id="{E49B97D5-B094-A121-B26E-3F29A9024E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93fc7151a_0_96:notes">
            <a:extLst>
              <a:ext uri="{FF2B5EF4-FFF2-40B4-BE49-F238E27FC236}">
                <a16:creationId xmlns:a16="http://schemas.microsoft.com/office/drawing/2014/main" id="{F885C3E9-CF2B-427E-8E2F-24EFE23DF8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16647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733a918ceb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733a918ceb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733a918ceb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733a918ceb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1468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7235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9475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9760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6267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1763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595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352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7314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8058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9639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68203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427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590335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docs?utm_source=chatgpt.com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npmjs.com/" TargetMode="External"/><Relationship Id="rId5" Type="http://schemas.openxmlformats.org/officeDocument/2006/relationships/hyperlink" Target="https://www.freecodecamp.org/news/tag/node-js/?utm_source=chatgpt.com" TargetMode="External"/><Relationship Id="rId4" Type="http://schemas.openxmlformats.org/officeDocument/2006/relationships/hyperlink" Target="https://www.w3schools.com/nodejs/?utm_source=chatgpt.com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88763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247500" y="2017650"/>
            <a:ext cx="4741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400" b="1" i="0" u="none" strike="noStrike" kern="0" cap="none" spc="0" normalizeH="0" baseline="0" noProof="0">
                <a:ln>
                  <a:noFill/>
                </a:ln>
                <a:solidFill>
                  <a:srgbClr val="173034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Course - Web Development - III </a:t>
            </a:r>
            <a:endParaRPr kumimoji="0" sz="2400" b="1" i="0" u="none" strike="noStrike" kern="0" cap="none" spc="0" normalizeH="0" baseline="0" noProof="0">
              <a:ln>
                <a:noFill/>
              </a:ln>
              <a:solidFill>
                <a:srgbClr val="173034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welcome@krmangalam.edu.in</a:t>
              </a:r>
              <a:endParaRPr kumimoji="0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700" b="0" i="0" u="none" strike="noStrike" kern="0" cap="none" spc="0" normalizeH="0" baseline="0" noProof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Sohna Road,Gurugram,Haryana 122103</a:t>
              </a:r>
              <a:endParaRPr kumimoji="0" sz="7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4896" cy="1972225"/>
            <a:chOff x="788865" y="1515488"/>
            <a:chExt cx="4593000" cy="1972225"/>
          </a:xfrm>
        </p:grpSpPr>
        <p:sp>
          <p:nvSpPr>
            <p:cNvPr id="66" name="Google Shape;66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7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Slab"/>
                  <a:ea typeface="Roboto Slab"/>
                  <a:cs typeface="Roboto Slab"/>
                  <a:sym typeface="Roboto Slab"/>
                </a:rPr>
                <a:t>Lecture 4</a:t>
              </a:r>
              <a:r>
                <a:rPr kumimoji="0" lang="en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:</a:t>
              </a:r>
              <a:endPara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863408" y="3059673"/>
              <a:ext cx="841483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By -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788865" y="2154317"/>
              <a:ext cx="4593000" cy="738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Node.js Modules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487875" y="3076113"/>
              <a:ext cx="3156221" cy="41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Love Porwal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CB5463F-BDFE-B6CF-7DAC-28E6950244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479" y="3217507"/>
            <a:ext cx="383020" cy="3830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4CD237E-A91D-09B5-059D-2ED5A1320E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0007" y="2208918"/>
            <a:ext cx="2798268" cy="2798268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40E3A-6821-91F7-0F3E-F33271A4F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A76A43E-8A47-DAD4-DF5F-73D132F71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FE00E20-14C0-ADEC-F34C-89A22A4ABBC3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C61C953-1F43-F6B4-EFB7-44EB06C94202}"/>
              </a:ext>
            </a:extLst>
          </p:cNvPr>
          <p:cNvSpPr/>
          <p:nvPr/>
        </p:nvSpPr>
        <p:spPr>
          <a:xfrm>
            <a:off x="357283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6AC52AB-E7D3-B764-DBD9-8C74A732FC1F}"/>
              </a:ext>
            </a:extLst>
          </p:cNvPr>
          <p:cNvSpPr/>
          <p:nvPr/>
        </p:nvSpPr>
        <p:spPr>
          <a:xfrm>
            <a:off x="427724" y="457200"/>
            <a:ext cx="80030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" sz="2000" b="1" dirty="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lang="en-US" sz="2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E7C26F3-02AD-0320-21B3-21A73D34A6D6}"/>
              </a:ext>
            </a:extLst>
          </p:cNvPr>
          <p:cNvSpPr/>
          <p:nvPr/>
        </p:nvSpPr>
        <p:spPr>
          <a:xfrm>
            <a:off x="427724" y="1078992"/>
            <a:ext cx="8551684" cy="27544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200" lvl="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Char char="●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What are Modules</a:t>
            </a:r>
            <a:endParaRPr lang="en-US" sz="1200" dirty="0">
              <a:solidFill>
                <a:schemeClr val="dk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FontTx/>
              <a:buChar char="●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Types of Modules</a:t>
            </a:r>
            <a:r>
              <a:rPr lang="en-US" sz="1200"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pPr marL="45720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FontTx/>
              <a:buChar char="●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Core Modules</a:t>
            </a:r>
          </a:p>
          <a:p>
            <a:pPr marL="457200" lvl="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Char char="●"/>
            </a:pPr>
            <a:r>
              <a:rPr lang="en-US" sz="1200"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Local Modules</a:t>
            </a:r>
          </a:p>
          <a:p>
            <a:pPr marL="45720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FontTx/>
              <a:buChar char="●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Third-party Modules</a:t>
            </a:r>
          </a:p>
          <a:p>
            <a:pPr marL="45720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FontTx/>
              <a:buChar char="●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Module Export/Import Methods</a:t>
            </a:r>
          </a:p>
          <a:p>
            <a:pPr marL="45720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FontTx/>
              <a:buChar char="●"/>
            </a:pP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CommonJS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vs ES Modules</a:t>
            </a:r>
          </a:p>
          <a:p>
            <a:pPr marL="457200" lvl="0" indent="-311150">
              <a:lnSpc>
                <a:spcPct val="150000"/>
              </a:lnSpc>
              <a:buClr>
                <a:srgbClr val="4472C4">
                  <a:lumMod val="50000"/>
                </a:srgbClr>
              </a:buClr>
              <a:buSzPts val="1300"/>
              <a:buFontTx/>
              <a:buChar char="●"/>
            </a:pP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References</a:t>
            </a:r>
          </a:p>
          <a:p>
            <a:pPr marL="457200" lvl="0" indent="-311150">
              <a:lnSpc>
                <a:spcPct val="150000"/>
              </a:lnSpc>
              <a:buClr>
                <a:srgbClr val="4472C4">
                  <a:lumMod val="50000"/>
                </a:srgbClr>
              </a:buClr>
              <a:buSzPts val="1300"/>
              <a:buFontTx/>
              <a:buChar char="●"/>
              <a:defRPr/>
            </a:pP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3607316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1F7CE-FC8C-A714-8C0A-783F1F9DD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E6830C6-0157-1D16-8D64-EA2564EA2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A032557-1DA5-D6E5-EC05-DDD0D8A3611B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63D5E58C-0B29-A653-5275-328BC96CA954}"/>
              </a:ext>
            </a:extLst>
          </p:cNvPr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26471A2-B515-BA62-8104-9BB508670300}"/>
              </a:ext>
            </a:extLst>
          </p:cNvPr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Can you build an entire LEGO city using just one giant block?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0C82996-25C2-F84E-78ED-2ADFD985CD99}"/>
              </a:ext>
            </a:extLst>
          </p:cNvPr>
          <p:cNvSpPr/>
          <p:nvPr/>
        </p:nvSpPr>
        <p:spPr>
          <a:xfrm>
            <a:off x="365760" y="1189463"/>
            <a:ext cx="8412480" cy="3702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753B06-B339-835B-A9B7-EF2FB56E2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126" y="1374545"/>
            <a:ext cx="8883748" cy="3260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070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Are Modules?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65760" y="1086026"/>
            <a:ext cx="8138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Modules are self-contained units of code. Each file in Node.js is a separate module with private scope. Variables don't leak globally unless you export them.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2034540"/>
            <a:ext cx="8339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2">
                    <a:lumMod val="10000"/>
                  </a:scheme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Points:</a:t>
            </a:r>
            <a:endParaRPr lang="en-US" sz="13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438912" y="2274746"/>
            <a:ext cx="5096725" cy="178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Encapsulation = hide implementation, expose API only</a:t>
            </a:r>
            <a:endParaRPr lang="en-US" sz="1200" dirty="0"/>
          </a:p>
          <a:p>
            <a:pPr marL="171450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Reusability = write once, use in many files</a:t>
            </a:r>
            <a:endParaRPr lang="en-US" sz="1200" dirty="0"/>
          </a:p>
          <a:p>
            <a:pPr marL="171450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Organization = code broken into logical units</a:t>
            </a:r>
            <a:endParaRPr lang="en-US" sz="1200" dirty="0"/>
          </a:p>
          <a:p>
            <a:pPr marL="171450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Scope isolation = avoid global namespace pollution</a:t>
            </a:r>
            <a:endParaRPr lang="en-US" sz="1200" dirty="0"/>
          </a:p>
          <a:p>
            <a:pPr marL="171450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Clear dependencies = see what each module needs</a:t>
            </a:r>
            <a:endParaRPr lang="en-US" sz="1200" dirty="0">
              <a:solidFill>
                <a:srgbClr val="273239"/>
              </a:solidFill>
              <a:latin typeface="Poppins" pitchFamily="34" charset="0"/>
              <a:cs typeface="Poppins" pitchFamily="34" charset="-120"/>
            </a:endParaRPr>
          </a:p>
          <a:p>
            <a:pPr marL="171450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EF1A621-3D5B-91C3-4082-235EA975E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6163" y="1890698"/>
            <a:ext cx="2667231" cy="24005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Modules Matter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29768" y="12070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 Case :</a:t>
            </a:r>
            <a:endParaRPr lang="en-US" sz="12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29768" y="1554480"/>
            <a:ext cx="3310919" cy="837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Without modules, all code would be global. Variables clash. Difficult to maintain. Can't reuse code. Modules solve all these problems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38913" y="2560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Important :</a:t>
            </a:r>
            <a:endParaRPr lang="en-US" sz="12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438913" y="2975317"/>
            <a:ext cx="3931920" cy="9383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Scalability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Maintainability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Reusability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Testability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F052E20-D0B1-941D-603C-A415BE3613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0227" y="1178872"/>
            <a:ext cx="5444197" cy="35074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Types of Modules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76312" y="1078992"/>
            <a:ext cx="8138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There are three kinds:</a:t>
            </a:r>
            <a:endParaRPr lang="en-US" sz="1200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502223E5-2570-FCF1-F36B-56283F7026BB}"/>
              </a:ext>
            </a:extLst>
          </p:cNvPr>
          <p:cNvSpPr/>
          <p:nvPr/>
        </p:nvSpPr>
        <p:spPr>
          <a:xfrm>
            <a:off x="376312" y="2293035"/>
            <a:ext cx="2651760" cy="2067944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506C2987-2FFA-E7F2-1B79-2E26620273C2}"/>
              </a:ext>
            </a:extLst>
          </p:cNvPr>
          <p:cNvSpPr/>
          <p:nvPr/>
        </p:nvSpPr>
        <p:spPr>
          <a:xfrm>
            <a:off x="376312" y="2293035"/>
            <a:ext cx="2651760" cy="411480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5D9DC625-1241-002C-DA4B-FEE38BB09D4C}"/>
              </a:ext>
            </a:extLst>
          </p:cNvPr>
          <p:cNvSpPr/>
          <p:nvPr/>
        </p:nvSpPr>
        <p:spPr>
          <a:xfrm>
            <a:off x="467752" y="2293035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 Modules</a:t>
            </a:r>
            <a:endParaRPr lang="en-US" sz="13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A36ECE6D-4867-2241-0461-BDCC43AAACD8}"/>
              </a:ext>
            </a:extLst>
          </p:cNvPr>
          <p:cNvSpPr/>
          <p:nvPr/>
        </p:nvSpPr>
        <p:spPr>
          <a:xfrm>
            <a:off x="486040" y="2750235"/>
            <a:ext cx="2450592" cy="1526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 into Node.js. </a:t>
            </a:r>
          </a:p>
          <a:p>
            <a:pPr marL="0" indent="0">
              <a:buNone/>
            </a:pPr>
            <a:endParaRPr lang="en-US" sz="1150" dirty="0">
              <a:solidFill>
                <a:srgbClr val="273239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installation needed.</a:t>
            </a:r>
            <a:endParaRPr lang="en-US" sz="1150" dirty="0"/>
          </a:p>
          <a:p>
            <a:pPr marL="0" indent="0">
              <a:buNone/>
            </a:pPr>
            <a:endParaRPr lang="en-US" sz="1150" dirty="0">
              <a:solidFill>
                <a:srgbClr val="273239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>
              <a:buNone/>
            </a:pPr>
            <a:r>
              <a:rPr lang="en-US" sz="1150" b="1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Examples:</a:t>
            </a:r>
            <a:r>
              <a:rPr lang="en-US" sz="115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fs, http, path, os, crypto, dns, url</a:t>
            </a:r>
            <a:endParaRPr lang="en-US" sz="115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E4391ADB-EEB7-7A36-5A1D-EDA96CFB5174}"/>
              </a:ext>
            </a:extLst>
          </p:cNvPr>
          <p:cNvSpPr/>
          <p:nvPr/>
        </p:nvSpPr>
        <p:spPr>
          <a:xfrm>
            <a:off x="3210952" y="2293035"/>
            <a:ext cx="2651760" cy="206794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F18EB21E-21C5-46E1-C421-C15D03688888}"/>
              </a:ext>
            </a:extLst>
          </p:cNvPr>
          <p:cNvSpPr/>
          <p:nvPr/>
        </p:nvSpPr>
        <p:spPr>
          <a:xfrm>
            <a:off x="3210952" y="2293035"/>
            <a:ext cx="2651760" cy="4114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3BF13756-3692-B9D5-5040-00C343C59904}"/>
              </a:ext>
            </a:extLst>
          </p:cNvPr>
          <p:cNvSpPr/>
          <p:nvPr/>
        </p:nvSpPr>
        <p:spPr>
          <a:xfrm>
            <a:off x="3302392" y="2293035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 Modules</a:t>
            </a:r>
            <a:endParaRPr lang="en-US" sz="13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A4A50901-2084-1975-664E-03E51BA6DCBF}"/>
              </a:ext>
            </a:extLst>
          </p:cNvPr>
          <p:cNvSpPr/>
          <p:nvPr/>
        </p:nvSpPr>
        <p:spPr>
          <a:xfrm>
            <a:off x="3320680" y="2750234"/>
            <a:ext cx="2450592" cy="13997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Files you create in your project.</a:t>
            </a:r>
            <a:endParaRPr lang="en-US" sz="1150" dirty="0"/>
          </a:p>
          <a:p>
            <a:pPr marL="0" indent="0">
              <a:buNone/>
            </a:pPr>
            <a:endParaRPr lang="en-US" sz="1150" dirty="0">
              <a:solidFill>
                <a:srgbClr val="273239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Import with relative path: require('./myModule')</a:t>
            </a:r>
            <a:endParaRPr lang="en-US" sz="1150" dirty="0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F69A5726-FA54-4BB4-01FD-C39EC95F4C87}"/>
              </a:ext>
            </a:extLst>
          </p:cNvPr>
          <p:cNvSpPr/>
          <p:nvPr/>
        </p:nvSpPr>
        <p:spPr>
          <a:xfrm>
            <a:off x="6045592" y="2293035"/>
            <a:ext cx="2651760" cy="2067944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36E1446C-0A9F-157D-CC35-18F47A4C3B4A}"/>
              </a:ext>
            </a:extLst>
          </p:cNvPr>
          <p:cNvSpPr/>
          <p:nvPr/>
        </p:nvSpPr>
        <p:spPr>
          <a:xfrm>
            <a:off x="6045592" y="2293035"/>
            <a:ext cx="2651760" cy="41148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F7BD9CE8-4E28-59B8-619B-AC1890EBB992}"/>
              </a:ext>
            </a:extLst>
          </p:cNvPr>
          <p:cNvSpPr/>
          <p:nvPr/>
        </p:nvSpPr>
        <p:spPr>
          <a:xfrm>
            <a:off x="6137032" y="2293035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Third-party Modules</a:t>
            </a:r>
            <a:endParaRPr lang="en-US" sz="1300" dirty="0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AAA8CC9D-533C-9D05-CBA4-B9BE67B42BB9}"/>
              </a:ext>
            </a:extLst>
          </p:cNvPr>
          <p:cNvSpPr/>
          <p:nvPr/>
        </p:nvSpPr>
        <p:spPr>
          <a:xfrm>
            <a:off x="6155320" y="2750235"/>
            <a:ext cx="2450592" cy="1526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Installed via npm from the </a:t>
            </a:r>
            <a:r>
              <a:rPr lang="en-US" sz="115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npm</a:t>
            </a:r>
            <a:r>
              <a:rPr lang="en-US" sz="115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registry.</a:t>
            </a:r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Examples:</a:t>
            </a:r>
            <a:r>
              <a:rPr lang="en-US" sz="115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express, mongoose, axios, dotenv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8" grpId="0" animBg="1"/>
      <p:bldP spid="19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 Modules — No Installation Needed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65760" y="1246320"/>
            <a:ext cx="8412480" cy="978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spcAft>
                <a:spcPts val="4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Core modules are compiled into the Node.js binary — no npm install required.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spcAft>
                <a:spcPts val="4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Import with: const module = require('module-name');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spcAft>
                <a:spcPts val="400"/>
              </a:spcAft>
              <a:buSzPct val="100000"/>
            </a:pP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988592F-194B-02A9-16D1-C5B72AB86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235145"/>
              </p:ext>
            </p:extLst>
          </p:nvPr>
        </p:nvGraphicFramePr>
        <p:xfrm>
          <a:off x="1186044" y="2188800"/>
          <a:ext cx="6663728" cy="2512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0400">
                  <a:extLst>
                    <a:ext uri="{9D8B030D-6E8A-4147-A177-3AD203B41FA5}">
                      <a16:colId xmlns:a16="http://schemas.microsoft.com/office/drawing/2014/main" val="12974610"/>
                    </a:ext>
                  </a:extLst>
                </a:gridCol>
                <a:gridCol w="4453328">
                  <a:extLst>
                    <a:ext uri="{9D8B030D-6E8A-4147-A177-3AD203B41FA5}">
                      <a16:colId xmlns:a16="http://schemas.microsoft.com/office/drawing/2014/main" val="905853031"/>
                    </a:ext>
                  </a:extLst>
                </a:gridCol>
              </a:tblGrid>
              <a:tr h="41870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Module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Module </a:t>
                      </a:r>
                      <a:r>
                        <a:rPr lang="en-IN" sz="1200" dirty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Usecase</a:t>
                      </a:r>
                      <a:endParaRPr lang="en-IN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239801"/>
                  </a:ext>
                </a:extLst>
              </a:tr>
              <a:tr h="41870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file system read/write/delete operations</a:t>
                      </a:r>
                      <a:endParaRPr lang="en-IN" sz="12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9791"/>
                  </a:ext>
                </a:extLst>
              </a:tr>
              <a:tr h="41870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http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create HTTP servers and clients</a:t>
                      </a:r>
                      <a:endParaRPr lang="en-IN" sz="12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086383"/>
                  </a:ext>
                </a:extLst>
              </a:tr>
              <a:tr h="41870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file path manipulation utilities</a:t>
                      </a:r>
                      <a:endParaRPr lang="en-IN" sz="12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730454"/>
                  </a:ext>
                </a:extLst>
              </a:tr>
              <a:tr h="41870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err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os</a:t>
                      </a:r>
                      <a:endParaRPr lang="en-IN" sz="12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operating system info</a:t>
                      </a:r>
                      <a:endParaRPr lang="en-IN" sz="12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27019"/>
                  </a:ext>
                </a:extLst>
              </a:tr>
              <a:tr h="41870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err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dns</a:t>
                      </a:r>
                      <a:endParaRPr lang="en-IN" sz="12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domain name resolution</a:t>
                      </a:r>
                      <a:endParaRPr lang="en-IN" sz="12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59654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 Modules — Creating a Module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65760" y="11430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 a reusable module — save as mathUtils.js: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554480"/>
            <a:ext cx="8412480" cy="2560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618488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" y="161848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813816" y="1618488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" y="1810512"/>
            <a:ext cx="8412480" cy="305866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1938530"/>
            <a:ext cx="8138160" cy="29672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mathUtils.js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Public functions — exported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add(a, b)      { validate(a,b); return a + b;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subtract(a, b) { validate(a,b); return a - b;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multiply(a, b) { validate(a,b); return a * b;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divide(a, b) </a:t>
            </a:r>
            <a:r>
              <a:rPr lang="en-US" sz="11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if (b === 0) throw new Error('Cannot divide by zero');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 / b;</a:t>
            </a:r>
          </a:p>
          <a:p>
            <a:pPr marL="0" indent="0">
              <a:buNone/>
            </a:pPr>
            <a:endParaRPr lang="en-US" sz="11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module.exports = { add, subtract, multiply, divide };</a:t>
            </a:r>
            <a:endParaRPr lang="en-US" sz="11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 Modules — Using a Module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65760" y="110987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Import and use your custom module: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488220"/>
            <a:ext cx="8412480" cy="2560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552228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" y="155222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813816" y="1552228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" y="1744252"/>
            <a:ext cx="8412480" cy="3141316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1780828"/>
            <a:ext cx="8138160" cy="29672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math = require('./mathUtils');   // relative path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console.log(math.add(10, 5));          // 15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console.log(math.subtract(10, 5));     // 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console.log(math.multiply(10, 5));     // 50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console.log(math.divide(10, 5));       // 2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Destructuring import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add, multiply } = require('./mathUtils');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console.log(add(3, 4));               // 7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Error handling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console.log(math.divide(10, 0));    // throws error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(err)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console.error('Error:', err.message);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F572F8B9-0BAD-E969-C7AA-43A3AA2B80A1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Third-Party Modules — npm Packages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65760" y="1188720"/>
            <a:ext cx="8412480" cy="1219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spcAft>
                <a:spcPts val="4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Third-party modules are installed from the npm registry using npm install.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spcAft>
                <a:spcPts val="4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They are stored in the node_modules/ folder.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spcAft>
                <a:spcPts val="4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Import just like core modules — Node checks node_modules automatically.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2392DE3-845F-D4A7-7839-B88CB38C2594}"/>
              </a:ext>
            </a:extLst>
          </p:cNvPr>
          <p:cNvSpPr/>
          <p:nvPr/>
        </p:nvSpPr>
        <p:spPr>
          <a:xfrm>
            <a:off x="1144492" y="2640052"/>
            <a:ext cx="6848744" cy="2560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6EB7CF79-B8A0-EF7C-46C7-C5240428D623}"/>
              </a:ext>
            </a:extLst>
          </p:cNvPr>
          <p:cNvSpPr/>
          <p:nvPr/>
        </p:nvSpPr>
        <p:spPr>
          <a:xfrm>
            <a:off x="1213952" y="2723904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A98974A-36D5-78F6-686A-7515CB37F726}"/>
              </a:ext>
            </a:extLst>
          </p:cNvPr>
          <p:cNvSpPr/>
          <p:nvPr/>
        </p:nvSpPr>
        <p:spPr>
          <a:xfrm>
            <a:off x="1329132" y="27239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3C725CCC-8B6A-CF98-4F7C-FB8AA0920C27}"/>
              </a:ext>
            </a:extLst>
          </p:cNvPr>
          <p:cNvSpPr/>
          <p:nvPr/>
        </p:nvSpPr>
        <p:spPr>
          <a:xfrm>
            <a:off x="1444312" y="2723904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F6BD30D-21B4-84C3-A25F-0A5E2585A83B}"/>
              </a:ext>
            </a:extLst>
          </p:cNvPr>
          <p:cNvSpPr/>
          <p:nvPr/>
        </p:nvSpPr>
        <p:spPr>
          <a:xfrm>
            <a:off x="1144492" y="2882646"/>
            <a:ext cx="6848744" cy="214426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2E40655-47D8-6D16-8D49-52C2F5819B5C}"/>
              </a:ext>
            </a:extLst>
          </p:cNvPr>
          <p:cNvSpPr/>
          <p:nvPr/>
        </p:nvSpPr>
        <p:spPr>
          <a:xfrm>
            <a:off x="1305392" y="3127645"/>
            <a:ext cx="6344064" cy="16542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  <a:buSzPct val="100000"/>
            </a:pPr>
            <a:r>
              <a:rPr lang="en-US" sz="1100" dirty="0">
                <a:solidFill>
                  <a:schemeClr val="accent5"/>
                </a:solidFill>
                <a:latin typeface="Consolas" panose="020B0609020204030204" pitchFamily="49" charset="0"/>
                <a:ea typeface="Poppins" pitchFamily="34" charset="-122"/>
                <a:cs typeface="Poppins" pitchFamily="34" charset="-120"/>
              </a:rPr>
              <a:t>Example — using the 'chalk' package for colored terminal output:</a:t>
            </a:r>
            <a:endParaRPr lang="en-US" sz="1100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pPr marL="0" lvl="1" indent="0">
              <a:spcAft>
                <a:spcPts val="400"/>
              </a:spcAft>
              <a:buNone/>
            </a:pPr>
            <a:endParaRPr lang="en-US" sz="1100" dirty="0">
              <a:solidFill>
                <a:schemeClr val="accent4">
                  <a:lumMod val="40000"/>
                  <a:lumOff val="60000"/>
                </a:schemeClr>
              </a:solidFill>
              <a:latin typeface="Consolas" panose="020B0609020204030204" pitchFamily="49" charset="0"/>
              <a:ea typeface="Poppins" pitchFamily="34" charset="-122"/>
              <a:cs typeface="Poppins" pitchFamily="34" charset="-120"/>
            </a:endParaRPr>
          </a:p>
          <a:p>
            <a:pPr marL="0" lvl="1">
              <a:spcAft>
                <a:spcPts val="400"/>
              </a:spcAft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app.js</a:t>
            </a:r>
            <a:endParaRPr lang="en-US" sz="1100" dirty="0">
              <a:solidFill>
                <a:schemeClr val="accent4">
                  <a:lumMod val="40000"/>
                  <a:lumOff val="60000"/>
                </a:schemeClr>
              </a:solidFill>
              <a:latin typeface="Consolas" panose="020B0609020204030204" pitchFamily="49" charset="0"/>
              <a:ea typeface="Poppins" pitchFamily="34" charset="-122"/>
              <a:cs typeface="Poppins" pitchFamily="34" charset="-120"/>
            </a:endParaRPr>
          </a:p>
          <a:p>
            <a:pPr marL="0" lvl="1" indent="0">
              <a:spcAft>
                <a:spcPts val="400"/>
              </a:spcAft>
              <a:buNone/>
            </a:pPr>
            <a:r>
              <a:rPr lang="en-US" sz="11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ea typeface="Poppins" pitchFamily="34" charset="-122"/>
                <a:cs typeface="Poppins" pitchFamily="34" charset="-120"/>
              </a:rPr>
              <a:t>npm</a:t>
            </a:r>
            <a:r>
              <a: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ea typeface="Poppins" pitchFamily="34" charset="-122"/>
                <a:cs typeface="Poppins" pitchFamily="34" charset="-120"/>
              </a:rPr>
              <a:t> install chalk@4   (v4 uses </a:t>
            </a:r>
            <a:r>
              <a:rPr lang="en-US" sz="11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ea typeface="Poppins" pitchFamily="34" charset="-122"/>
                <a:cs typeface="Poppins" pitchFamily="34" charset="-120"/>
              </a:rPr>
              <a:t>CommonJS</a:t>
            </a:r>
            <a:r>
              <a: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ea typeface="Poppins" pitchFamily="34" charset="-122"/>
                <a:cs typeface="Poppins" pitchFamily="34" charset="-120"/>
              </a:rPr>
              <a:t>)</a:t>
            </a:r>
            <a:endParaRPr lang="en-US" sz="1100" dirty="0">
              <a:solidFill>
                <a:schemeClr val="accent4">
                  <a:lumMod val="20000"/>
                  <a:lumOff val="80000"/>
                </a:schemeClr>
              </a:solidFill>
              <a:latin typeface="Consolas" panose="020B0609020204030204" pitchFamily="49" charset="0"/>
            </a:endParaRPr>
          </a:p>
          <a:p>
            <a:pPr marL="0" lvl="1" indent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ea typeface="Poppins" pitchFamily="34" charset="-122"/>
                <a:cs typeface="Poppins" pitchFamily="34" charset="-120"/>
              </a:rPr>
              <a:t>const chalk = require('chalk');</a:t>
            </a:r>
            <a:endParaRPr lang="en-US" sz="1100" dirty="0">
              <a:solidFill>
                <a:schemeClr val="accent4">
                  <a:lumMod val="20000"/>
                  <a:lumOff val="80000"/>
                </a:schemeClr>
              </a:solidFill>
              <a:latin typeface="Consolas" panose="020B0609020204030204" pitchFamily="49" charset="0"/>
            </a:endParaRPr>
          </a:p>
          <a:p>
            <a:pPr marL="0" lvl="1" indent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ea typeface="Poppins" pitchFamily="34" charset="-122"/>
                <a:cs typeface="Poppins" pitchFamily="34" charset="-120"/>
              </a:rPr>
              <a:t>console.log(</a:t>
            </a:r>
            <a:r>
              <a:rPr lang="en-US" sz="11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ea typeface="Poppins" pitchFamily="34" charset="-122"/>
                <a:cs typeface="Poppins" pitchFamily="34" charset="-120"/>
              </a:rPr>
              <a:t>chalk.green</a:t>
            </a:r>
            <a:r>
              <a: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ea typeface="Poppins" pitchFamily="34" charset="-122"/>
                <a:cs typeface="Poppins" pitchFamily="34" charset="-120"/>
              </a:rPr>
              <a:t>('Success!'));</a:t>
            </a:r>
            <a:endParaRPr lang="en-US" sz="1100" dirty="0">
              <a:solidFill>
                <a:schemeClr val="accent4">
                  <a:lumMod val="20000"/>
                  <a:lumOff val="80000"/>
                </a:schemeClr>
              </a:solidFill>
              <a:latin typeface="Consolas" panose="020B0609020204030204" pitchFamily="49" charset="0"/>
            </a:endParaRPr>
          </a:p>
          <a:p>
            <a:pPr marL="0" lvl="1" indent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ea typeface="Poppins" pitchFamily="34" charset="-122"/>
                <a:cs typeface="Poppins" pitchFamily="34" charset="-120"/>
              </a:rPr>
              <a:t>console.log(</a:t>
            </a:r>
            <a:r>
              <a:rPr lang="en-US" sz="11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ea typeface="Poppins" pitchFamily="34" charset="-122"/>
                <a:cs typeface="Poppins" pitchFamily="34" charset="-120"/>
              </a:rPr>
              <a:t>chalk.red.bold</a:t>
            </a:r>
            <a:r>
              <a: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ea typeface="Poppins" pitchFamily="34" charset="-122"/>
                <a:cs typeface="Poppins" pitchFamily="34" charset="-120"/>
              </a:rPr>
              <a:t>('Error!'));</a:t>
            </a:r>
            <a:endParaRPr lang="en-US" sz="1100" dirty="0">
              <a:solidFill>
                <a:schemeClr val="accent4">
                  <a:lumMod val="20000"/>
                  <a:lumOff val="80000"/>
                </a:schemeClr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CommonJS Pattern (require/module.exports)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65760" y="1095871"/>
            <a:ext cx="3889717" cy="18724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CommonJS is Node.js's default module system. </a:t>
            </a: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US" sz="1200" dirty="0">
              <a:solidFill>
                <a:srgbClr val="273239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 require() to import, module.exports to export. </a:t>
            </a: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US" sz="1200" dirty="0">
              <a:solidFill>
                <a:srgbClr val="273239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Synchronous loading, Works everywhere in Node.js.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9F9611-8793-551B-9DB8-3A059B0AC1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3998" y="933745"/>
            <a:ext cx="4209053" cy="39829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CommonJS Dominates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29768" y="12070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 Case :</a:t>
            </a:r>
            <a:endParaRPr lang="en-US" sz="12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29768" y="1554480"/>
            <a:ext cx="4036724" cy="10172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It's the Node.js standard since the beginning. Every npm package uses it. 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US" sz="1200" dirty="0">
              <a:solidFill>
                <a:srgbClr val="273239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Works with all Node versions. Simple and powerful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29768" y="2965466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Real-World Example :</a:t>
            </a:r>
            <a:endParaRPr lang="en-US" sz="12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429768" y="3200394"/>
            <a:ext cx="4465789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99% of npm packages use CommonJS. 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US" sz="1200" dirty="0">
              <a:solidFill>
                <a:srgbClr val="273239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 code must too for compatibility. 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US" sz="1200" dirty="0">
              <a:solidFill>
                <a:srgbClr val="273239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Express, MongoDB, every major library expects CommonJS</a:t>
            </a:r>
            <a:endParaRPr lang="en-US" sz="1200" dirty="0"/>
          </a:p>
        </p:txBody>
      </p:sp>
      <p:pic>
        <p:nvPicPr>
          <p:cNvPr id="16" name="Google Shape;329;p33" title="question-and-answer-illustration-download-in-svg-png-gif-file-formats--answers-faq-comments-chatting-business-pack-people-illustrations-4257057.png">
            <a:extLst>
              <a:ext uri="{FF2B5EF4-FFF2-40B4-BE49-F238E27FC236}">
                <a16:creationId xmlns:a16="http://schemas.microsoft.com/office/drawing/2014/main" id="{EBEE3C3F-E67C-910F-60ED-CB9AE58B945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2858959"/>
            <a:ext cx="3001612" cy="200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201168" y="457200"/>
            <a:ext cx="41148" cy="594360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CommonJS</a:t>
            </a: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Modules Examples — require / exports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65760" y="1280160"/>
            <a:ext cx="8412480" cy="2560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1344168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34416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344168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Shape 7"/>
          <p:cNvSpPr/>
          <p:nvPr/>
        </p:nvSpPr>
        <p:spPr>
          <a:xfrm>
            <a:off x="365760" y="1536192"/>
            <a:ext cx="8412480" cy="3200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1572768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math.js — creating a module</a:t>
            </a:r>
            <a:endParaRPr lang="en-US" sz="11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add(a, b) { return a + b; }</a:t>
            </a:r>
            <a:endParaRPr lang="en-US" sz="11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multiply(a, b) { return a * b; }</a:t>
            </a:r>
            <a:endParaRPr lang="en-US" sz="11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en-US" sz="11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module.exports = { add, multiply };</a:t>
            </a:r>
            <a:endParaRPr lang="en-US" sz="11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en-US" sz="11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app.js — importing the module</a:t>
            </a:r>
            <a:endParaRPr lang="en-US" sz="11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math = require('./math');</a:t>
            </a:r>
            <a:endParaRPr lang="en-US" sz="11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console.log(math.add(3, 4));        // 7</a:t>
            </a:r>
            <a:endParaRPr lang="en-US" sz="11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console.log(math.multiply(3, 4));   // 12</a:t>
            </a:r>
            <a:endParaRPr lang="en-US" sz="11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en-US" sz="11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Import core module</a:t>
            </a:r>
            <a:endParaRPr lang="en-US" sz="11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fs = require('fs');</a:t>
            </a:r>
            <a:endParaRPr lang="en-US" sz="11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8F2EB7C1-C7D5-3A27-A7DB-A578BD6DE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0DF0B9BC-E561-BE58-F89E-CFB6856A2116}"/>
              </a:ext>
            </a:extLst>
          </p:cNvPr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Poppins" pitchFamily="34" charset="0"/>
                <a:cs typeface="Poppin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Poppins" pitchFamily="34" charset="0"/>
                <a:cs typeface="Poppins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94360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 Modules Examples — import / export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65760" y="1280160"/>
            <a:ext cx="8412480" cy="2560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1344168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34416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344168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Shape 7"/>
          <p:cNvSpPr/>
          <p:nvPr/>
        </p:nvSpPr>
        <p:spPr>
          <a:xfrm>
            <a:off x="365760" y="1536192"/>
            <a:ext cx="8412480" cy="3200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1572768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math.mjs (or set type: module in package.json)</a:t>
            </a:r>
            <a:endParaRPr lang="en-US" sz="11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add(a, b) { return a + b; }</a:t>
            </a:r>
            <a:endParaRPr lang="en-US" sz="11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multiply(a, b) { return a * b; }</a:t>
            </a:r>
            <a:endParaRPr lang="en-US" sz="11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{ add, multiply };</a:t>
            </a:r>
            <a:endParaRPr lang="en-US" sz="11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app.mjs — importing ES module</a:t>
            </a:r>
            <a:endParaRPr lang="en-US" sz="11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add, multiply } from './math.mjs';</a:t>
            </a:r>
            <a:endParaRPr lang="en-US" sz="11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math from './math.mjs';</a:t>
            </a:r>
            <a:endParaRPr lang="en-US" sz="11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en-US" sz="11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console.log(add(3, 4));             // 7</a:t>
            </a:r>
            <a:endParaRPr lang="en-US" sz="11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console.log(multiply(3, 4));        // 12</a:t>
            </a:r>
            <a:endParaRPr lang="en-US" sz="11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package.json: { "type": "module" }</a:t>
            </a:r>
            <a:endParaRPr lang="en-US" sz="1100" dirty="0">
              <a:solidFill>
                <a:schemeClr val="accent5"/>
              </a:solidFill>
            </a:endParaRP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9F44D60F-7D66-69DC-A6ED-BE016AE1A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Poppins" pitchFamily="34" charset="0"/>
                <a:cs typeface="Poppins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94360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CommonJS vs ES Modules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685781"/>
              </p:ext>
            </p:extLst>
          </p:nvPr>
        </p:nvGraphicFramePr>
        <p:xfrm>
          <a:off x="365760" y="1234440"/>
          <a:ext cx="8412480" cy="34747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Feature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CommonJS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ES Modules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Syntax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require() / module.exports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import / export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File extension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.js or .cjs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.mjs or .js (with type:module)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Loading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Synchronous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Asynchronous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Default in Node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Yes (traditional)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Supported since Node 12+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Browser support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No (needs bundler)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323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Yes (native)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C791695F-3D8A-002A-D622-FE38EF2D4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>
          <a:extLst>
            <a:ext uri="{FF2B5EF4-FFF2-40B4-BE49-F238E27FC236}">
              <a16:creationId xmlns:a16="http://schemas.microsoft.com/office/drawing/2014/main" id="{402B67F4-797E-2BA2-699D-F012AFA38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>
            <a:extLst>
              <a:ext uri="{FF2B5EF4-FFF2-40B4-BE49-F238E27FC236}">
                <a16:creationId xmlns:a16="http://schemas.microsoft.com/office/drawing/2014/main" id="{6DD7A5AD-602E-9FD6-B9F8-8584550087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dirty="0"/>
              <a:t> </a:t>
            </a:r>
            <a:r>
              <a:rPr lang="en" b="1" dirty="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 dirty="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33">
            <a:extLst>
              <a:ext uri="{FF2B5EF4-FFF2-40B4-BE49-F238E27FC236}">
                <a16:creationId xmlns:a16="http://schemas.microsoft.com/office/drawing/2014/main" id="{DD30B921-102E-E666-AC85-333C409BE526}"/>
              </a:ext>
            </a:extLst>
          </p:cNvPr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kumimoji="0" lang="e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 </a:t>
            </a: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What is the difference between require() and require('./filename')?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328" name="Google Shape;328;p33">
            <a:extLst>
              <a:ext uri="{FF2B5EF4-FFF2-40B4-BE49-F238E27FC236}">
                <a16:creationId xmlns:a16="http://schemas.microsoft.com/office/drawing/2014/main" id="{F0271916-8429-C1F8-C3FA-7DFEB3E21D09}"/>
              </a:ext>
            </a:extLst>
          </p:cNvPr>
          <p:cNvSpPr txBox="1"/>
          <p:nvPr/>
        </p:nvSpPr>
        <p:spPr>
          <a:xfrm>
            <a:off x="310900" y="1748350"/>
            <a:ext cx="8375900" cy="1638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Aft>
                <a:spcPts val="300"/>
              </a:spcAft>
              <a:buSzPct val="100000"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         A.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difference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B.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They're opposite in meaning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require() is for JavaScript, require('./filename') for Node.js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D.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require() imports core modules, require('./filename') imports local files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9" name="Google Shape;329;p33" title="question-and-answer-illustration-download-in-svg-png-gif-file-formats--answers-faq-comments-chatting-business-pack-people-illustrations-4257057.png">
            <a:extLst>
              <a:ext uri="{FF2B5EF4-FFF2-40B4-BE49-F238E27FC236}">
                <a16:creationId xmlns:a16="http://schemas.microsoft.com/office/drawing/2014/main" id="{462D998A-CEEB-DEF3-6670-24DDCB0B3F2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>
            <a:extLst>
              <a:ext uri="{FF2B5EF4-FFF2-40B4-BE49-F238E27FC236}">
                <a16:creationId xmlns:a16="http://schemas.microsoft.com/office/drawing/2014/main" id="{DAD50FFB-053B-FB4E-0D57-080893A1C926}"/>
              </a:ext>
            </a:extLst>
          </p:cNvPr>
          <p:cNvSpPr txBox="1"/>
          <p:nvPr/>
        </p:nvSpPr>
        <p:spPr>
          <a:xfrm>
            <a:off x="310950" y="3313725"/>
            <a:ext cx="62604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D.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require() imports core modules, require('./filename') imports local files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2" name="Google Shape;332;p33">
            <a:extLst>
              <a:ext uri="{FF2B5EF4-FFF2-40B4-BE49-F238E27FC236}">
                <a16:creationId xmlns:a16="http://schemas.microsoft.com/office/drawing/2014/main" id="{67EC563B-F18C-CC7A-0499-0FB317BAB488}"/>
              </a:ext>
            </a:extLst>
          </p:cNvPr>
          <p:cNvGrpSpPr/>
          <p:nvPr/>
        </p:nvGrpSpPr>
        <p:grpSpPr>
          <a:xfrm>
            <a:off x="310900" y="3959263"/>
            <a:ext cx="6005825" cy="1271099"/>
            <a:chOff x="310900" y="3959263"/>
            <a:chExt cx="6005825" cy="1271099"/>
          </a:xfrm>
        </p:grpSpPr>
        <p:sp>
          <p:nvSpPr>
            <p:cNvPr id="333" name="Google Shape;333;p33">
              <a:extLst>
                <a:ext uri="{FF2B5EF4-FFF2-40B4-BE49-F238E27FC236}">
                  <a16:creationId xmlns:a16="http://schemas.microsoft.com/office/drawing/2014/main" id="{800C8EEB-1356-0203-468F-B5227F6BA00A}"/>
                </a:ext>
              </a:extLst>
            </p:cNvPr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27323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34" name="Google Shape;334;p33">
              <a:extLst>
                <a:ext uri="{FF2B5EF4-FFF2-40B4-BE49-F238E27FC236}">
                  <a16:creationId xmlns:a16="http://schemas.microsoft.com/office/drawing/2014/main" id="{7B0B3643-673F-D80A-CD0F-AD9874FEE80C}"/>
                </a:ext>
              </a:extLst>
            </p:cNvPr>
            <p:cNvSpPr txBox="1"/>
            <p:nvPr/>
          </p:nvSpPr>
          <p:spPr>
            <a:xfrm>
              <a:off x="1607925" y="3959275"/>
              <a:ext cx="4708800" cy="1271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First require('./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db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') creates module and caches result. Second require('./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db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') returns cached version (doesn't re-execute file). This means all files share the same instance. Important for singletons like database connections.</a:t>
              </a:r>
              <a:endPara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E936596F-5222-56EE-E347-6400CA93C884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3BE3A2A-118D-70B6-3A56-27F336E4C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034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>
          <a:extLst>
            <a:ext uri="{FF2B5EF4-FFF2-40B4-BE49-F238E27FC236}">
              <a16:creationId xmlns:a16="http://schemas.microsoft.com/office/drawing/2014/main" id="{780B03D5-9F10-FAEB-DD0B-BAAE5F4C2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>
            <a:extLst>
              <a:ext uri="{FF2B5EF4-FFF2-40B4-BE49-F238E27FC236}">
                <a16:creationId xmlns:a16="http://schemas.microsoft.com/office/drawing/2014/main" id="{6467A167-AA3B-9906-1E13-EC8F972EE0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33">
            <a:extLst>
              <a:ext uri="{FF2B5EF4-FFF2-40B4-BE49-F238E27FC236}">
                <a16:creationId xmlns:a16="http://schemas.microsoft.com/office/drawing/2014/main" id="{78347CE0-C9C4-7F23-32E9-026F6B2FB34C}"/>
              </a:ext>
            </a:extLst>
          </p:cNvPr>
          <p:cNvSpPr txBox="1"/>
          <p:nvPr/>
        </p:nvSpPr>
        <p:spPr>
          <a:xfrm>
            <a:off x="310900" y="1228825"/>
            <a:ext cx="81615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Question :    </a:t>
            </a:r>
            <a:r>
              <a:rPr lang="en-US" sz="1200" kern="0" dirty="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What is module caching in Node.js?</a:t>
            </a:r>
            <a:endParaRPr kumimoji="0" sz="13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8" name="Google Shape;328;p33">
            <a:extLst>
              <a:ext uri="{FF2B5EF4-FFF2-40B4-BE49-F238E27FC236}">
                <a16:creationId xmlns:a16="http://schemas.microsoft.com/office/drawing/2014/main" id="{600692B5-88A7-7635-92C3-8EC4D45CF22B}"/>
              </a:ext>
            </a:extLst>
          </p:cNvPr>
          <p:cNvSpPr txBox="1"/>
          <p:nvPr/>
        </p:nvSpPr>
        <p:spPr>
          <a:xfrm>
            <a:off x="310900" y="1748350"/>
            <a:ext cx="8375900" cy="1638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Aft>
                <a:spcPts val="300"/>
              </a:spcAft>
              <a:buSzPct val="100000"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         A.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Once required, module result is cached and reused for all future requires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B.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Keeping modules in RAM for speed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Deleting old modules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D.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Nothing important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9" name="Google Shape;329;p33" title="question-and-answer-illustration-download-in-svg-png-gif-file-formats--answers-faq-comments-chatting-business-pack-people-illustrations-4257057.png">
            <a:extLst>
              <a:ext uri="{FF2B5EF4-FFF2-40B4-BE49-F238E27FC236}">
                <a16:creationId xmlns:a16="http://schemas.microsoft.com/office/drawing/2014/main" id="{8A762AC0-5224-968E-13A6-F9974CB5FCC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>
            <a:extLst>
              <a:ext uri="{FF2B5EF4-FFF2-40B4-BE49-F238E27FC236}">
                <a16:creationId xmlns:a16="http://schemas.microsoft.com/office/drawing/2014/main" id="{03E355E5-FCD9-A21B-47AE-8613A3A8B231}"/>
              </a:ext>
            </a:extLst>
          </p:cNvPr>
          <p:cNvSpPr txBox="1"/>
          <p:nvPr/>
        </p:nvSpPr>
        <p:spPr>
          <a:xfrm>
            <a:off x="310950" y="3313725"/>
            <a:ext cx="6260400" cy="907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A.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Once required, module result is cached and reused for all future 	       requires</a:t>
            </a:r>
            <a:endParaRPr kumimoji="0" lang="en-I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2" name="Google Shape;332;p33">
            <a:extLst>
              <a:ext uri="{FF2B5EF4-FFF2-40B4-BE49-F238E27FC236}">
                <a16:creationId xmlns:a16="http://schemas.microsoft.com/office/drawing/2014/main" id="{62CCD0C5-B2AA-1A7D-8326-DA235DFAC74D}"/>
              </a:ext>
            </a:extLst>
          </p:cNvPr>
          <p:cNvGrpSpPr/>
          <p:nvPr/>
        </p:nvGrpSpPr>
        <p:grpSpPr>
          <a:xfrm>
            <a:off x="310900" y="3959263"/>
            <a:ext cx="6005825" cy="1076430"/>
            <a:chOff x="310900" y="3959263"/>
            <a:chExt cx="6005825" cy="1076430"/>
          </a:xfrm>
        </p:grpSpPr>
        <p:sp>
          <p:nvSpPr>
            <p:cNvPr id="333" name="Google Shape;333;p33">
              <a:extLst>
                <a:ext uri="{FF2B5EF4-FFF2-40B4-BE49-F238E27FC236}">
                  <a16:creationId xmlns:a16="http://schemas.microsoft.com/office/drawing/2014/main" id="{40FEE5AE-BFE7-0027-8F3C-45C997F2E745}"/>
                </a:ext>
              </a:extLst>
            </p:cNvPr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27323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34" name="Google Shape;334;p33">
              <a:extLst>
                <a:ext uri="{FF2B5EF4-FFF2-40B4-BE49-F238E27FC236}">
                  <a16:creationId xmlns:a16="http://schemas.microsoft.com/office/drawing/2014/main" id="{E340EA1F-AE07-61B7-3118-26F8F696306D}"/>
                </a:ext>
              </a:extLst>
            </p:cNvPr>
            <p:cNvSpPr txBox="1"/>
            <p:nvPr/>
          </p:nvSpPr>
          <p:spPr>
            <a:xfrm>
              <a:off x="1607925" y="3959275"/>
              <a:ext cx="4708800" cy="10764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require('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fs'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) = core module, no path needed. require('./math') = local file in current directory. require('../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db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') = file in parent directory. Path tells Node.js where to look.</a:t>
              </a:r>
              <a:endPara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B53B07CC-F85C-9442-8EF7-0960DAE2F189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5D75898A-17F3-9146-09CF-D73637588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130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>
          <a:extLst>
            <a:ext uri="{FF2B5EF4-FFF2-40B4-BE49-F238E27FC236}">
              <a16:creationId xmlns:a16="http://schemas.microsoft.com/office/drawing/2014/main" id="{504AC7A9-952F-F4A5-9DB8-89FFAC0AD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>
            <a:extLst>
              <a:ext uri="{FF2B5EF4-FFF2-40B4-BE49-F238E27FC236}">
                <a16:creationId xmlns:a16="http://schemas.microsoft.com/office/drawing/2014/main" id="{F5CBE233-C524-EB21-363C-B385B6F0C1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33">
            <a:extLst>
              <a:ext uri="{FF2B5EF4-FFF2-40B4-BE49-F238E27FC236}">
                <a16:creationId xmlns:a16="http://schemas.microsoft.com/office/drawing/2014/main" id="{8D0B657A-7336-19CA-8D73-A1E48E050EDB}"/>
              </a:ext>
            </a:extLst>
          </p:cNvPr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kumimoji="0" lang="e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 </a:t>
            </a: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Why is ESM (import/export) not yet the Node.js default?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328" name="Google Shape;328;p33">
            <a:extLst>
              <a:ext uri="{FF2B5EF4-FFF2-40B4-BE49-F238E27FC236}">
                <a16:creationId xmlns:a16="http://schemas.microsoft.com/office/drawing/2014/main" id="{48AF5B9D-0F7F-A10B-156B-42A8749F923B}"/>
              </a:ext>
            </a:extLst>
          </p:cNvPr>
          <p:cNvSpPr txBox="1"/>
          <p:nvPr/>
        </p:nvSpPr>
        <p:spPr>
          <a:xfrm>
            <a:off x="310900" y="1748350"/>
            <a:ext cx="8375900" cy="1638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         A.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package.json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 lists version ranges, package-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lock.json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 locks exact versions installed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B.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ESM is worse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C.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CommonJS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came first,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npm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has 20 years of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CommonJS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packages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D.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There's no reason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9" name="Google Shape;329;p33" title="question-and-answer-illustration-download-in-svg-png-gif-file-formats--answers-faq-comments-chatting-business-pack-people-illustrations-4257057.png">
            <a:extLst>
              <a:ext uri="{FF2B5EF4-FFF2-40B4-BE49-F238E27FC236}">
                <a16:creationId xmlns:a16="http://schemas.microsoft.com/office/drawing/2014/main" id="{75F069A0-DCF7-EE55-78F4-88F035AB04E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>
            <a:extLst>
              <a:ext uri="{FF2B5EF4-FFF2-40B4-BE49-F238E27FC236}">
                <a16:creationId xmlns:a16="http://schemas.microsoft.com/office/drawing/2014/main" id="{F3DA41C2-7C2D-E580-BE0B-BF24D8AD3401}"/>
              </a:ext>
            </a:extLst>
          </p:cNvPr>
          <p:cNvSpPr txBox="1"/>
          <p:nvPr/>
        </p:nvSpPr>
        <p:spPr>
          <a:xfrm>
            <a:off x="310950" y="3313725"/>
            <a:ext cx="62604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C.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CommonJS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came first,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npm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has 20 years of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CommonJS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packages</a:t>
            </a:r>
            <a:endParaRPr kumimoji="0" lang="en-I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2" name="Google Shape;332;p33">
            <a:extLst>
              <a:ext uri="{FF2B5EF4-FFF2-40B4-BE49-F238E27FC236}">
                <a16:creationId xmlns:a16="http://schemas.microsoft.com/office/drawing/2014/main" id="{23D757B0-83B5-5314-1292-D8ADB850D0C9}"/>
              </a:ext>
            </a:extLst>
          </p:cNvPr>
          <p:cNvGrpSpPr/>
          <p:nvPr/>
        </p:nvGrpSpPr>
        <p:grpSpPr>
          <a:xfrm>
            <a:off x="310900" y="3959263"/>
            <a:ext cx="6005825" cy="1271099"/>
            <a:chOff x="310900" y="3959263"/>
            <a:chExt cx="6005825" cy="1271099"/>
          </a:xfrm>
        </p:grpSpPr>
        <p:sp>
          <p:nvSpPr>
            <p:cNvPr id="333" name="Google Shape;333;p33">
              <a:extLst>
                <a:ext uri="{FF2B5EF4-FFF2-40B4-BE49-F238E27FC236}">
                  <a16:creationId xmlns:a16="http://schemas.microsoft.com/office/drawing/2014/main" id="{E85129B1-39AF-B63A-922D-2E5F6897A6FD}"/>
                </a:ext>
              </a:extLst>
            </p:cNvPr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27323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34" name="Google Shape;334;p33">
              <a:extLst>
                <a:ext uri="{FF2B5EF4-FFF2-40B4-BE49-F238E27FC236}">
                  <a16:creationId xmlns:a16="http://schemas.microsoft.com/office/drawing/2014/main" id="{FD7CD420-4360-CFFF-7A89-CF9C91A9E8D5}"/>
                </a:ext>
              </a:extLst>
            </p:cNvPr>
            <p:cNvSpPr txBox="1"/>
            <p:nvPr/>
          </p:nvSpPr>
          <p:spPr>
            <a:xfrm>
              <a:off x="1607925" y="3959275"/>
              <a:ext cx="4708800" cy="1271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2M+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npm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 packages written in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CommonJS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. Switching would break everything. Node.js supports ESM now (with .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mjs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 or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type:module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), but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CommonJS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 is default for compatibility. New projects can use ESM.</a:t>
              </a:r>
              <a:endPara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3421D953-BFFB-B552-C1C0-1733D0317D27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51246D09-D164-0606-FE2A-F3A332805B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864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3"/>
          <p:cNvSpPr txBox="1">
            <a:spLocks noGrp="1"/>
          </p:cNvSpPr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5" name="Google Shape;375;p43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>
              <a:lnSpc>
                <a:spcPct val="115000"/>
              </a:lnSpc>
              <a:buSzPts val="1100"/>
              <a:buChar char="●"/>
            </a:pP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Node.js Official Documentation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: Comprehensive and official documentation for Node.js runtime, modules, APIs, file system, HTTP, Express integration basics, and backend development concepts.</a:t>
            </a:r>
            <a:b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🔗 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  <a:hlinkClick r:id="rId3"/>
              </a:rPr>
              <a:t>Node.js Official Docs</a:t>
            </a:r>
            <a:endParaRPr sz="1100" u="sng" dirty="0">
              <a:solidFill>
                <a:schemeClr val="hlin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 dirty="0">
              <a:solidFill>
                <a:schemeClr val="hlin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 dirty="0">
              <a:solidFill>
                <a:schemeClr val="hlin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W3Schools – Node.js Tutorial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: Beginner-friendly Node.js tutorials with easy explanations, examples, and hands-on practice for backend development fundamentals.</a:t>
            </a:r>
            <a:b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🔗 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  <a:hlinkClick r:id="rId4"/>
              </a:rPr>
              <a:t>W3Schools Node.js Tutorial</a:t>
            </a:r>
            <a:endParaRPr lang="en-US" sz="1100" dirty="0">
              <a:solidFill>
                <a:schemeClr val="dk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IN" sz="1100" b="1" dirty="0" err="1">
                <a:latin typeface="Poppins" panose="00000500000000000000" pitchFamily="2" charset="0"/>
                <a:cs typeface="Poppins" panose="00000500000000000000" pitchFamily="2" charset="0"/>
              </a:rPr>
              <a:t>freeCodeCamp</a:t>
            </a: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 – Node.js Course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: Free practical tutorials and project-based learning resources for Node.js, Express.js, REST APIs, and backend development.</a:t>
            </a:r>
            <a:b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🔗 </a:t>
            </a:r>
            <a:r>
              <a:rPr lang="en-IN" sz="1100" dirty="0" err="1">
                <a:latin typeface="Poppins" panose="00000500000000000000" pitchFamily="2" charset="0"/>
                <a:cs typeface="Poppins" panose="00000500000000000000" pitchFamily="2" charset="0"/>
                <a:hlinkClick r:id="rId5"/>
              </a:rPr>
              <a:t>freeCodeCamp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  <a:hlinkClick r:id="rId5"/>
              </a:rPr>
              <a:t> Node.js Resources</a:t>
            </a:r>
            <a:endParaRPr lang="en-IN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endParaRPr lang="en-IN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endParaRPr lang="en-IN" sz="1100" i="1" dirty="0">
              <a:solidFill>
                <a:schemeClr val="dk1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US" sz="1100" b="1" dirty="0" err="1">
                <a:latin typeface="Poppins" pitchFamily="34" charset="0"/>
                <a:ea typeface="Poppins" pitchFamily="34" charset="-122"/>
                <a:cs typeface="Poppins" pitchFamily="34" charset="-120"/>
              </a:rPr>
              <a:t>npm</a:t>
            </a:r>
            <a:r>
              <a:rPr lang="en-US" sz="11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 Docs :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Official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npm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documentation and CLI reference. </a:t>
            </a:r>
            <a:r>
              <a:rPr lang="en-US" sz="1050" u="sng" dirty="0">
                <a:solidFill>
                  <a:srgbClr val="1C4587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https://docs.npmjs.com/</a:t>
            </a:r>
            <a:endParaRPr sz="1100" i="1" dirty="0">
              <a:solidFill>
                <a:schemeClr val="dk1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76FBA4A-CC92-CFF0-C0A3-3B8D0286268A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</a:t>
            </a:r>
            <a:endParaRPr lang="en-US" sz="9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9B1B52BE-6553-1A40-A1D3-A3EE954FA8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44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382" name="Google Shape;382;p44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4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173034"/>
                </a:solidFill>
              </a:rPr>
              <a:t>Course - Web Development - III</a:t>
            </a:r>
            <a:endParaRPr sz="2400" b="1" dirty="0">
              <a:solidFill>
                <a:srgbClr val="173034"/>
              </a:solidFill>
            </a:endParaRPr>
          </a:p>
        </p:txBody>
      </p:sp>
      <p:grpSp>
        <p:nvGrpSpPr>
          <p:cNvPr id="384" name="Google Shape;384;p44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385" name="Google Shape;385;p44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386" name="Google Shape;386;p44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7" name="Google Shape;387;p44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388" name="Google Shape;388;p44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4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E5F4146-6277-E219-3EC0-EA0CC9D1A5C4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20</a:t>
            </a:r>
            <a:endParaRPr lang="en-US" sz="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1C5179-CEDB-E2A3-B534-D1EA2C9B45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0007" y="2208918"/>
            <a:ext cx="2798268" cy="279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645676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1628</Words>
  <Application>Microsoft Office PowerPoint</Application>
  <PresentationFormat>On-screen Show (16:9)</PresentationFormat>
  <Paragraphs>256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Consolas</vt:lpstr>
      <vt:lpstr>Courier New</vt:lpstr>
      <vt:lpstr>Poppins</vt:lpstr>
      <vt:lpstr>Roboto Slab</vt:lpstr>
      <vt:lpstr>Office Theme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| Check Your Understanding</vt:lpstr>
      <vt:lpstr>| Check Your Understanding</vt:lpstr>
      <vt:lpstr>| Check Your Understanding</vt:lpstr>
      <vt:lpstr>|  References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Love Porwal</cp:lastModifiedBy>
  <cp:revision>10</cp:revision>
  <dcterms:created xsi:type="dcterms:W3CDTF">2026-05-19T08:43:26Z</dcterms:created>
  <dcterms:modified xsi:type="dcterms:W3CDTF">2026-07-12T18:55:06Z</dcterms:modified>
</cp:coreProperties>
</file>