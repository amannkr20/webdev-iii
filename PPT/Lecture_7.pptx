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8"/>
  </p:notesMasterIdLst>
  <p:sldIdLst>
    <p:sldId id="328" r:id="rId3"/>
    <p:sldId id="329" r:id="rId4"/>
    <p:sldId id="324" r:id="rId5"/>
    <p:sldId id="257" r:id="rId6"/>
    <p:sldId id="258" r:id="rId7"/>
    <p:sldId id="295" r:id="rId8"/>
    <p:sldId id="296" r:id="rId9"/>
    <p:sldId id="260" r:id="rId10"/>
    <p:sldId id="298" r:id="rId11"/>
    <p:sldId id="330" r:id="rId12"/>
    <p:sldId id="300" r:id="rId13"/>
    <p:sldId id="266" r:id="rId14"/>
    <p:sldId id="302" r:id="rId15"/>
    <p:sldId id="303" r:id="rId16"/>
    <p:sldId id="269" r:id="rId17"/>
    <p:sldId id="270" r:id="rId18"/>
    <p:sldId id="304" r:id="rId19"/>
    <p:sldId id="305" r:id="rId20"/>
    <p:sldId id="272" r:id="rId21"/>
    <p:sldId id="274" r:id="rId22"/>
    <p:sldId id="322" r:id="rId23"/>
    <p:sldId id="326" r:id="rId24"/>
    <p:sldId id="327" r:id="rId25"/>
    <p:sldId id="286" r:id="rId26"/>
    <p:sldId id="325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36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3fc715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3fc715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680F-5E8C-2F6B-A07D-98375B8F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49AEA-7895-7929-B88D-A4A47BECD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74E88-A4E4-BE10-DD04-B3B9C9FB8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0FD01-F951-2B0F-990F-AC25C477B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3617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ED62-74F7-111C-05BB-8654B6A8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91BB-9AC2-58E9-A719-A073D6F4F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0F6F7-3478-B416-7ACD-D008A0C5D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B41C0-EFC4-A9CA-1727-EA2EED324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50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F1A9-58FC-8583-9600-00F9FC193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33D0C-528A-ABFB-CB95-648859464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E547A-D7D8-4AE5-082E-BDB4DEC50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9D45D-62E8-C3F9-D716-4BC2048A7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922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E524-EA21-8005-1AA4-5D0451FA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5EB83-CC86-63B2-03E8-CD31335E6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CD3C3-3473-B218-3A5D-949853336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1289A-50DC-B3D3-CCDF-5A9BABA6F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57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94C02-2E63-4892-F994-A60E43B99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C913E-5740-1FCD-6373-8D8F14A7E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15C7B-5669-99CB-CA72-5E75AF9DE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476B4-11EE-973C-D222-E68CC5492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651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D7A80778-26C3-C75F-B9B6-A37322BE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E49B97D5-B094-A121-B26E-3F29A9024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F885C3E9-CF2B-427E-8E2F-24EFE23DF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6647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05EB576E-46BC-1A70-F746-4FDC4690F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8D353868-CF65-7DC7-A030-E2A2C24FC2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2C769898-F697-4A78-38AC-1754328A4E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067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>
          <a:extLst>
            <a:ext uri="{FF2B5EF4-FFF2-40B4-BE49-F238E27FC236}">
              <a16:creationId xmlns:a16="http://schemas.microsoft.com/office/drawing/2014/main" id="{836D6802-96D4-C726-12AB-79F39FFE1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93fc7151a_0_96:notes">
            <a:extLst>
              <a:ext uri="{FF2B5EF4-FFF2-40B4-BE49-F238E27FC236}">
                <a16:creationId xmlns:a16="http://schemas.microsoft.com/office/drawing/2014/main" id="{79AB21B3-EE63-5B0D-9BC6-B8BFC58828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93fc7151a_0_96:notes">
            <a:extLst>
              <a:ext uri="{FF2B5EF4-FFF2-40B4-BE49-F238E27FC236}">
                <a16:creationId xmlns:a16="http://schemas.microsoft.com/office/drawing/2014/main" id="{E9ACAB60-30B9-785D-CAEC-51597AC75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8275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33a918ceb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733a918ceb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33a918ce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33a918ce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468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970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3369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7034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7312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7867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6922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3888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050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594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72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924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53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01870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cs?utm_source=chatgpt.co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nodejs.org/api/http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>
                <a:ln>
                  <a:noFill/>
                </a:ln>
                <a:solidFill>
                  <a:srgbClr val="17303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Course - Web Development - III 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173034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welcome@krmangalam.edu.in</a:t>
              </a:r>
              <a:endPara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700" b="0" i="0" u="none" strike="noStrike" kern="0" cap="none" spc="0" normalizeH="0" baseline="0" noProof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Sohna Road,Gurugram,Haryana 122103</a:t>
              </a:r>
              <a:endParaRPr kumimoji="0" sz="7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4896" cy="1972225"/>
            <a:chOff x="788865" y="1515488"/>
            <a:chExt cx="4593000" cy="1972225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Slab"/>
                  <a:ea typeface="Roboto Slab"/>
                  <a:cs typeface="Roboto Slab"/>
                  <a:sym typeface="Roboto Slab"/>
                </a:rPr>
                <a:t>Lecture </a:t>
              </a:r>
              <a:r>
                <a:rPr lang="en" sz="2700" b="1" kern="0" dirty="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7</a:t>
              </a:r>
              <a:r>
                <a:rPr kumimoji="0" lang="en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:</a:t>
              </a:r>
              <a:endPara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863408" y="3059673"/>
              <a:ext cx="841483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By -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88865" y="2154317"/>
              <a:ext cx="45930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HTTP Server Development</a:t>
              </a: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487875" y="3076113"/>
              <a:ext cx="3156221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Love Porwal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B5463F-BDFE-B6CF-7DAC-28E695024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79" y="3217507"/>
            <a:ext cx="383020" cy="3830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613E2B-77CD-E63B-B428-31E0B5C253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007" y="2208918"/>
            <a:ext cx="2798268" cy="2798268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0E3A-6821-91F7-0F3E-F33271A4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A76A43E-8A47-DAD4-DF5F-73D132F71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FE00E20-14C0-ADEC-F34C-89A22A4ABBC3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C61C953-1F43-F6B4-EFB7-44EB06C94202}"/>
              </a:ext>
            </a:extLst>
          </p:cNvPr>
          <p:cNvSpPr/>
          <p:nvPr/>
        </p:nvSpPr>
        <p:spPr>
          <a:xfrm>
            <a:off x="357283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6AC52AB-E7D3-B764-DBD9-8C74A732FC1F}"/>
              </a:ext>
            </a:extLst>
          </p:cNvPr>
          <p:cNvSpPr/>
          <p:nvPr/>
        </p:nvSpPr>
        <p:spPr>
          <a:xfrm>
            <a:off x="427724" y="457200"/>
            <a:ext cx="80030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7C26F3-02AD-0320-21B3-21A73D34A6D6}"/>
              </a:ext>
            </a:extLst>
          </p:cNvPr>
          <p:cNvSpPr/>
          <p:nvPr/>
        </p:nvSpPr>
        <p:spPr>
          <a:xfrm>
            <a:off x="427724" y="1078992"/>
            <a:ext cx="8551684" cy="2789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HTTP Module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Creating Your First Server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req and res Objects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Routing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GET Request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POST Request — Receiving Body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Error Handling in HTTP Servers</a:t>
            </a:r>
          </a:p>
          <a:p>
            <a:pPr marL="457200" lvl="0" indent="-311150">
              <a:lnSpc>
                <a:spcPct val="150000"/>
              </a:lnSpc>
              <a:buClr>
                <a:srgbClr val="4472C4">
                  <a:lumMod val="50000"/>
                </a:srgbClr>
              </a:buClr>
              <a:buSzPts val="1300"/>
              <a:buFontTx/>
              <a:buChar char="●"/>
            </a:pPr>
            <a:r>
              <a:rPr lang="en-US" sz="12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References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50000"/>
                </a:srgbClr>
              </a:buClr>
              <a:buSzPts val="1300"/>
              <a:buFontTx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125849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F7CE-FC8C-A714-8C0A-783F1F9D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E6830C6-0157-1D16-8D64-EA2564EA2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032557-1DA5-D6E5-EC05-DDD0D8A3611B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Poppins" pitchFamily="34" charset="0"/>
                <a:ea typeface="+mn-ea"/>
                <a:cs typeface="Poppins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3D5E58C-0B29-A653-5275-328BC96CA954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6471A2-B515-BA62-8104-9BB508670300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When you open YouTube, where does the webpage come from?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0C82996-25C2-F84E-78ED-2ADFD985CD99}"/>
              </a:ext>
            </a:extLst>
          </p:cNvPr>
          <p:cNvSpPr/>
          <p:nvPr/>
        </p:nvSpPr>
        <p:spPr>
          <a:xfrm>
            <a:off x="365760" y="1189463"/>
            <a:ext cx="8412480" cy="3702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B53689-84BB-00BF-913F-21A6C2A66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44195"/>
            <a:ext cx="8138160" cy="378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7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 the HTTP Module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195754"/>
            <a:ext cx="8138160" cy="28557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HTTP Module is a built-in Node.js module.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helps us: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Create web servers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Receive client request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Send responses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Build APIs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Simple Definition: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HTTP Module allows Node.js to create and manage web servers.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70788F-5921-17DA-608E-41E123DD3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315" y="1776867"/>
            <a:ext cx="2979678" cy="1348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HTTP Module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79005" y="1168496"/>
            <a:ext cx="6702552" cy="315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 is built ON TOP of this. Understanding native HTTP teaches how frameworks work. 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C4EF0A-0ACB-50D1-E5AD-7ED91BB80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39" y="1563997"/>
            <a:ext cx="8208498" cy="35678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Creating Your First HTTP Server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0726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minimal Node.js web server: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477106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740172"/>
            <a:ext cx="8412480" cy="3307316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727510"/>
            <a:ext cx="8138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http = require('http');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server — callback fires on every request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http.createServer((req, res) =&gt; {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Write response body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res.write('&lt;h1&gt;Welcome to Node.js!&lt;/h1&gt;');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res.write('&lt;p&gt;Your first HTTP server is running.&lt;/p&gt;');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 the response (required!)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res.end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</a:p>
          <a:p>
            <a:endParaRPr lang="en-US" sz="1100" dirty="0"/>
          </a:p>
          <a:p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Start listening on port 3000</a:t>
            </a:r>
            <a:endParaRPr lang="en-US" sz="1100" dirty="0"/>
          </a:p>
          <a:p>
            <a:r>
              <a:rPr lang="en-US" sz="11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server.listen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(3000, () =&gt; {</a:t>
            </a:r>
            <a:endParaRPr lang="en-US" sz="1100" dirty="0"/>
          </a:p>
          <a:p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console.log('Server running at http://localhost:3000');</a:t>
            </a:r>
            <a:endParaRPr lang="en-US" sz="1100" dirty="0"/>
          </a:p>
          <a:p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Visit: http://localhost:3000 in your browser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 req and res Objects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2651760" cy="17373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Shape 4"/>
          <p:cNvSpPr/>
          <p:nvPr/>
        </p:nvSpPr>
        <p:spPr>
          <a:xfrm>
            <a:off x="320040" y="1188720"/>
            <a:ext cx="2651760" cy="411480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📥 req.url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1645920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URL path requested, e.g. '/api/users'. Does NOT include hostname.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54680" y="1188720"/>
            <a:ext cx="2651760" cy="17373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" name="Shape 8"/>
          <p:cNvSpPr/>
          <p:nvPr/>
        </p:nvSpPr>
        <p:spPr>
          <a:xfrm>
            <a:off x="3154680" y="1188720"/>
            <a:ext cx="2651760" cy="411480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12" name="Text 9"/>
          <p:cNvSpPr/>
          <p:nvPr/>
        </p:nvSpPr>
        <p:spPr>
          <a:xfrm>
            <a:off x="324612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📋 req.method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64408" y="1645920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 method string: 'GET', 'POST', 'PUT', 'DELETE'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89320" y="1188720"/>
            <a:ext cx="2651760" cy="17373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5" name="Shape 12"/>
          <p:cNvSpPr/>
          <p:nvPr/>
        </p:nvSpPr>
        <p:spPr>
          <a:xfrm>
            <a:off x="5989320" y="1188720"/>
            <a:ext cx="2651760" cy="411480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16" name="Text 13"/>
          <p:cNvSpPr/>
          <p:nvPr/>
        </p:nvSpPr>
        <p:spPr>
          <a:xfrm>
            <a:off x="608076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📌 req.headers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99048" y="1645920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 with all request headers (lowercase keys)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20040" y="3090672"/>
            <a:ext cx="2651760" cy="17373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9" name="Shape 16"/>
          <p:cNvSpPr/>
          <p:nvPr/>
        </p:nvSpPr>
        <p:spPr>
          <a:xfrm>
            <a:off x="320040" y="3090672"/>
            <a:ext cx="2651760" cy="4114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30906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📤 res.writeHead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29768" y="3547872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 HTTP status code and response headers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154680" y="3090672"/>
            <a:ext cx="2651760" cy="17373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3" name="Shape 20"/>
          <p:cNvSpPr/>
          <p:nvPr/>
        </p:nvSpPr>
        <p:spPr>
          <a:xfrm>
            <a:off x="3154680" y="3090672"/>
            <a:ext cx="2651760" cy="4114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4" name="Text 21"/>
          <p:cNvSpPr/>
          <p:nvPr/>
        </p:nvSpPr>
        <p:spPr>
          <a:xfrm>
            <a:off x="3246120" y="30906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✍️ res.write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64408" y="3547872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a chunk of the response body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89320" y="3090672"/>
            <a:ext cx="2651760" cy="17373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Shape 24"/>
          <p:cNvSpPr/>
          <p:nvPr/>
        </p:nvSpPr>
        <p:spPr>
          <a:xfrm>
            <a:off x="5989320" y="3090672"/>
            <a:ext cx="2651760" cy="4114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Text 25"/>
          <p:cNvSpPr/>
          <p:nvPr/>
        </p:nvSpPr>
        <p:spPr>
          <a:xfrm>
            <a:off x="6080760" y="30906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🏁 res.end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099048" y="3547872"/>
            <a:ext cx="2450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Finish and send the response. REQUIRED or client hangs!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Request Object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188721"/>
            <a:ext cx="3674481" cy="323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 Request is a message sent by the client (browser) to the server.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tells the server: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What do I want?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Which page?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Which method?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Any extra information?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Simple Definition: 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Request Object (</a:t>
            </a:r>
            <a:r>
              <a:rPr lang="en-IN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req</a:t>
            </a: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) contains everything the client sends to the server.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DA9FB2-8667-6C6C-B2A1-7CB279076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623" y="1685685"/>
            <a:ext cx="5058057" cy="22416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Handling Requests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1266088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33009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33009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33009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544980"/>
            <a:ext cx="8412480" cy="2668297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614968"/>
            <a:ext cx="8138160" cy="24294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http = require('http');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http.createServer((req, res)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//Access Request Object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url    = req.url;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method = req.method;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console.log(`${method} ${url}`);  // Log every request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</a:p>
          <a:p>
            <a:pPr marL="0" indent="0">
              <a:buNone/>
            </a:pPr>
            <a:endParaRPr lang="en-US" sz="1100" dirty="0">
              <a:solidFill>
                <a:srgbClr val="CCCCCC"/>
              </a:solidFill>
              <a:latin typeface="Consolas" pitchFamily="34" charset="0"/>
            </a:endParaRPr>
          </a:p>
          <a:p>
            <a:r>
              <a:rPr lang="en-US" sz="11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server.listen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(3000);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5D31B-4E96-AD37-F805-BED6F180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1A2950A-FDDA-4E5D-E87E-E25277A3B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4966565-35AA-1680-824B-86C01C6DD56C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553CD6F-AA17-A6A8-EE33-CE9BF5571C93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999BA4F-9A80-AD40-5DC7-D8811BA0931D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Poppins" pitchFamily="34" charset="0"/>
                <a:ea typeface="Poppins" pitchFamily="34" charset="-122"/>
                <a:cs typeface="Poppins" pitchFamily="34" charset="-120"/>
              </a:rPr>
              <a:t> Object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D69C038-8EE3-73BF-E3AE-502BCF419CB2}"/>
              </a:ext>
            </a:extLst>
          </p:cNvPr>
          <p:cNvSpPr/>
          <p:nvPr/>
        </p:nvSpPr>
        <p:spPr>
          <a:xfrm>
            <a:off x="475488" y="1188721"/>
            <a:ext cx="3674481" cy="323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A Response is the message sent back by the server to the client.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It can send: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Text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HTML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JSON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Status Code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Simple Definition: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The Response Object (res) is used to send data back to the client.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20DFF4-A580-95C3-D63D-419A1F36F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905" y="1664902"/>
            <a:ext cx="5331655" cy="223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22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Handling Responses — Multiple Types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09376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Serving HTML, JSON, and plain text: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526344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789410"/>
            <a:ext cx="8412480" cy="32186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818952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http = require('http');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http.createServer((req, res)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(req.url === '/')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res.writeHead(200, { 'Content-Type': 'text/html'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res.end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(`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&lt;h1 style='color:navy'&gt;Hello from Node.js!&lt;/h1&gt;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&lt;p&gt;Built with pure Node.js http module.&lt;/p&gt;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`);</a:t>
            </a:r>
            <a:endParaRPr lang="en-US" sz="1100" dirty="0"/>
          </a:p>
          <a:p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{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res.writeHead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(404, { 'Content-Type': 'application/</a:t>
            </a:r>
            <a:r>
              <a:rPr lang="en-US" sz="11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});</a:t>
            </a:r>
            <a:endParaRPr lang="en-US" sz="1100" dirty="0"/>
          </a:p>
          <a:p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res.end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error: 'Route not found' }));</a:t>
            </a:r>
            <a:endParaRPr lang="en-US" sz="1100" dirty="0"/>
          </a:p>
          <a:p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</a:p>
          <a:p>
            <a:endParaRPr lang="en-US" sz="1100" dirty="0"/>
          </a:p>
          <a:p>
            <a:r>
              <a:rPr lang="en-US" sz="11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server.listen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(3000, () =&gt; console.log('Running on :3000'));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49814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Routing Requests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181333"/>
            <a:ext cx="4321595" cy="9850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Routing means deciding what response to send based on the requested URL.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US" sz="1200" dirty="0">
              <a:solidFill>
                <a:srgbClr val="273239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request needs to go somewhere. Routing directs it to right handler.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458328"/>
            <a:ext cx="22156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Key Points: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890910"/>
            <a:ext cx="4142935" cy="1519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req.url for path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req.method for action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Route GET /api/users → fetch users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Route POST /api/users → create user</a:t>
            </a:r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 /users/5 → update user</a:t>
            </a:r>
            <a:endParaRPr lang="en-US" sz="1200" dirty="0"/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Route DELETE /api/users/5 → delete user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E6F4E5-3A43-8D44-DCF6-DE484CC4F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483" y="1568202"/>
            <a:ext cx="2263336" cy="29491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5679789-0DFB-6524-0FE7-A5B77A29BA89}"/>
              </a:ext>
            </a:extLst>
          </p:cNvPr>
          <p:cNvSpPr txBox="1"/>
          <p:nvPr/>
        </p:nvSpPr>
        <p:spPr>
          <a:xfrm>
            <a:off x="5704449" y="1042833"/>
            <a:ext cx="2708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How Communication Happens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Request — Retrieve Data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 GET requests with an in-memory data store: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547446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803478"/>
            <a:ext cx="8412480" cy="31483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833020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http = require('http');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In-memory data store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students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id:1, name:'Alice',   course:'Node.js', grade:'A'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id:2, name:'Bob',     course:'Node.js', grade:'B'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id:3, name:'Charlie', course:'Node.js', grade:'A+'},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http.createServer((req, res)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(req.method === 'GET' &amp;&amp; req.url === '/api/students')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res.writeHead(200, { 'Content-Type': 'application/json'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res.end(JSON.stringify({ count: students.length, students }));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(req.method === 'GET' &amp;&amp; req.url === '/api/students/count')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res.writeHead(200, { 'Content-Type': 'application/json'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res.end(JSON.stringify({ count: students.length }));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C9994-C7AD-4E37-295A-469014E31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39A3A2B-82AE-8D8F-11D0-863DCF0F5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08327CC-C86A-13F0-B505-5A8C9D16D62C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0268E61-DB12-40F9-17F9-9D70244F3F01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6048D39-2F3F-6D08-639C-9CD8E5280AB7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Request — Serving Data</a:t>
            </a:r>
            <a:endParaRPr lang="en-US" sz="2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F2227C8-132F-5A1A-BBB2-B03E10D8F8E3}"/>
              </a:ext>
            </a:extLst>
          </p:cNvPr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 GET requests with an in-memory data store:</a:t>
            </a:r>
            <a:endParaRPr lang="en-US" sz="1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8A7461F-9CD3-2717-95FE-4865816B7086}"/>
              </a:ext>
            </a:extLst>
          </p:cNvPr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719BBEA-8988-970B-D2BD-4C9A91633E88}"/>
              </a:ext>
            </a:extLst>
          </p:cNvPr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39A589D-3B14-3DB6-9853-AE8D19985978}"/>
              </a:ext>
            </a:extLst>
          </p:cNvPr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A03241C-2C23-2AFA-6A9C-3003512114E9}"/>
              </a:ext>
            </a:extLst>
          </p:cNvPr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1F0F8F2-179A-38EA-813F-989D8D6714BE}"/>
              </a:ext>
            </a:extLst>
          </p:cNvPr>
          <p:cNvSpPr/>
          <p:nvPr/>
        </p:nvSpPr>
        <p:spPr>
          <a:xfrm>
            <a:off x="365760" y="1810512"/>
            <a:ext cx="8412480" cy="30586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9385B40-532A-963E-A8E3-1CCA3886BCB5}"/>
              </a:ext>
            </a:extLst>
          </p:cNvPr>
          <p:cNvSpPr/>
          <p:nvPr/>
        </p:nvSpPr>
        <p:spPr>
          <a:xfrm>
            <a:off x="502920" y="1847088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>
              <a:solidFill>
                <a:srgbClr val="CCCCC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res.writeHead(404, { 'Content-Type': 'application/json'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res.end(JSON.stringify({ error: 'Not Found' }));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</a:p>
          <a:p>
            <a:pPr marL="0" indent="0">
              <a:buNone/>
            </a:pPr>
            <a:endParaRPr lang="en-US" sz="1100" dirty="0">
              <a:solidFill>
                <a:srgbClr val="CCCCCC"/>
              </a:solidFill>
              <a:latin typeface="Consolas" pitchFamily="34" charset="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server.listen(3000, () =&gt; console.log('API running on :3000'));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11635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Handling POST Requests &amp; Body Streaming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146517"/>
            <a:ext cx="3379060" cy="25462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The server reads data sent by the client.</a:t>
            </a:r>
          </a:p>
          <a:p>
            <a:pPr marL="0" indent="0">
              <a:buNone/>
            </a:pPr>
            <a:endParaRPr lang="en-US" sz="1200" dirty="0">
              <a:solidFill>
                <a:srgbClr val="273239"/>
              </a:solidFill>
              <a:latin typeface="Poppins" panose="00000500000000000000" pitchFamily="2" charset="0"/>
              <a:ea typeface="Poppins" pitchFamily="34" charset="-122"/>
              <a:cs typeface="Poppins" panose="00000500000000000000" pitchFamily="2" charset="0"/>
            </a:endParaRPr>
          </a:p>
          <a:p>
            <a:pPr marL="0" indent="0">
              <a:buNone/>
            </a:pPr>
            <a:endParaRPr lang="en-US" sz="1200" dirty="0">
              <a:solidFill>
                <a:srgbClr val="273239"/>
              </a:solidFill>
              <a:latin typeface="Poppins" panose="00000500000000000000" pitchFamily="2" charset="0"/>
              <a:ea typeface="Poppins" pitchFamily="34" charset="-122"/>
              <a:cs typeface="Poppins" panose="00000500000000000000" pitchFamily="2" charset="0"/>
            </a:endParaRPr>
          </a:p>
          <a:p>
            <a:r>
              <a:rPr lang="en-US" sz="1200" b="1" dirty="0"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Key Points: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buNone/>
            </a:pPr>
            <a:endParaRPr lang="en-US" sz="1200" dirty="0">
              <a:solidFill>
                <a:srgbClr val="273239"/>
              </a:solidFill>
              <a:latin typeface="Poppins" panose="00000500000000000000" pitchFamily="2" charset="0"/>
              <a:ea typeface="Poppins" pitchFamily="34" charset="-122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POST has body (data payload) </a:t>
            </a:r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Body comes as stream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 err="1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req.on</a:t>
            </a: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('data'): new chunk arrived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 err="1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req.on</a:t>
            </a: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('end'): all chunks received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Streaming is memory efficient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27323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Perfect for large uploads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2514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92608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300"/>
              </a:spcAft>
              <a:buSzPct val="100000"/>
              <a:buFont typeface="Courier New" panose="02070309020205020404" pitchFamily="49" charset="0"/>
              <a:buChar char="o"/>
            </a:pP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5161A4-FAF4-6643-280D-8AA66FAAF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468" y="1712756"/>
            <a:ext cx="5101932" cy="2426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Streaming Matters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9768" y="1207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Use Case: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" y="1554480"/>
            <a:ext cx="3931920" cy="738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Body could be huge (1GB file). Can't load entire thing into RAM. Stream reads 64KB chunks. Efficient memory usage. User uploads progress. Handles large payloads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24924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Why Important: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9768" y="280545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Memory efficiency, large file handling, performance, scalability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9768" y="348105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Example: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9768" y="3801092"/>
            <a:ext cx="4092995" cy="6727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1GB file upload: streaming reads 64KB at a time (constant memory).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41B4505-7EDE-FE3E-A62B-CE6821602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554480"/>
            <a:ext cx="4782311" cy="2587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Request — Receiving the Body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body arrives as a stream of chunks: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810512"/>
            <a:ext cx="8412480" cy="30586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847088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http = require('http');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http.createServer((req, res)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(req.method === 'POST' &amp;&amp; req.url === '/api/students')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rawBody = '';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Collect incoming data chunks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req.on('data', (chunk)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rawBody += chunk;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res.writeHead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(413, {'Content-Type':'application/json'});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res.end(JSON.stringify({ error: 'Payload too large' }));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219AE-00BB-EA93-FADC-BB2D0A809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C171B8E-1889-004F-4F16-1EA1E9595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7AD604A-C5CB-0BF6-0F35-DD9BF23D7BED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8AE1D74-4BBE-381F-BE4F-961E343FD05B}"/>
              </a:ext>
            </a:extLst>
          </p:cNvPr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043560E-35B2-8746-3D7A-E91B0275ED8A}"/>
              </a:ext>
            </a:extLst>
          </p:cNvPr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Request — Receiving the Body</a:t>
            </a:r>
            <a:endParaRPr lang="en-US" sz="2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515F0D1-EC77-85E7-F747-1A72B0DF691F}"/>
              </a:ext>
            </a:extLst>
          </p:cNvPr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body arrives as a stream of chunks:</a:t>
            </a:r>
            <a:endParaRPr lang="en-US" sz="1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7115F4C-27F6-1A8E-D079-1EAA42338715}"/>
              </a:ext>
            </a:extLst>
          </p:cNvPr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A200237-E2C6-CDFD-E27B-87819745C9B9}"/>
              </a:ext>
            </a:extLst>
          </p:cNvPr>
          <p:cNvSpPr/>
          <p:nvPr/>
        </p:nvSpPr>
        <p:spPr>
          <a:xfrm>
            <a:off x="502920" y="161848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4E46AEB-F7C1-BE59-937E-C5481EF8EC5D}"/>
              </a:ext>
            </a:extLst>
          </p:cNvPr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2DDD179-6B34-618E-A6AA-AF91933AEE6F}"/>
              </a:ext>
            </a:extLst>
          </p:cNvPr>
          <p:cNvSpPr/>
          <p:nvPr/>
        </p:nvSpPr>
        <p:spPr>
          <a:xfrm>
            <a:off x="813816" y="161848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B5F8682-5961-5025-E44C-DB49123798D3}"/>
              </a:ext>
            </a:extLst>
          </p:cNvPr>
          <p:cNvSpPr/>
          <p:nvPr/>
        </p:nvSpPr>
        <p:spPr>
          <a:xfrm>
            <a:off x="365760" y="1810512"/>
            <a:ext cx="8412480" cy="30586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4995DF2-3E9C-7D48-1F9A-61CA0CE8FB4C}"/>
              </a:ext>
            </a:extLst>
          </p:cNvPr>
          <p:cNvSpPr/>
          <p:nvPr/>
        </p:nvSpPr>
        <p:spPr>
          <a:xfrm>
            <a:off x="502920" y="1847088"/>
            <a:ext cx="8138160" cy="2967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All data received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req.on('end', ()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parseAndRespond(rawBody, res);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req.on('error', (err)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res.writeHead(400, {'Content-Type':'application/json'});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res.end(JSON.stringify({ error: err.message }));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marL="0" indent="0">
              <a:buNone/>
            </a:pPr>
            <a:endParaRPr lang="en-US" sz="1100" dirty="0">
              <a:solidFill>
                <a:srgbClr val="DCDCA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DCDCA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server.listen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(3000);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75701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Error Handling in HTTP Servers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" y="1126294"/>
            <a:ext cx="3667447" cy="3560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Error Handling means detecting problems and sending an appropriate response to the client.</a:t>
            </a: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Why is it Important?</a:t>
            </a:r>
          </a:p>
          <a:p>
            <a:pPr lvl="1"/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Prevents application crashes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Helps users understand the problem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Makes applications reliable</a:t>
            </a:r>
          </a:p>
          <a:p>
            <a:pPr marL="628650" lvl="1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Improves user experience</a:t>
            </a: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Clr>
                <a:schemeClr val="accent1">
                  <a:lumMod val="50000"/>
                </a:schemeClr>
              </a:buClr>
              <a:buFont typeface="Courier New" panose="02070309020205020404" pitchFamily="49" charset="0"/>
              <a:buChar char="o"/>
            </a:pPr>
            <a:endParaRPr lang="en-IN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b="1" dirty="0">
                <a:latin typeface="Poppins" panose="00000500000000000000" pitchFamily="2" charset="0"/>
                <a:cs typeface="Poppins" panose="00000500000000000000" pitchFamily="2" charset="0"/>
              </a:rPr>
              <a:t>Simple Definition:</a:t>
            </a:r>
          </a:p>
          <a:p>
            <a:endParaRPr lang="en-IN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Error Handling is the process of detecting errors and responding with meaningful messages instead of crashing the application.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5940C6-B518-318E-52B4-C66E04CF4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233" y="1375556"/>
            <a:ext cx="4704447" cy="3061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201168" y="457200"/>
            <a:ext cx="41148" cy="566928"/>
          </a:xfrm>
          <a:prstGeom prst="rect">
            <a:avLst/>
          </a:prstGeom>
          <a:solidFill>
            <a:srgbClr val="073763"/>
          </a:solidFill>
          <a:ln/>
        </p:spPr>
      </p:sp>
      <p:sp>
        <p:nvSpPr>
          <p:cNvPr id="5" name="Text 2"/>
          <p:cNvSpPr/>
          <p:nvPr/>
        </p:nvSpPr>
        <p:spPr>
          <a:xfrm>
            <a:off x="292608" y="45720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37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Handling Errors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5488" y="1234440"/>
            <a:ext cx="8229600" cy="967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Easy Analogy: </a:t>
            </a:r>
          </a:p>
          <a:p>
            <a:pPr marL="0" indent="0">
              <a:buNone/>
            </a:pPr>
            <a:endParaRPr lang="en-US" sz="1200" b="1" dirty="0"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Error handling = safety net. </a:t>
            </a: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Catch errors before they crash. </a:t>
            </a:r>
          </a:p>
          <a:p>
            <a:pPr marL="0" indent="0"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 Return proper status. Log for later. Keep server running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45129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How to Use It: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3D1BE3-6209-FC93-B212-74770616C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331" y="2949365"/>
            <a:ext cx="4541914" cy="18899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504AC7A9-952F-F4A5-9DB8-89FFAC0AD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F5CBE233-C524-EB21-363C-B385B6F0C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8D0B657A-7336-19CA-8D73-A1E48E050EDB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What must you always call to complete an HTTP response?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48AF5B9D-0F7F-A10B-156B-42A8749F923B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res.write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res.writeHead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() </a:t>
            </a: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res.end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res.send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75F069A0-DCF7-EE55-78F4-88F035AB04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F3DA41C2-7C2D-E580-BE0B-BF24D8AD3401}"/>
              </a:ext>
            </a:extLst>
          </p:cNvPr>
          <p:cNvSpPr txBox="1"/>
          <p:nvPr/>
        </p:nvSpPr>
        <p:spPr>
          <a:xfrm>
            <a:off x="310950" y="3313725"/>
            <a:ext cx="6260400" cy="907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C.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res.end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()</a:t>
            </a:r>
            <a:endParaRPr 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23D757B0-83B5-5314-1292-D8ADB850D0C9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E85129B1-39AF-B63A-922D-2E5F6897A6FD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FD7CD420-4360-CFFF-7A89-CF9C91A9E8D5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res.end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() signals response complete. Client waits forever if you forget.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res.write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() is optional (for body).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res.writeHead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() is optional (for headers).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res.end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() is REQUIRED always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3421D953-BFFB-B552-C1C0-1733D0317D27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1246D09-D164-0606-FE2A-F3A332805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6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ED68BC71-4729-8546-8933-86BCA32EA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049466B2-0055-9405-A6B9-08FA662BB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600881BA-A0E3-5792-C754-CBCEA383274B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In what order must you call </a:t>
            </a:r>
            <a:r>
              <a:rPr lang="en-US" sz="1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res.writeHead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() and </a:t>
            </a:r>
            <a:r>
              <a:rPr lang="en-US" sz="1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res.write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()?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8C312F99-092A-2545-4406-1C7F6962ACE3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Aft>
                <a:spcPts val="300"/>
              </a:spcAft>
              <a:buSzPct val="100000"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Either order works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writeHead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first, then write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273239"/>
              </a:solidFill>
              <a:effectLst/>
              <a:uLnTx/>
              <a:uFillTx/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first, then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writeHead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need one or the other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40EBB46E-9ADB-8B1B-96B2-BC9BC75042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FC1A540F-C865-8DE1-94FC-08CB10CE921A}"/>
              </a:ext>
            </a:extLst>
          </p:cNvPr>
          <p:cNvSpPr txBox="1"/>
          <p:nvPr/>
        </p:nvSpPr>
        <p:spPr>
          <a:xfrm>
            <a:off x="310950" y="3313725"/>
            <a:ext cx="6260400" cy="907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writeHead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first, then write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C77B0784-E2C9-C989-687E-F32B4AC8FFFA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D48B712D-946F-DC70-E2C9-4F580DC94300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5DF876AB-16CC-7036-C599-DF4F25CB0327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HTTP response = status/headers first, then body.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writeHead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() sets status/headers and sends them. write() sends body. Can't change headers after write() starts.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AFC25AC4-33A9-C1E3-4EC5-86634C7F4F06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4C392BD-7488-0FB3-BD24-093C788D1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3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>
          <a:extLst>
            <a:ext uri="{FF2B5EF4-FFF2-40B4-BE49-F238E27FC236}">
              <a16:creationId xmlns:a16="http://schemas.microsoft.com/office/drawing/2014/main" id="{CE7A1C23-093E-8CB6-507E-75970F5E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>
            <a:extLst>
              <a:ext uri="{FF2B5EF4-FFF2-40B4-BE49-F238E27FC236}">
                <a16:creationId xmlns:a16="http://schemas.microsoft.com/office/drawing/2014/main" id="{52BA0845-D07B-59C2-2ABB-327EC6BD1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33">
            <a:extLst>
              <a:ext uri="{FF2B5EF4-FFF2-40B4-BE49-F238E27FC236}">
                <a16:creationId xmlns:a16="http://schemas.microsoft.com/office/drawing/2014/main" id="{54A01092-F1F6-BE84-B04A-AF3E2BF2AF34}"/>
              </a:ext>
            </a:extLst>
          </p:cNvPr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kumimoji="0" lang="e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 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What's the difference between req.url and </a:t>
            </a:r>
            <a:r>
              <a:rPr lang="en-US" sz="1200" kern="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req.method</a:t>
            </a: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?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28" name="Google Shape;328;p33">
            <a:extLst>
              <a:ext uri="{FF2B5EF4-FFF2-40B4-BE49-F238E27FC236}">
                <a16:creationId xmlns:a16="http://schemas.microsoft.com/office/drawing/2014/main" id="{A9976FF3-DE28-E2F2-9CF7-2932C550EAC3}"/>
              </a:ext>
            </a:extLst>
          </p:cNvPr>
          <p:cNvSpPr txBox="1"/>
          <p:nvPr/>
        </p:nvSpPr>
        <p:spPr>
          <a:xfrm>
            <a:off x="310900" y="1748350"/>
            <a:ext cx="8375900" cy="163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Aft>
                <a:spcPts val="300"/>
              </a:spcAft>
              <a:buSzPct val="100000"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         A.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url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path (what), method is verb (how)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thing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273239"/>
              </a:solidFill>
              <a:effectLst/>
              <a:uLnTx/>
              <a:uFillTx/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13716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method is path,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url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verb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1371600"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difference in practice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9" name="Google Shape;329;p33" title="question-and-answer-illustration-download-in-svg-png-gif-file-formats--answers-faq-comments-chatting-business-pack-people-illustrations-4257057.png">
            <a:extLst>
              <a:ext uri="{FF2B5EF4-FFF2-40B4-BE49-F238E27FC236}">
                <a16:creationId xmlns:a16="http://schemas.microsoft.com/office/drawing/2014/main" id="{01FF2636-9EA4-92D9-0FBD-C8DAFA52F8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>
            <a:extLst>
              <a:ext uri="{FF2B5EF4-FFF2-40B4-BE49-F238E27FC236}">
                <a16:creationId xmlns:a16="http://schemas.microsoft.com/office/drawing/2014/main" id="{A407BD1B-D23C-B7CA-91E0-6C6BDBEF8A75}"/>
              </a:ext>
            </a:extLst>
          </p:cNvPr>
          <p:cNvSpPr txBox="1"/>
          <p:nvPr/>
        </p:nvSpPr>
        <p:spPr>
          <a:xfrm>
            <a:off x="310950" y="3313725"/>
            <a:ext cx="6260400" cy="777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27323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 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kern="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100" dirty="0" err="1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url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path (what), method is verb (how)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2" name="Google Shape;332;p33">
            <a:extLst>
              <a:ext uri="{FF2B5EF4-FFF2-40B4-BE49-F238E27FC236}">
                <a16:creationId xmlns:a16="http://schemas.microsoft.com/office/drawing/2014/main" id="{0E968510-9698-8B3B-850E-46AB67047881}"/>
              </a:ext>
            </a:extLst>
          </p:cNvPr>
          <p:cNvGrpSpPr/>
          <p:nvPr/>
        </p:nvGrpSpPr>
        <p:grpSpPr>
          <a:xfrm>
            <a:off x="310900" y="3959263"/>
            <a:ext cx="6005825" cy="1076430"/>
            <a:chOff x="310900" y="3959263"/>
            <a:chExt cx="6005825" cy="1076430"/>
          </a:xfrm>
        </p:grpSpPr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107137E6-DBB9-D628-5404-4E27D26FA0BE}"/>
                </a:ext>
              </a:extLst>
            </p:cNvPr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1400" b="1" i="0" u="none" strike="noStrike" kern="0" cap="none" spc="0" normalizeH="0" baseline="0" noProof="0">
                  <a:ln>
                    <a:noFill/>
                  </a:ln>
                  <a:solidFill>
                    <a:srgbClr val="27323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B75C0B0A-B08F-661B-96FB-2587332DB8BF}"/>
                </a:ext>
              </a:extLst>
            </p:cNvPr>
            <p:cNvSpPr txBox="1"/>
            <p:nvPr/>
          </p:nvSpPr>
          <p:spPr>
            <a:xfrm>
              <a:off x="1607925" y="3959275"/>
              <a:ext cx="4708800" cy="1076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req.url='/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api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/users' tells you WHAT resource.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req.method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='POST' tells you WHAT ACTION. Both needed for routing. GET /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api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/users vs POST /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api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/users are completely different</a:t>
              </a:r>
              <a:endPara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" name="Text 0">
            <a:extLst>
              <a:ext uri="{FF2B5EF4-FFF2-40B4-BE49-F238E27FC236}">
                <a16:creationId xmlns:a16="http://schemas.microsoft.com/office/drawing/2014/main" id="{E61EC09B-5110-863C-5438-D00C6CFB74A9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7D61E0A-D6FC-2088-0094-0AF0D4B8B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lnSpc>
                <a:spcPct val="115000"/>
              </a:lnSpc>
              <a:buSzPts val="1100"/>
              <a:buChar char="●"/>
            </a:pPr>
            <a:r>
              <a:rPr lang="en-IN" sz="1100" b="1" dirty="0">
                <a:latin typeface="Poppins" panose="00000500000000000000" pitchFamily="2" charset="0"/>
                <a:cs typeface="Poppins" panose="00000500000000000000" pitchFamily="2" charset="0"/>
              </a:rPr>
              <a:t>Node.js Official Documentation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 : Comprehensive and official documentation for Node.js runtime, modules, APIs, file system, HTTP, Express integration basics, and backend development concepts.</a:t>
            </a:r>
            <a:b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🔗 </a:t>
            </a: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Node.js Official Docs</a:t>
            </a:r>
            <a:endParaRPr lang="en-IN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SzPts val="1100"/>
              <a:buChar char="●"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SzPts val="1100"/>
              <a:buChar char="●"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298450">
              <a:lnSpc>
                <a:spcPct val="115000"/>
              </a:lnSpc>
              <a:buSzPts val="1100"/>
              <a:buFontTx/>
              <a:buChar char="●"/>
            </a:pPr>
            <a:r>
              <a:rPr lang="en-US" sz="1100" b="1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Node.js HTTP : </a:t>
            </a:r>
            <a:r>
              <a:rPr lang="en-US" sz="1100" dirty="0">
                <a:solidFill>
                  <a:srgbClr val="2732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Official Node.js http module documentation. </a:t>
            </a:r>
            <a:r>
              <a:rPr lang="en-US" sz="1050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🔗 </a:t>
            </a:r>
            <a:r>
              <a:rPr lang="en-US" sz="1050" u="sng" dirty="0">
                <a:solidFill>
                  <a:srgbClr val="1C4587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https://nodejs.org/api/http.html</a:t>
            </a: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100" u="sng" dirty="0">
              <a:solidFill>
                <a:schemeClr val="hlin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IN" sz="1100" i="1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76FBA4A-CC92-CFF0-C0A3-3B8D0286268A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24</a:t>
            </a:r>
            <a:endParaRPr lang="en-US" sz="9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C17B327-4F0C-3D3A-8548-2B6018230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73152"/>
            <a:ext cx="566928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4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82" name="Google Shape;382;p44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4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400" b="1" i="0" u="none" strike="noStrike" kern="1200" cap="none" spc="0" normalizeH="0" baseline="0" noProof="0" dirty="0">
                <a:ln>
                  <a:noFill/>
                </a:ln>
                <a:solidFill>
                  <a:srgbClr val="17303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Course - Web Development - III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17303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4" name="Google Shape;384;p44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85" name="Google Shape;385;p44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welcome@krmangalam.edu.in</a:t>
              </a: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86" name="Google Shape;386;p44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44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7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Sohna Road,Gurugram,Haryana 122103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8" name="Google Shape;388;p44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4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Thanks</a:t>
            </a:r>
            <a:endParaRPr kumimoji="0" sz="3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For</a:t>
            </a:r>
            <a:endParaRPr kumimoji="0" sz="3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kumimoji="0" sz="3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E5F4146-6277-E219-3EC0-EA0CC9D1A5C4}"/>
              </a:ext>
            </a:extLst>
          </p:cNvPr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99999"/>
                </a:solidFill>
                <a:latin typeface="Poppins" pitchFamily="34" charset="0"/>
                <a:cs typeface="Poppins" pitchFamily="34" charset="-120"/>
              </a:rPr>
              <a:t>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BA345D-E966-0F03-C180-B1D242B7E6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5816" y="2210220"/>
            <a:ext cx="2837268" cy="283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1964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1915</Words>
  <Application>Microsoft Office PowerPoint</Application>
  <PresentationFormat>On-screen Show (16:9)</PresentationFormat>
  <Paragraphs>335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Consolas</vt:lpstr>
      <vt:lpstr>Courier New</vt:lpstr>
      <vt:lpstr>Poppins</vt:lpstr>
      <vt:lpstr>Roboto Slab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Love Porwal</cp:lastModifiedBy>
  <cp:revision>5</cp:revision>
  <dcterms:created xsi:type="dcterms:W3CDTF">2026-05-23T04:04:33Z</dcterms:created>
  <dcterms:modified xsi:type="dcterms:W3CDTF">2026-07-12T16:25:21Z</dcterms:modified>
</cp:coreProperties>
</file>