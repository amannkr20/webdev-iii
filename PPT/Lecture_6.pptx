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2"/>
  </p:notesMasterIdLst>
  <p:sldIdLst>
    <p:sldId id="256" r:id="rId3"/>
    <p:sldId id="302" r:id="rId4"/>
    <p:sldId id="303" r:id="rId5"/>
    <p:sldId id="304" r:id="rId6"/>
    <p:sldId id="257" r:id="rId7"/>
    <p:sldId id="259" r:id="rId8"/>
    <p:sldId id="267" r:id="rId9"/>
    <p:sldId id="260" r:id="rId10"/>
    <p:sldId id="269" r:id="rId11"/>
    <p:sldId id="271" r:id="rId12"/>
    <p:sldId id="295" r:id="rId13"/>
    <p:sldId id="325" r:id="rId14"/>
    <p:sldId id="296" r:id="rId15"/>
    <p:sldId id="275" r:id="rId16"/>
    <p:sldId id="322" r:id="rId17"/>
    <p:sldId id="323" r:id="rId18"/>
    <p:sldId id="324" r:id="rId19"/>
    <p:sldId id="286" r:id="rId20"/>
    <p:sldId id="28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996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6043-8EA3-AAC8-BDDE-8C90FFB3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EAF2-22A9-A026-9B31-A25448D64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2EC1C-21F4-7FE5-2B91-7BA8A57C6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B04BB-EDDD-E6D6-D6A5-756342F82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108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FECE-C18F-99D7-DED9-BF3B0167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5236E-42A4-BCD8-6B37-037354A68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00C0D-9AB2-6B76-2EE5-26DA5E6BB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C08A-2C2E-46A8-A460-4A2EF2491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709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D7A80778-26C3-C75F-B9B6-A37322BE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E49B97D5-B094-A121-B26E-3F29A9024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885C3E9-CF2B-427E-8E2F-24EFE23DF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4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E4BE3CF2-F4BE-3CAA-C548-E08288D6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3D0AD757-6EF7-CF0E-CC68-2CDFC23A5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EA412953-020C-F2D7-7BD7-957F0E4838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011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B4282B08-AE44-C0DF-DFAC-0085FB90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542C0777-9988-289A-A23E-84610E3C7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9996EE7F-C237-EDF5-1B5D-2AF934C5B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406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44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583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4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78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84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57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00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36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654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0654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901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36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0431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npmjs.com/package/dotenv" TargetMode="External"/><Relationship Id="rId4" Type="http://schemas.openxmlformats.org/officeDocument/2006/relationships/hyperlink" Target="https://nodejs.org/api/global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6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Process Object &amp; CLI</a:t>
              </a: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613E2B-77CD-E63B-B428-31E0B5C253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3"/>
            <a:ext cx="8551684" cy="2487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Understanding the Process Object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Process Properties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Understanding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process.argv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Understanding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process.env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Variables with </a:t>
            </a:r>
            <a:r>
              <a:rPr lang="en-US" sz="1200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process.env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process.argv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vs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process.env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  <a:p>
            <a:pPr marL="45720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FontTx/>
              <a:buChar char="●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If I open Google Maps without entering a destination, can it guide me anywhere?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8D18B-5679-A3FB-6C05-3CCBA4CCB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73" y="1189463"/>
            <a:ext cx="7591630" cy="39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149A-E671-CE5F-D14A-4073A2F5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E471A6-9123-6DAE-6505-C8D7CAAB6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9ADD83-14CF-43BE-C570-642A87BB88D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F9419A-72D1-3577-36C7-BEAB131E0377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BDA9785-84E4-BF20-407D-E4AA73ACAA88}"/>
              </a:ext>
            </a:extLst>
          </p:cNvPr>
          <p:cNvSpPr/>
          <p:nvPr/>
        </p:nvSpPr>
        <p:spPr>
          <a:xfrm>
            <a:off x="292608" y="457199"/>
            <a:ext cx="8138160" cy="917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Similarly, when we run a Node.js program, sometimes our program also needs information from us. We pass that information through the Command Line Interface (CLI).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210CEB1-F2A6-921E-E052-2BD921D07B0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5CFFE-6424-DFAE-7D24-19CC6A4C6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85" y="1612352"/>
            <a:ext cx="6473772" cy="353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3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the Process Object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1027C-EBCF-B94D-A9FC-F94F9C60D293}"/>
              </a:ext>
            </a:extLst>
          </p:cNvPr>
          <p:cNvSpPr txBox="1"/>
          <p:nvPr/>
        </p:nvSpPr>
        <p:spPr>
          <a:xfrm>
            <a:off x="555673" y="1140589"/>
            <a:ext cx="746994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Process Object is a built-in object in Node.js.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It provides information about the currently running application.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helps us: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Read command-line arguments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Access environment variables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Get current working directory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Exit the program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Process Object is a built-in Node.js object that provides information and control over the currently running program.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91955B-B2CB-8CC1-3E4C-CB758F2F3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263" y="2378167"/>
            <a:ext cx="3063505" cy="807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Process Object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17113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Process object = control center for your app.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Check version, detect OS, monitor memory, listen to events, control lifecycle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2D18DA-BF09-1775-A387-6CBFE9CB0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187" y="2267116"/>
            <a:ext cx="6463402" cy="2855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Object — Practical Examples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2344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23444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12344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426464"/>
            <a:ext cx="8412480" cy="308223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463040"/>
            <a:ext cx="8138160" cy="3351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require needed — process is 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console.log('Node version:', process.version);    // v20.11.0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console.log('Platform:    ', process.platform);   // linux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console.log('PID:         ', process.pid);        // 12345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console.log('Working dir: ', process.cwd());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Environment 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console.log('PATH:', process.env.PATH);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console.log('USER:', process.env.USER);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Listening to process 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process.on('exit', (code)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console.log(`Process exiting with code ${code}`);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Properties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127980-D836-6FF6-69CD-E4FA06DC0EA3}"/>
              </a:ext>
            </a:extLst>
          </p:cNvPr>
          <p:cNvSpPr txBox="1"/>
          <p:nvPr/>
        </p:nvSpPr>
        <p:spPr>
          <a:xfrm>
            <a:off x="443133" y="11996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Common Process Properties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7AF4CF2-D80F-AF4E-2B58-F870CC10A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61981"/>
              </p:ext>
            </p:extLst>
          </p:nvPr>
        </p:nvGraphicFramePr>
        <p:xfrm>
          <a:off x="1313688" y="2043786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131156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8386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02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process.argv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Command-line arguments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288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process.env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Environment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82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process.cwd</a:t>
                      </a: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Current working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98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process.pid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60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process.platform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21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process.version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Node.js 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00533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process.argv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97983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</a:t>
            </a: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an array that contains the command-line arguments passed when Node.js is started. It's how you make your scripts configurable from the terminal.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713EA5-76EA-998A-7FA4-1295AFB3C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762" y="2026099"/>
            <a:ext cx="2895851" cy="2920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process.argv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25554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= instructions from user.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Like command-line flags in Linux. Process reads what user wants, acts accordingly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AC2E08-410F-A6F9-C11E-6E3CD2C86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2379583"/>
            <a:ext cx="6675120" cy="2763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 — Practical Examples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 as greet.js and run from terminal: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7546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965960"/>
            <a:ext cx="8138160" cy="284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greet.js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args   = process.argv;          // full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  = args[2] || 'Student';  // 3rd element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course = args[3] || 'Node.js';  // 4th element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console.log(`Hello, ${name}!`);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console.log(`Welcome to ${course}.`);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console.log(`You passed ${args.length - 2} argument(s).`);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in terminal: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greet.js Alice 'Web Dev II'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Hello, Alice!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Welcome to Web Dev II.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You passed 2 argument(s).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62AE9-7337-33F1-4FD7-A308C2CD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556364C-4238-5024-ADF8-F1D67CCF5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255D818-0EB3-C495-402E-145058B1635F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6B6C24D-CDD3-BBA9-1475-9BB26395141A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4D70516-A5F4-13B7-60FF-FA43CAA760DF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</a:t>
            </a:r>
            <a:r>
              <a:rPr lang="en-US" sz="2000" b="1" dirty="0" err="1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process.env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E8D2F2-FE93-1C87-460D-4B72C2C89738}"/>
              </a:ext>
            </a:extLst>
          </p:cNvPr>
          <p:cNvSpPr/>
          <p:nvPr/>
        </p:nvSpPr>
        <p:spPr>
          <a:xfrm>
            <a:off x="475488" y="1097982"/>
            <a:ext cx="4736592" cy="3588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process.env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stores environment variables.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These are configuration values provided by the operating system or a .env file.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Database URL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API Keys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Secret Keys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Port Number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Why Use It: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Keep sensitive information secure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Avoid hardcoding values in your code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2F6F63-66D7-0035-4A56-C2460F506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739" y="2316780"/>
            <a:ext cx="2743438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4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Variables with process.env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04312"/>
            <a:ext cx="8412480" cy="1139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Environment variables store configuration outside your code.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They keep secrets (API keys, passwords) out of source code.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Access with: </a:t>
            </a:r>
            <a:r>
              <a:rPr lang="en-US" sz="12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process.env.VARIABLE_NAME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spcAft>
                <a:spcPts val="4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ALWAYS add .env to .gitignore — never commit secrets to Git!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6A766A9-79B9-6EEB-7A8A-38BEEC78DCF0}"/>
              </a:ext>
            </a:extLst>
          </p:cNvPr>
          <p:cNvSpPr/>
          <p:nvPr/>
        </p:nvSpPr>
        <p:spPr>
          <a:xfrm>
            <a:off x="365760" y="2356342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BA12384-CCD0-F8C6-C3E9-FC6DF72677FD}"/>
              </a:ext>
            </a:extLst>
          </p:cNvPr>
          <p:cNvSpPr/>
          <p:nvPr/>
        </p:nvSpPr>
        <p:spPr>
          <a:xfrm>
            <a:off x="502920" y="250475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98A3403-4DCA-12CA-B32F-E0FF534C12DA}"/>
              </a:ext>
            </a:extLst>
          </p:cNvPr>
          <p:cNvSpPr/>
          <p:nvPr/>
        </p:nvSpPr>
        <p:spPr>
          <a:xfrm>
            <a:off x="658368" y="250475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A4BCC46-48D4-FD57-7DD1-380CA04B4D8C}"/>
              </a:ext>
            </a:extLst>
          </p:cNvPr>
          <p:cNvSpPr/>
          <p:nvPr/>
        </p:nvSpPr>
        <p:spPr>
          <a:xfrm>
            <a:off x="813816" y="250475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6154EC9-DF9F-1E33-8613-4C37F6BE6A38}"/>
              </a:ext>
            </a:extLst>
          </p:cNvPr>
          <p:cNvSpPr/>
          <p:nvPr/>
        </p:nvSpPr>
        <p:spPr>
          <a:xfrm>
            <a:off x="365760" y="2626442"/>
            <a:ext cx="8412480" cy="2350706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IN" sz="1100" dirty="0">
              <a:solidFill>
                <a:schemeClr val="accent4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BEE5341-942D-9D90-9DEB-3EF46A853C0A}"/>
              </a:ext>
            </a:extLst>
          </p:cNvPr>
          <p:cNvSpPr/>
          <p:nvPr/>
        </p:nvSpPr>
        <p:spPr>
          <a:xfrm>
            <a:off x="502920" y="2852230"/>
            <a:ext cx="8138160" cy="19575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0D66C93-F1EC-AE6D-45B0-DEFFBF91BDC8}"/>
              </a:ext>
            </a:extLst>
          </p:cNvPr>
          <p:cNvSpPr/>
          <p:nvPr/>
        </p:nvSpPr>
        <p:spPr>
          <a:xfrm>
            <a:off x="594360" y="2647544"/>
            <a:ext cx="8046720" cy="2273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>
                <a:solidFill>
                  <a:schemeClr val="accent5"/>
                </a:solidFill>
                <a:latin typeface="Consolas" panose="020B0609020204030204" pitchFamily="49" charset="0"/>
              </a:rPr>
              <a:t>// Using .env file with </a:t>
            </a:r>
            <a:r>
              <a:rPr lang="en-IN" sz="1100" dirty="0" err="1">
                <a:solidFill>
                  <a:schemeClr val="accent5"/>
                </a:solidFill>
                <a:latin typeface="Consolas" panose="020B0609020204030204" pitchFamily="49" charset="0"/>
              </a:rPr>
              <a:t>dotenv</a:t>
            </a:r>
            <a:r>
              <a:rPr lang="en-IN" sz="1100" dirty="0">
                <a:solidFill>
                  <a:schemeClr val="accent5"/>
                </a:solidFill>
                <a:latin typeface="Consolas" panose="020B0609020204030204" pitchFamily="49" charset="0"/>
              </a:rPr>
              <a:t> package:</a:t>
            </a:r>
          </a:p>
          <a:p>
            <a:endParaRPr lang="en-IN" sz="11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IN" sz="11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npm</a:t>
            </a:r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install </a:t>
            </a:r>
            <a:r>
              <a:rPr lang="en-IN" sz="11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dotenv</a:t>
            </a:r>
            <a:endParaRPr lang="en-IN" sz="1100" dirty="0">
              <a:solidFill>
                <a:schemeClr val="accent4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chemeClr val="accent4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accent5"/>
                </a:solidFill>
                <a:latin typeface="Consolas" panose="020B0609020204030204" pitchFamily="49" charset="0"/>
              </a:rPr>
              <a:t>// Create .env file:  </a:t>
            </a:r>
          </a:p>
          <a:p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PORT=3000   </a:t>
            </a:r>
          </a:p>
          <a:p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DB_URL=</a:t>
            </a:r>
            <a:r>
              <a:rPr lang="en-IN" sz="11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mongodb</a:t>
            </a:r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://...</a:t>
            </a:r>
          </a:p>
          <a:p>
            <a:endParaRPr lang="en-IN" sz="11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accent5"/>
                </a:solidFill>
                <a:latin typeface="Consolas" panose="020B0609020204030204" pitchFamily="49" charset="0"/>
              </a:rPr>
              <a:t>// In your code:      </a:t>
            </a:r>
          </a:p>
          <a:p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require('</a:t>
            </a:r>
            <a:r>
              <a:rPr lang="en-IN" sz="11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dotenv</a:t>
            </a:r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').config()</a:t>
            </a:r>
          </a:p>
          <a:p>
            <a:endParaRPr lang="en-IN" sz="11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accent5"/>
                </a:solidFill>
                <a:latin typeface="Consolas" panose="020B0609020204030204" pitchFamily="49" charset="0"/>
              </a:rPr>
              <a:t>// Then access:       </a:t>
            </a:r>
          </a:p>
          <a:p>
            <a:r>
              <a:rPr lang="en-IN" sz="11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process.env.PORT</a:t>
            </a:r>
            <a:r>
              <a:rPr lang="en-IN" sz="1100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 // '3000'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 vs </a:t>
            </a:r>
            <a:r>
              <a:rPr lang="en-US" sz="2000" b="1" dirty="0" err="1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process.env</a:t>
            </a: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3116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ways to pass config: argv for per-run values, process.env for persistent/secret values. 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argv</a:t>
            </a: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visible in 'ps' (UNSAFE for secrets!). env hidden (SAFE for secrets!)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0DA31B-B530-1658-A188-563EDB70A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09" y="1956187"/>
            <a:ext cx="6604782" cy="3091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504AC7A9-952F-F4A5-9DB8-89FFAC0A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F5CBE233-C524-EB21-363C-B385B6F0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D0B657A-7336-19CA-8D73-A1E48E050ED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 is always at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process.argv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[0] and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process.argv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[1]?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48AF5B9D-0F7F-A10B-156B-42A8749F923B}"/>
              </a:ext>
            </a:extLst>
          </p:cNvPr>
          <p:cNvSpPr txBox="1"/>
          <p:nvPr/>
        </p:nvSpPr>
        <p:spPr>
          <a:xfrm>
            <a:off x="310900" y="1755384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arguments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path and script path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variables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values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75F069A0-DCF7-EE55-78F4-88F035AB04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34809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3DA41C2-7C2D-E580-BE0B-BF24D8AD3401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 path and script path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23D757B0-83B5-5314-1292-D8ADB850D0C9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E85129B1-39AF-B63A-922D-2E5F6897A6FD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FD7CD420-4360-CFFF-7A89-CF9C91A9E8D5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process.argv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[0] is ALWAYS path to node executable.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[1] is ALWAYS path to script. User arguments start at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[2]. Never changes.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3421D953-BFFB-B552-C1C0-1733D0317D27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1246D09-D164-0606-FE2A-F3A33280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8327A53A-B325-F65B-EB06-42AF85670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78DAC52B-05E0-BC61-90FD-F57E9F695D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0EC10720-80E8-675F-D6B7-8ADF198A753A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How do you skip the first two elements of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process.argv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1C776F34-B632-C2D8-D51C-CE7CFCA61280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[2]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process.argv.slice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(2)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Destructure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[,, ...rest]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b and c work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2B31CDC3-C3A7-A7B7-3B40-F8E9E2BA35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33051500-9533-8EE1-62B0-E7EF3B56E371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b and c work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759E7CFE-CEDD-27E3-B226-567DAE6B7A75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41023AB5-71B2-4815-852C-9488CD7CD20E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242DA7B8-023D-8754-C3E2-B54CBC4701E0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process.argv.slice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(2) returns new array from index 2 onward.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Destructuring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[,, ...rest] =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process.argv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achieves same thing. Both valid, choose what's readable.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A3905DED-D917-5FB5-E3A0-5F8E5DFFDE11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9970725-451F-E7CC-CFE1-7BDFA6B8E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23158D32-6067-FC53-BB9D-A455A2A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4F030D63-9AB3-3666-FC9F-AE37D3BDF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BEC3B7C9-437A-9CF1-37F4-9C6F43360E82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 type are all values in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process.argv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51120B9F-F891-AC89-AD6A-638C49CCE719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Boolean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/>
                <a:cs typeface="Poppins" pitchFamily="34" charset="-120"/>
                <a:sym typeface="Poppins"/>
              </a:rPr>
              <a:t>Array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3798D5B1-D83E-54C3-07AE-1C660A6E07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001E2870-6D3B-37E3-ADEC-3FD3485B083D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Strings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CDC1C60A-FB5D-EC6D-A115-30B2D187D05A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F3ACBBC2-F60C-A05C-8447-57006C5F5945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D612C29C-544D-D184-7A20-702F2070E312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All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process.argv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values are STRINGS, even if you pass numbers. 'node app.js 42' gives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argv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[2]='42' (string). Must convert: Number('42') or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parseInt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('42')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D437EE8F-E6EA-5BA6-27D1-BDAFB1DEB6EE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B30049B-ED8C-73FB-1618-FCC7DD90B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5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Node.js </a:t>
            </a:r>
            <a:r>
              <a:rPr lang="en-US" sz="1100" b="1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Globals</a:t>
            </a: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global objects documentation. </a:t>
            </a:r>
            <a:r>
              <a:rPr lang="en-US" sz="1050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🔗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/>
              </a:rPr>
              <a:t>https://nodejs.org/api/globals.html</a:t>
            </a:r>
            <a:endParaRPr lang="en-US" sz="1050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endParaRPr lang="en-US" sz="1050" b="1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endParaRPr lang="en-US" sz="1050" b="1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Process Object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process object full API reference. </a:t>
            </a:r>
            <a:r>
              <a:rPr lang="en-US" sz="1050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🔗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https://nodejs.org/api/process.html</a:t>
            </a:r>
            <a:b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050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endParaRPr lang="en-US" sz="1050" u="sng" dirty="0">
              <a:solidFill>
                <a:srgbClr val="1C4587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457200" indent="-298450">
              <a:lnSpc>
                <a:spcPct val="115000"/>
              </a:lnSpc>
              <a:buClr>
                <a:schemeClr val="bg2">
                  <a:lumMod val="10000"/>
                </a:schemeClr>
              </a:buClr>
              <a:buSzPts val="1100"/>
              <a:buFontTx/>
              <a:buChar char="●"/>
            </a:pP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100" b="1" dirty="0" err="1">
                <a:latin typeface="Poppins" pitchFamily="34" charset="0"/>
                <a:ea typeface="Poppins" pitchFamily="34" charset="-122"/>
                <a:cs typeface="Poppins" pitchFamily="34" charset="-120"/>
              </a:rPr>
              <a:t>dotenv</a:t>
            </a: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Package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Managing environment variables with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dotenv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https://www.npmjs.com/package/dotenv</a:t>
            </a:r>
            <a:endParaRPr lang="en-US" sz="1100" dirty="0"/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18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38C0BBB-BEC1-9C12-F2D2-34AA317B5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19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A345D-E966-0F03-C180-B1D242B7E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816" y="2210220"/>
            <a:ext cx="2837268" cy="28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4567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1200</Words>
  <Application>Microsoft Office PowerPoint</Application>
  <PresentationFormat>On-screen Show (16:9)</PresentationFormat>
  <Paragraphs>213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9</cp:revision>
  <dcterms:created xsi:type="dcterms:W3CDTF">2026-05-23T04:03:08Z</dcterms:created>
  <dcterms:modified xsi:type="dcterms:W3CDTF">2026-07-12T13:57:38Z</dcterms:modified>
</cp:coreProperties>
</file>