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7"/>
  </p:notesMasterIdLst>
  <p:sldIdLst>
    <p:sldId id="256" r:id="rId3"/>
    <p:sldId id="302" r:id="rId4"/>
    <p:sldId id="303" r:id="rId5"/>
    <p:sldId id="257" r:id="rId6"/>
    <p:sldId id="258" r:id="rId7"/>
    <p:sldId id="259" r:id="rId8"/>
    <p:sldId id="295" r:id="rId9"/>
    <p:sldId id="296" r:id="rId10"/>
    <p:sldId id="312" r:id="rId11"/>
    <p:sldId id="313" r:id="rId12"/>
    <p:sldId id="315" r:id="rId13"/>
    <p:sldId id="260" r:id="rId14"/>
    <p:sldId id="262" r:id="rId15"/>
    <p:sldId id="298" r:id="rId16"/>
    <p:sldId id="299" r:id="rId17"/>
    <p:sldId id="300" r:id="rId18"/>
    <p:sldId id="316" r:id="rId19"/>
    <p:sldId id="317" r:id="rId20"/>
    <p:sldId id="311" r:id="rId21"/>
    <p:sldId id="318" r:id="rId22"/>
    <p:sldId id="319" r:id="rId23"/>
    <p:sldId id="320" r:id="rId24"/>
    <p:sldId id="286" r:id="rId25"/>
    <p:sldId id="28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11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7B0ACE48-5C62-8B4B-9F6B-F8309A0F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D303A5FD-19CC-9464-9819-99BCF99EB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D2DAA20-CD88-90DC-F20E-30E938CC4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014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E5CC7DCD-54E4-34E2-45F6-724215AC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1F06E0E8-74A4-9BB4-2359-E09ECF6D2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2ED3C5C3-4B8C-0F6B-83A8-3D42823D0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846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3A685D52-7A2D-758E-DEAC-FF172929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D5BB08E9-6133-B4AA-AF8F-721BB5A63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44549DA1-94DB-546D-900A-D8E04030C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37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48A2AABD-5734-52D9-B929-CB5C40FE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C2516E97-32B0-188C-E97E-C71B69B27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81A63584-2E2D-9F4C-4B22-B04569551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447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582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369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914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770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58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98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9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72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33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713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410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8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2893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npmjs.com/" TargetMode="External"/><Relationship Id="rId5" Type="http://schemas.openxmlformats.org/officeDocument/2006/relationships/hyperlink" Target="https://www.freecodecamp.org/news/tag/node-js/?utm_source=chatgpt.com" TargetMode="External"/><Relationship Id="rId4" Type="http://schemas.openxmlformats.org/officeDocument/2006/relationships/hyperlink" Target="https://www.w3schools.com/nodejs/?utm_source=chatgpt.co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</a:t>
              </a:r>
              <a:r>
                <a:rPr lang="en" sz="2700" b="1" kern="0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3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Node.js Runtime &amp; NPM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007981-6FCD-D039-5F96-D8DC0E5BE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3"/>
            <a:ext cx="8551684" cy="2986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Installation of Node.js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JavaScript with Node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Introduction to NPM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NPM Registry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 err="1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package.json</a:t>
            </a:r>
            <a:endParaRPr lang="en-US" sz="12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Installing Packages (Local vs Global Packages)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package-</a:t>
            </a:r>
            <a:r>
              <a:rPr lang="en-US" sz="1200" dirty="0" err="1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lock.json</a:t>
            </a:r>
            <a:endParaRPr lang="en-US" sz="12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Useful NPM Commands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6073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Can You Run a Car Without an Engine?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79D91-B20D-4D16-C046-C8153C7B4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5365"/>
            <a:ext cx="9144000" cy="34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Installation of Node.js </a:t>
            </a:r>
          </a:p>
        </p:txBody>
      </p:sp>
      <p:sp>
        <p:nvSpPr>
          <p:cNvPr id="9" name="Text 6"/>
          <p:cNvSpPr/>
          <p:nvPr/>
        </p:nvSpPr>
        <p:spPr>
          <a:xfrm>
            <a:off x="365760" y="1138076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installation brings JavaScript runtime to your computer. It's the gateway to backend development — without it, you can only write frontend code.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34540"/>
            <a:ext cx="20046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Key Points: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321169"/>
            <a:ext cx="4206240" cy="2461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Download from nodejs.org (choose LTS version — most stable)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Run installer (Windows .msi, macOS .pkg, Linux package manager)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npm (Node Package Manager) comes automatically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Verify: node --version and npm --version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Now you can run any JavaScript on your computer</a:t>
            </a: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DBD803-8E54-BF9D-E9F0-66338DF7B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812" y="1977155"/>
            <a:ext cx="4037428" cy="3082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Install Node.js?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Use Case 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3931920" cy="682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unlocks backend development. You can now write server code, build APIs, create CLI tools, all in JavaScript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" y="2482596"/>
            <a:ext cx="21797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 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" y="255768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Node.js, you're limited to browser JavaScript (frontend only). With Node.js, you can build complete full-stack applications in JavaScript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09DD5E-23BF-B38A-B263-BD2A91E6A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205" y="1214042"/>
            <a:ext cx="4435272" cy="3543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Installing Node.js Step-by-Step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1D09CB-0466-5B8F-1E18-EE5131612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96" y="1078993"/>
            <a:ext cx="8138159" cy="3968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Verifying Node.js Installation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these commands in your terminal after installation: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26609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Node.js 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v20.11.0  (your version may differ)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npm 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10.2.4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 Node.js interactive shell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 + 2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4D854F43-62B0-25E8-0760-C61D4620C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Running JavaScript with Node.js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first Node.js script — save as hello.js: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console.log('Hello, Node.js!');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a variable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'Web Development II';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console.log(`Welcome to ${name}`);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greet(studentName)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`Hello, ${studentName}! Ready to learn Node.js?`;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console.log(greet('Alice'));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it: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hello.js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NPM?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6592F7-FFCF-0B23-7096-BE7261940566}"/>
              </a:ext>
            </a:extLst>
          </p:cNvPr>
          <p:cNvSpPr txBox="1"/>
          <p:nvPr/>
        </p:nvSpPr>
        <p:spPr>
          <a:xfrm>
            <a:off x="450168" y="1182892"/>
            <a:ext cx="65414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NPM (Node Package Manager)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is the world's largest software library for JavaScript.</a:t>
            </a: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>
              <a:buNone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lets you install, manage, and share reusable code packages (libraries). </a:t>
            </a:r>
          </a:p>
          <a:p>
            <a:pPr>
              <a:buNone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are 2M+ packages available</a:t>
            </a: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helps developers: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Install packages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Update packages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Remove packages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Share their own packages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NPM is a tool used to install and manage JavaScript packages.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418769-B106-69EC-5AD6-BF2232C00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69" y="2497015"/>
            <a:ext cx="3596711" cy="1403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NPM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Use Case 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7" y="1527048"/>
            <a:ext cx="4296977" cy="810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npm, you'd code everything from scratch. npm gives you instant access to libraries solving every problem imaginable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482421"/>
            <a:ext cx="38538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 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7" y="2858733"/>
            <a:ext cx="4922989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(50M+ downloads/week) = web server in one command.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 = database toolkit.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Axios = HTTP requests. All instantly available via npm</a:t>
            </a:r>
            <a:endParaRPr lang="en-US" sz="1200" dirty="0"/>
          </a:p>
        </p:txBody>
      </p:sp>
      <p:pic>
        <p:nvPicPr>
          <p:cNvPr id="16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46879FF4-E94B-B549-8D5F-24F247ECAD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0948" y="2858733"/>
            <a:ext cx="3001612" cy="20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 Registry — What is it?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998802"/>
            <a:ext cx="8412480" cy="157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 npm registry is a public online database of JavaScript packages.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Located at: https://www.npmjs.com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Anyone can publish a package to the registry.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Packages can be: libraries, frameworks, CLI tools, utilities.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Examples of popular packages: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54D5C8-1D47-2D5B-E9F0-8C5DB3D8E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471518"/>
              </p:ext>
            </p:extLst>
          </p:nvPr>
        </p:nvGraphicFramePr>
        <p:xfrm>
          <a:off x="1419313" y="2698847"/>
          <a:ext cx="6305374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372">
                  <a:extLst>
                    <a:ext uri="{9D8B030D-6E8A-4147-A177-3AD203B41FA5}">
                      <a16:colId xmlns:a16="http://schemas.microsoft.com/office/drawing/2014/main" val="1456865723"/>
                    </a:ext>
                  </a:extLst>
                </a:gridCol>
                <a:gridCol w="3942002">
                  <a:extLst>
                    <a:ext uri="{9D8B030D-6E8A-4147-A177-3AD203B41FA5}">
                      <a16:colId xmlns:a16="http://schemas.microsoft.com/office/drawing/2014/main" val="2612312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Package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Package 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414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Express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web framework (50M+ weekly downloads)</a:t>
                      </a:r>
                      <a:endParaRPr lang="en-US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3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React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UI library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nodemon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auto-restart development tool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18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mongoose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MongoDB ODM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7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dotenv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environment variable loader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3254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93834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package.json?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921434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package.json is a JSON file in your project root that describes your project and lists all its dependencies. It's like a resume for your Node.js project.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2FDE5-469E-E6FF-5132-364AE39C6D26}"/>
              </a:ext>
            </a:extLst>
          </p:cNvPr>
          <p:cNvSpPr txBox="1"/>
          <p:nvPr/>
        </p:nvSpPr>
        <p:spPr>
          <a:xfrm>
            <a:off x="365760" y="185853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Why Important: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53070-249E-9188-04A9-CCEC8DB66D88}"/>
              </a:ext>
            </a:extLst>
          </p:cNvPr>
          <p:cNvSpPr txBox="1"/>
          <p:nvPr/>
        </p:nvSpPr>
        <p:spPr>
          <a:xfrm>
            <a:off x="365760" y="2340917"/>
            <a:ext cx="25181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1200" dirty="0">
                <a:latin typeface="Poppins" panose="00000500000000000000" pitchFamily="2" charset="0"/>
                <a:cs typeface="Poppins" panose="00000500000000000000" pitchFamily="2" charset="0"/>
              </a:rPr>
              <a:t>Collaboration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Deployment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1200" dirty="0">
                <a:latin typeface="Poppins" panose="00000500000000000000" pitchFamily="2" charset="0"/>
                <a:cs typeface="Poppins" panose="00000500000000000000" pitchFamily="2" charset="0"/>
              </a:rPr>
              <a:t>Version management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1200" dirty="0">
                <a:latin typeface="Poppins" panose="00000500000000000000" pitchFamily="2" charset="0"/>
                <a:cs typeface="Poppins" panose="00000500000000000000" pitchFamily="2" charset="0"/>
              </a:rPr>
              <a:t>Automation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947C04-66FF-9197-ABB2-F3281F34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945" y="1740609"/>
            <a:ext cx="4946855" cy="3206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Creating &amp; Using package.json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package.json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= project blueprint.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Lists all ingredients (packages) your app needs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226214"/>
            <a:ext cx="46564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How to Use It: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5226148" cy="1923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init -y (create with defaults)</a:t>
            </a:r>
            <a:endParaRPr lang="en-US" sz="11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 manually or npm install &lt;package&gt; (adds to dependencies)</a:t>
            </a:r>
            <a:endParaRPr lang="en-US" sz="11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package gets entry: "express": "^4.18.2"</a:t>
            </a:r>
            <a:endParaRPr lang="en-US" sz="11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package.json, others run npm install to recreate setup</a:t>
            </a:r>
            <a:endParaRPr lang="en-US" sz="11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commit node_modules, only package.json + package-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lock.json</a:t>
            </a:r>
            <a:endParaRPr lang="en-US" sz="11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</p:txBody>
      </p:sp>
      <p:pic>
        <p:nvPicPr>
          <p:cNvPr id="11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28EEB92D-D257-C1E7-5EB8-17D6CD0C07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2873027"/>
            <a:ext cx="3001612" cy="20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 init — Creating a New Project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Initialise a project using npm init: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Interactive setup — asks questions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package name: (my-app)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version: (1.0.0)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description: My Node.js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entry point: (index.js)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command: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author: Alice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license: (ISC)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questions — use defaults for everything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package.json instantly with defaults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what was 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package.json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Installing Packages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npm install commands: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and save to 'dependencies' (needed in production)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mongoose dotenv cors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as 'devDependency' (dev tools only)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--save-dev nodemon jest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shorthand: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-D nodemon jest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a specific 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express@4.18.2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all deps listed in package.json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globally (available in any project)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</a:t>
            </a:r>
            <a:r>
              <a:rPr lang="en-US" sz="1100" dirty="0" err="1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nodemon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vs Global Packages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" y="12344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Local Package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737360"/>
            <a:ext cx="3840480" cy="2171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Installed in node_modules/ inside the project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Listed in package.json dependencies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available in that project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via package.json (not node_modules)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for: express, mongoose, axios, dotenv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Install: npm install &lt;package&gt;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83480" y="12344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Global Package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83480" y="1737360"/>
            <a:ext cx="3840480" cy="2093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Installed in system-wide npm directory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 as CLI commands anywhere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listed in package.json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Must be installed separately on each machine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for: nodemon, create-react-app, eslint</a:t>
            </a:r>
            <a:endParaRPr lang="en-US" sz="1200" dirty="0"/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Install: npm install -g &lt;package&gt;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package-lock.json — Why It Exists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429926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package-lock.json is automatically generated by npm install.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It records the EXACT version of every installed package and all its sub-dependencies.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Ensures every developer on the team installs identical versions.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Prevents 'works on my machine' problems caused by version drift.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Should ALWAYS be committed to Git — never add to .gitignore.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package.json = what you want (ranges).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package-lock.json = what you actually got (exact versions).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AAF1A6-1E82-46E1-100B-020CEEB70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205" y="1207008"/>
            <a:ext cx="4435272" cy="3543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Useful NPM Commands — Quick Reference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365760" y="1170432"/>
          <a:ext cx="8412480" cy="365760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Command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init -y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Create package.json with defaults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install &lt;pkg&gt;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Install package + save to dependencies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install -D &lt;pkg&gt;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Install as devDependency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install -g &lt;pkg&gt;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Install globally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uninstall &lt;pkg&gt;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Remove a package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update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 all packages within SemVer ranges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list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List installed packages in current project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list -g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List globally installed packages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outdated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Check which packages have newer versions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run &lt;script&gt;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 a script defined in package.json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audit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Check for known security vulnerabilities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npm cache clean --force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Clear the npm cache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337EBB20-525C-43CB-718F-D3DA1F47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259A0137-A9AE-056D-EA15-6BE4A54C6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73FDFE9-C69A-247E-F608-5114F785E9EF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What command installs a package as </a:t>
            </a:r>
            <a:r>
              <a:rPr lang="en-US" sz="1100" kern="0" dirty="0" err="1">
                <a:solidFill>
                  <a:srgbClr val="000000"/>
                </a:solidFill>
                <a:cs typeface="Arial"/>
                <a:sym typeface="Arial"/>
              </a:rPr>
              <a:t>devDependency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C9E7EBB8-A749-987D-FBB6-B16B4393569E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install package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install --save-dev package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install -g package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 package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21609D07-E784-1627-5FB3-46DEA8235E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9FBD886-A4FF-EC18-D2FB-88169897B8BE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install --save-dev package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CCFE47B1-D2FA-360F-8A93-798EEFA5260D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BADBA1B1-698C-AFCB-A19A-162F45C754BF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DE2B91F1-DF92-9F7D-5C45-671EEF720F0D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devDependencies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are for development only (jest for testing,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nodemon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for auto-restart). Production deployment skips them.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npm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install -D is shorthand.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FDFCBC9C-FFF4-AFB7-46BC-786AA52FF3A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D87DD1E-549B-2080-BC4E-ED017B42B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8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5F5494DA-E95B-EFEF-0181-F136EB76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31649E39-6BD6-1D5B-F809-0CD91DACA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500ACE7-6912-0790-1D78-F08BF66BFC93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What does caret (^) in ^4.18.2 allow?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D8A5C3D5-DF6D-F16F-F4BC-C9E5069589DD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version 4.18.2 exactly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4.x.x version up to &lt;5.0.0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version after 4.18.2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4.18.3 and above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60DF4FAE-6AD3-F84C-FE2F-72BEE4080F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3534B9A1-889B-D4CF-9A42-D2E653718C9A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4.x.x version up to &lt;5.0.0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D4FE4346-A068-CCF3-EABB-EC6D70321023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9C19A8D3-60B1-8CC4-C6ED-A95649D8784E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E8E04DC4-7665-62DF-5DA7-A6D115DA5B06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Caret allows MINOR and PATCH updates. ^4.18.2 accepts 4.19.0, 4.20.0, etc., but not 5.0.0 (breaking change). Safe for getting new features while avoiding breaks.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D79BF3A9-2A13-3E84-A87C-A3817C01D31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253DDBC-A89F-382B-ECE7-956D22DB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9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0FE1B6F4-4DC2-400E-1BE5-BC9F0490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E9D14067-025F-AA3A-70FE-F84E2C4944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60E02A8D-137C-A98F-9CFE-661BAAEA439F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Why should you NOT commit </a:t>
            </a:r>
            <a:r>
              <a:rPr lang="en-US" sz="1100" kern="0" dirty="0" err="1">
                <a:solidFill>
                  <a:srgbClr val="000000"/>
                </a:solidFill>
                <a:cs typeface="Arial"/>
                <a:sym typeface="Arial"/>
              </a:rPr>
              <a:t>node_modules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 to GitHub?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3E517767-3680-F0FE-9816-5DB724763A48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too big (100MB+) and wastes storage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install recreates it anyway from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package.json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a and b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real reason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A93E03E5-A17A-9EE1-BE68-3957CC1838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D325E41E-FF83-00B2-89D7-9E08CE32E882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a and b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232DE5A7-DB54-314D-1C34-3C6CEA64C996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011C793D-4AB3-CBD5-3E9A-82F35A2E40F7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5FDEBBA4-CEE0-6901-B260-0EC6F6F1C6BC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node_modules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can be 100MB+, wasting bandwidth. Plus it's redundant — anyone with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package.json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can run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npm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install to recreate identical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node_modules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. Always add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node_modules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to .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gitignore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DF8B2738-3842-19BC-8420-E94E74F37EB8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3D1A22E-BF49-6E8C-4AB5-1C1BEF430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2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402B67F4-797E-2BA2-699D-F012AFA3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6DD7A5AD-602E-9FD6-B9F8-858455008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DD30B921-102E-E666-AC85-333C409BE526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What's the difference between </a:t>
            </a:r>
            <a:r>
              <a:rPr lang="en-US" sz="1100" kern="0" dirty="0" err="1">
                <a:solidFill>
                  <a:srgbClr val="000000"/>
                </a:solidFill>
                <a:cs typeface="Arial"/>
                <a:sym typeface="Arial"/>
              </a:rPr>
              <a:t>package.json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 and package-</a:t>
            </a:r>
            <a:r>
              <a:rPr lang="en-US" sz="1100" kern="0" dirty="0" err="1">
                <a:solidFill>
                  <a:srgbClr val="000000"/>
                </a:solidFill>
                <a:cs typeface="Arial"/>
                <a:sym typeface="Arial"/>
              </a:rPr>
              <a:t>lock.json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F0271916-8429-C1F8-C3FA-7DFEB3E21D09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package.json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lists version ranges, package-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lock.json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locks exact versions installed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 identical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package-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lock.json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outdated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one is needed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462D998A-CEEB-DEF3-6670-24DDCB0B3F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DAD50FFB-053B-FB4E-0D57-080893A1C926}"/>
              </a:ext>
            </a:extLst>
          </p:cNvPr>
          <p:cNvSpPr txBox="1"/>
          <p:nvPr/>
        </p:nvSpPr>
        <p:spPr>
          <a:xfrm>
            <a:off x="310950" y="3313725"/>
            <a:ext cx="6260400" cy="90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noProof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IN" sz="1100" kern="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package.json</a:t>
            </a:r>
            <a:r>
              <a:rPr lang="en-I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lists version ranges, package-</a:t>
            </a:r>
            <a:r>
              <a:rPr lang="en-IN" sz="1100" kern="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lock.json</a:t>
            </a:r>
            <a:r>
              <a:rPr lang="en-I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locks exact versions installed</a:t>
            </a:r>
          </a:p>
          <a:p>
            <a:pPr lvl="0">
              <a:buClr>
                <a:srgbClr val="000000"/>
              </a:buClr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67EC563B-F18C-CC7A-0499-0FB317BAB488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800C8EEB-1356-0203-468F-B5227F6BA00A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7B0B3643-673F-D80A-CD0F-AD9874FEE80C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package.json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: "^4.18.2" (get latest 4.x). package-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lock.json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: records exactly what was installed (4.18.2, not 4.19.0). Both committed to Git. Ensures reproducible builds.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E936596F-5222-56EE-E347-6400CA93C88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3BE3A2A-118D-70B6-3A56-27F336E4C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3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W3Schools – Node.js Tutorial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Beginner-friendly Node.js tutorials with easy explanations, examples, and hands-on practice for backend development fundamentals.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W3Schools Node.js Tutorial</a:t>
            </a:r>
            <a:endParaRPr lang="en-US"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freeCodeCamp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– Node.js Course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Free practical tutorials and project-based learning resources for Node.js, Express.js, REST APIs, and backend development.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freeCodeCamp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 Node.js Resources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b="1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Docs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documentation and CLI reference.</a:t>
            </a:r>
          </a:p>
          <a:p>
            <a:pPr marL="158750"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https://docs.npmjs.com/</a:t>
            </a:r>
            <a:endParaRPr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23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257BA9A-322D-ED06-C150-AC0E9A9055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24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88817-0A41-9C90-E81F-FFC7F19975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1805</Words>
  <Application>Microsoft Office PowerPoint</Application>
  <PresentationFormat>On-screen Show (16:9)</PresentationFormat>
  <Paragraphs>309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9</cp:revision>
  <dcterms:created xsi:type="dcterms:W3CDTF">2026-05-19T08:42:25Z</dcterms:created>
  <dcterms:modified xsi:type="dcterms:W3CDTF">2026-07-12T18:54:06Z</dcterms:modified>
</cp:coreProperties>
</file>