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1" r:id="rId2"/>
  </p:sldMasterIdLst>
  <p:notesMasterIdLst>
    <p:notesMasterId r:id="rId31"/>
  </p:notesMasterIdLst>
  <p:sldIdLst>
    <p:sldId id="256" r:id="rId3"/>
    <p:sldId id="304" r:id="rId4"/>
    <p:sldId id="305" r:id="rId5"/>
    <p:sldId id="306" r:id="rId6"/>
    <p:sldId id="257" r:id="rId7"/>
    <p:sldId id="295" r:id="rId8"/>
    <p:sldId id="260" r:id="rId9"/>
    <p:sldId id="296" r:id="rId10"/>
    <p:sldId id="263" r:id="rId11"/>
    <p:sldId id="297" r:id="rId12"/>
    <p:sldId id="266" r:id="rId13"/>
    <p:sldId id="268" r:id="rId14"/>
    <p:sldId id="298" r:id="rId15"/>
    <p:sldId id="300" r:id="rId16"/>
    <p:sldId id="299" r:id="rId17"/>
    <p:sldId id="301" r:id="rId18"/>
    <p:sldId id="269" r:id="rId19"/>
    <p:sldId id="270" r:id="rId20"/>
    <p:sldId id="302" r:id="rId21"/>
    <p:sldId id="272" r:id="rId22"/>
    <p:sldId id="273" r:id="rId23"/>
    <p:sldId id="303" r:id="rId24"/>
    <p:sldId id="322" r:id="rId25"/>
    <p:sldId id="323" r:id="rId26"/>
    <p:sldId id="324" r:id="rId27"/>
    <p:sldId id="325" r:id="rId28"/>
    <p:sldId id="286" r:id="rId29"/>
    <p:sldId id="287" r:id="rId3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tableStyles" Target="tableStyles.xml"/><Relationship Id="rId8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697146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e93fc7151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e93fc7151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8B680F-5E8C-2F6B-A07D-98375B8FD4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149AEA-7895-7929-B88D-A4A47BECD5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B74E88-A4E4-BE10-DD04-B3B9C9FB87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80FD01-F951-2B0F-990F-AC25C477B2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36179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4FED62-74F7-111C-05BB-8654B6A8A3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0491BB-9AC2-58E9-A719-A073D6F4F5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50F6F7-3478-B416-7ACD-D008A0C5DE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9B41C0-EFC4-A9CA-1727-EA2EED3249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785052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EC925E-C289-B498-78A9-F06225013B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B56645-4F93-B494-116B-97559625A8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6FF366-73AC-4BDB-C98F-E1623E1E35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AC409A-81BD-0264-52DE-33F120379EF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190726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4E1B94-9832-89AA-AE16-1154187B3F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5BF29E-1BFF-FEA1-60EE-D893D47E67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0A831A-F914-16FA-4B1F-34A79F8955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1959BE-BF4A-BC91-285D-AB826C92FDE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895760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586DFA-F69A-A133-796A-E9EB0CA1EC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D11D1D-9364-5637-B75B-181629EB72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6641FD-314A-4C10-937B-B92C0C6E85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4364E4-CD7C-4756-66DC-EA5404A0BE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272507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">
          <a:extLst>
            <a:ext uri="{FF2B5EF4-FFF2-40B4-BE49-F238E27FC236}">
              <a16:creationId xmlns:a16="http://schemas.microsoft.com/office/drawing/2014/main" id="{D7A80778-26C3-C75F-B9B6-A37322BEF6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3e93fc7151a_0_96:notes">
            <a:extLst>
              <a:ext uri="{FF2B5EF4-FFF2-40B4-BE49-F238E27FC236}">
                <a16:creationId xmlns:a16="http://schemas.microsoft.com/office/drawing/2014/main" id="{E49B97D5-B094-A121-B26E-3F29A9024E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" name="Google Shape;323;g3e93fc7151a_0_96:notes">
            <a:extLst>
              <a:ext uri="{FF2B5EF4-FFF2-40B4-BE49-F238E27FC236}">
                <a16:creationId xmlns:a16="http://schemas.microsoft.com/office/drawing/2014/main" id="{F885C3E9-CF2B-427E-8E2F-24EFE23DF80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7166470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">
          <a:extLst>
            <a:ext uri="{FF2B5EF4-FFF2-40B4-BE49-F238E27FC236}">
              <a16:creationId xmlns:a16="http://schemas.microsoft.com/office/drawing/2014/main" id="{AFF2464B-8B89-D42D-DA9D-567888E97A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3e93fc7151a_0_96:notes">
            <a:extLst>
              <a:ext uri="{FF2B5EF4-FFF2-40B4-BE49-F238E27FC236}">
                <a16:creationId xmlns:a16="http://schemas.microsoft.com/office/drawing/2014/main" id="{8C6E7768-3EFA-C8C8-0AC0-B28F5D20641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" name="Google Shape;323;g3e93fc7151a_0_96:notes">
            <a:extLst>
              <a:ext uri="{FF2B5EF4-FFF2-40B4-BE49-F238E27FC236}">
                <a16:creationId xmlns:a16="http://schemas.microsoft.com/office/drawing/2014/main" id="{F37CE835-3ACE-006D-BA61-26D053BA40A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3772025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">
          <a:extLst>
            <a:ext uri="{FF2B5EF4-FFF2-40B4-BE49-F238E27FC236}">
              <a16:creationId xmlns:a16="http://schemas.microsoft.com/office/drawing/2014/main" id="{E2128842-FCD2-1FE0-252B-BD3330191E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3e93fc7151a_0_96:notes">
            <a:extLst>
              <a:ext uri="{FF2B5EF4-FFF2-40B4-BE49-F238E27FC236}">
                <a16:creationId xmlns:a16="http://schemas.microsoft.com/office/drawing/2014/main" id="{913396A4-3810-7F4C-F8E5-19402BD7A28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" name="Google Shape;323;g3e93fc7151a_0_96:notes">
            <a:extLst>
              <a:ext uri="{FF2B5EF4-FFF2-40B4-BE49-F238E27FC236}">
                <a16:creationId xmlns:a16="http://schemas.microsoft.com/office/drawing/2014/main" id="{7F1A82B2-8173-1FDF-9A98-7755B125AA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5574877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">
          <a:extLst>
            <a:ext uri="{FF2B5EF4-FFF2-40B4-BE49-F238E27FC236}">
              <a16:creationId xmlns:a16="http://schemas.microsoft.com/office/drawing/2014/main" id="{A7F3EA91-F61C-2001-16A5-F492B7B2DA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3e93fc7151a_0_96:notes">
            <a:extLst>
              <a:ext uri="{FF2B5EF4-FFF2-40B4-BE49-F238E27FC236}">
                <a16:creationId xmlns:a16="http://schemas.microsoft.com/office/drawing/2014/main" id="{D544B20D-886F-83ED-B12F-DA7362F0EA2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" name="Google Shape;323;g3e93fc7151a_0_96:notes">
            <a:extLst>
              <a:ext uri="{FF2B5EF4-FFF2-40B4-BE49-F238E27FC236}">
                <a16:creationId xmlns:a16="http://schemas.microsoft.com/office/drawing/2014/main" id="{F2CB1642-6E6A-0272-75A3-2462D4D6CF9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8625051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3733a918ceb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3733a918ceb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3733a918ceb_0_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9" name="Google Shape;379;g3733a918ceb_0_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814683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490951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246454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8913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14459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923684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79126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327442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129566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281134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199847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74917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747123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90689367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nodejs.org/en/docs?utm_source=chatgpt.com" TargetMode="External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nodejs.org/api/fs.html" TargetMode="External"/><Relationship Id="rId5" Type="http://schemas.openxmlformats.org/officeDocument/2006/relationships/hyperlink" Target="https://www.freecodecamp.org/news/tag/node-js/?utm_source=chatgpt.com" TargetMode="External"/><Relationship Id="rId4" Type="http://schemas.openxmlformats.org/officeDocument/2006/relationships/hyperlink" Target="https://www.w3schools.com/nodejs/?utm_source=chatgpt.com" TargetMode="Externa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subtle-prism (2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50">
            <a:off x="-395563" y="388763"/>
            <a:ext cx="5157175" cy="4365975"/>
          </a:xfrm>
          <a:prstGeom prst="flowChartManualInput">
            <a:avLst/>
          </a:prstGeom>
          <a:noFill/>
          <a:ln>
            <a:noFill/>
          </a:ln>
        </p:spPr>
      </p:pic>
      <p:pic>
        <p:nvPicPr>
          <p:cNvPr id="55" name="Google Shape;55;p13" title="KRMU_Full_heading_Logo-removebg-preview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06125" y="452500"/>
            <a:ext cx="5337876" cy="136305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 txBox="1"/>
          <p:nvPr/>
        </p:nvSpPr>
        <p:spPr>
          <a:xfrm>
            <a:off x="4247500" y="2017650"/>
            <a:ext cx="47418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" sz="2400" b="1" i="0" u="none" strike="noStrike" kern="0" cap="none" spc="0" normalizeH="0" baseline="0" noProof="0">
                <a:ln>
                  <a:noFill/>
                </a:ln>
                <a:solidFill>
                  <a:srgbClr val="173034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Course - Web Development - III </a:t>
            </a:r>
            <a:endParaRPr kumimoji="0" sz="2400" b="1" i="0" u="none" strike="noStrike" kern="0" cap="none" spc="0" normalizeH="0" baseline="0" noProof="0">
              <a:ln>
                <a:noFill/>
              </a:ln>
              <a:solidFill>
                <a:srgbClr val="173034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grpSp>
        <p:nvGrpSpPr>
          <p:cNvPr id="57" name="Google Shape;57;p13"/>
          <p:cNvGrpSpPr/>
          <p:nvPr/>
        </p:nvGrpSpPr>
        <p:grpSpPr>
          <a:xfrm>
            <a:off x="4572000" y="4882896"/>
            <a:ext cx="1607600" cy="292500"/>
            <a:chOff x="5060775" y="4881413"/>
            <a:chExt cx="1607600" cy="292500"/>
          </a:xfrm>
        </p:grpSpPr>
        <p:sp>
          <p:nvSpPr>
            <p:cNvPr id="58" name="Google Shape;58;p13"/>
            <p:cNvSpPr txBox="1"/>
            <p:nvPr/>
          </p:nvSpPr>
          <p:spPr>
            <a:xfrm>
              <a:off x="5165675" y="4881413"/>
              <a:ext cx="15027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7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rPr>
                <a:t>welcome@krmangalam.edu.in</a:t>
              </a:r>
              <a:endParaRPr kumimoji="0" sz="9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pic>
          <p:nvPicPr>
            <p:cNvPr id="59" name="Google Shape;59;p13" title="email.png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060775" y="4966738"/>
              <a:ext cx="137160" cy="13716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0" name="Google Shape;60;p13"/>
          <p:cNvGrpSpPr/>
          <p:nvPr/>
        </p:nvGrpSpPr>
        <p:grpSpPr>
          <a:xfrm>
            <a:off x="7229300" y="4881425"/>
            <a:ext cx="1926000" cy="292500"/>
            <a:chOff x="7229300" y="4881425"/>
            <a:chExt cx="1926000" cy="292500"/>
          </a:xfrm>
        </p:grpSpPr>
        <p:sp>
          <p:nvSpPr>
            <p:cNvPr id="61" name="Google Shape;61;p13"/>
            <p:cNvSpPr txBox="1"/>
            <p:nvPr/>
          </p:nvSpPr>
          <p:spPr>
            <a:xfrm>
              <a:off x="7326500" y="4881425"/>
              <a:ext cx="18288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700" b="0" i="0" u="none" strike="noStrike" kern="0" cap="none" spc="0" normalizeH="0" baseline="0" noProof="0">
                  <a:ln>
                    <a:noFill/>
                  </a:ln>
                  <a:solidFill>
                    <a:srgbClr val="212121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rPr>
                <a:t>Sohna Road,Gurugram,Haryana 122103</a:t>
              </a:r>
              <a:endParaRPr kumimoji="0" sz="700" b="0" i="0" u="none" strike="noStrike" kern="0" cap="none" spc="0" normalizeH="0" baseline="0" noProof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pic>
          <p:nvPicPr>
            <p:cNvPr id="62" name="Google Shape;62;p13" title="location.png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7229300" y="4965192"/>
              <a:ext cx="137160" cy="13716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4" name="Google Shape;64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" sz="10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</a:t>
            </a:fld>
            <a:endParaRPr kumimoji="0" sz="1000" b="0" i="0" u="none" strike="noStrike" kern="0" cap="none" spc="0" normalizeH="0" baseline="0" noProof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grpSp>
        <p:nvGrpSpPr>
          <p:cNvPr id="65" name="Google Shape;65;p13"/>
          <p:cNvGrpSpPr/>
          <p:nvPr/>
        </p:nvGrpSpPr>
        <p:grpSpPr>
          <a:xfrm>
            <a:off x="309849" y="1233369"/>
            <a:ext cx="3414896" cy="1972225"/>
            <a:chOff x="788865" y="1515488"/>
            <a:chExt cx="4593000" cy="1972225"/>
          </a:xfrm>
        </p:grpSpPr>
        <p:sp>
          <p:nvSpPr>
            <p:cNvPr id="66" name="Google Shape;66;p13"/>
            <p:cNvSpPr txBox="1"/>
            <p:nvPr/>
          </p:nvSpPr>
          <p:spPr>
            <a:xfrm>
              <a:off x="788865" y="1515488"/>
              <a:ext cx="3197700" cy="600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27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 Slab"/>
                  <a:ea typeface="Roboto Slab"/>
                  <a:cs typeface="Roboto Slab"/>
                  <a:sym typeface="Roboto Slab"/>
                </a:rPr>
                <a:t>Lecture 5</a:t>
              </a:r>
              <a:r>
                <a:rPr kumimoji="0" lang="en" sz="27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rPr>
                <a:t>:</a:t>
              </a:r>
              <a:endParaRPr kumimoji="0" sz="2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sp>
          <p:nvSpPr>
            <p:cNvPr id="67" name="Google Shape;67;p13"/>
            <p:cNvSpPr txBox="1"/>
            <p:nvPr/>
          </p:nvSpPr>
          <p:spPr>
            <a:xfrm>
              <a:off x="863408" y="3059673"/>
              <a:ext cx="841483" cy="415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15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Poppins"/>
                  <a:ea typeface="Poppins"/>
                  <a:cs typeface="Poppins"/>
                  <a:sym typeface="Poppins"/>
                </a:rPr>
                <a:t>By -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8" name="Google Shape;68;p13"/>
            <p:cNvSpPr txBox="1"/>
            <p:nvPr/>
          </p:nvSpPr>
          <p:spPr>
            <a:xfrm>
              <a:off x="788865" y="2154317"/>
              <a:ext cx="4593000" cy="7386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rPr>
                <a:t>Core Modules in Node.js</a:t>
              </a:r>
              <a:endPara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69" name="Google Shape;69;p13"/>
            <p:cNvSpPr txBox="1"/>
            <p:nvPr/>
          </p:nvSpPr>
          <p:spPr>
            <a:xfrm>
              <a:off x="1487875" y="3076113"/>
              <a:ext cx="3156221" cy="411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IN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Poppins"/>
                  <a:ea typeface="Poppins"/>
                  <a:cs typeface="Poppins"/>
                  <a:sym typeface="Poppins"/>
                </a:rPr>
                <a:t>Love Porwal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4CB5463F-BDFE-B6CF-7DAC-28E6950244E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2479" y="3217507"/>
            <a:ext cx="383020" cy="38302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A0B64B2-4099-BB52-E589-FE3BBEA06DE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70007" y="2208918"/>
            <a:ext cx="2798268" cy="2798268"/>
          </a:xfrm>
          <a:prstGeom prst="rect">
            <a:avLst/>
          </a:prstGeom>
        </p:spPr>
      </p:pic>
    </p:spTree>
  </p:cSld>
  <p:clrMapOvr>
    <a:masterClrMapping/>
  </p:clrMapOvr>
  <p:transition spd="med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640E3A-6821-91F7-0F3E-F33271A4F2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9A76A43E-8A47-DAD4-DF5F-73D132F713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73152"/>
            <a:ext cx="566928" cy="621792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4FE00E20-14C0-ADEC-F34C-89A22A4ABBC3}"/>
              </a:ext>
            </a:extLst>
          </p:cNvPr>
          <p:cNvSpPr/>
          <p:nvPr/>
        </p:nvSpPr>
        <p:spPr>
          <a:xfrm>
            <a:off x="8686800" y="484632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Poppins" pitchFamily="34" charset="0"/>
                <a:cs typeface="Poppins" pitchFamily="34" charset="-120"/>
              </a:rPr>
              <a:t>2</a:t>
            </a:r>
            <a:endParaRPr lang="en-US" sz="900" dirty="0"/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3C61C953-1F43-F6B4-EFB7-44EB06C94202}"/>
              </a:ext>
            </a:extLst>
          </p:cNvPr>
          <p:cNvSpPr/>
          <p:nvPr/>
        </p:nvSpPr>
        <p:spPr>
          <a:xfrm>
            <a:off x="357283" y="457200"/>
            <a:ext cx="41148" cy="566928"/>
          </a:xfrm>
          <a:prstGeom prst="rect">
            <a:avLst/>
          </a:prstGeom>
          <a:solidFill>
            <a:srgbClr val="073763"/>
          </a:solidFill>
          <a:ln/>
        </p:spPr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B6AC52AB-E7D3-B764-DBD9-8C74A732FC1F}"/>
              </a:ext>
            </a:extLst>
          </p:cNvPr>
          <p:cNvSpPr/>
          <p:nvPr/>
        </p:nvSpPr>
        <p:spPr>
          <a:xfrm>
            <a:off x="427724" y="457200"/>
            <a:ext cx="80030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" sz="2000" b="1" dirty="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Table of Contents</a:t>
            </a:r>
            <a:endParaRPr lang="en-US" sz="20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9E7C26F3-02AD-0320-21B3-21A73D34A6D6}"/>
              </a:ext>
            </a:extLst>
          </p:cNvPr>
          <p:cNvSpPr/>
          <p:nvPr/>
        </p:nvSpPr>
        <p:spPr>
          <a:xfrm>
            <a:off x="427724" y="1078993"/>
            <a:ext cx="8551684" cy="25364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200" lvl="0" indent="-311150">
              <a:lnSpc>
                <a:spcPct val="150000"/>
              </a:lnSpc>
              <a:buClr>
                <a:schemeClr val="accent1">
                  <a:lumMod val="50000"/>
                </a:schemeClr>
              </a:buClr>
              <a:buSzPts val="1300"/>
              <a:buChar char="●"/>
            </a:pPr>
            <a:r>
              <a:rPr lang="en-US" sz="1200" dirty="0">
                <a:solidFill>
                  <a:schemeClr val="dk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What are Core Modules</a:t>
            </a:r>
          </a:p>
          <a:p>
            <a:pPr marL="457200" lvl="0" indent="-311150">
              <a:lnSpc>
                <a:spcPct val="150000"/>
              </a:lnSpc>
              <a:buClr>
                <a:schemeClr val="accent1">
                  <a:lumMod val="50000"/>
                </a:schemeClr>
              </a:buClr>
              <a:buSzPts val="1300"/>
              <a:buChar char="●"/>
            </a:pPr>
            <a:r>
              <a:rPr lang="en-US" sz="1200" dirty="0">
                <a:solidFill>
                  <a:schemeClr val="dk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OS Module </a:t>
            </a:r>
          </a:p>
          <a:p>
            <a:pPr marL="457200" lvl="0" indent="-311150">
              <a:lnSpc>
                <a:spcPct val="150000"/>
              </a:lnSpc>
              <a:buClr>
                <a:schemeClr val="accent1">
                  <a:lumMod val="50000"/>
                </a:schemeClr>
              </a:buClr>
              <a:buSzPts val="1300"/>
              <a:buChar char="●"/>
            </a:pPr>
            <a:r>
              <a:rPr lang="en-US" sz="1200" dirty="0">
                <a:solidFill>
                  <a:schemeClr val="dk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Path Module </a:t>
            </a:r>
          </a:p>
          <a:p>
            <a:pPr marL="457200" lvl="0" indent="-311150">
              <a:lnSpc>
                <a:spcPct val="150000"/>
              </a:lnSpc>
              <a:buClr>
                <a:schemeClr val="accent1">
                  <a:lumMod val="50000"/>
                </a:schemeClr>
              </a:buClr>
              <a:buSzPts val="1300"/>
              <a:buChar char="●"/>
            </a:pPr>
            <a:r>
              <a:rPr lang="en-US" sz="1200" dirty="0">
                <a:solidFill>
                  <a:schemeClr val="dk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FS Module </a:t>
            </a:r>
          </a:p>
          <a:p>
            <a:pPr marL="457200" lvl="0" indent="-311150">
              <a:lnSpc>
                <a:spcPct val="150000"/>
              </a:lnSpc>
              <a:buClr>
                <a:schemeClr val="accent1">
                  <a:lumMod val="50000"/>
                </a:schemeClr>
              </a:buClr>
              <a:buSzPts val="1300"/>
              <a:buChar char="●"/>
            </a:pPr>
            <a:r>
              <a:rPr lang="en-US" sz="1200" dirty="0">
                <a:solidFill>
                  <a:schemeClr val="dk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Crypto Module </a:t>
            </a:r>
          </a:p>
          <a:p>
            <a:pPr marL="457200" lvl="0" indent="-311150">
              <a:lnSpc>
                <a:spcPct val="150000"/>
              </a:lnSpc>
              <a:buClr>
                <a:schemeClr val="accent1">
                  <a:lumMod val="50000"/>
                </a:schemeClr>
              </a:buClr>
              <a:buSzPts val="1300"/>
              <a:buChar char="●"/>
            </a:pPr>
            <a:r>
              <a:rPr lang="en-US" sz="1200" dirty="0">
                <a:solidFill>
                  <a:schemeClr val="dk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DNS Module </a:t>
            </a:r>
          </a:p>
          <a:p>
            <a:pPr marL="457200" lvl="0" indent="-311150">
              <a:lnSpc>
                <a:spcPct val="150000"/>
              </a:lnSpc>
              <a:buClr>
                <a:srgbClr val="4472C4">
                  <a:lumMod val="50000"/>
                </a:srgbClr>
              </a:buClr>
              <a:buSzPts val="1300"/>
              <a:buFontTx/>
              <a:buChar char="●"/>
            </a:pPr>
            <a:r>
              <a:rPr lang="en-US" sz="1200" dirty="0">
                <a:solidFill>
                  <a:prstClr val="black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References</a:t>
            </a:r>
          </a:p>
          <a:p>
            <a:pPr marL="457200" lvl="0" indent="-311150">
              <a:lnSpc>
                <a:spcPct val="150000"/>
              </a:lnSpc>
              <a:buClr>
                <a:srgbClr val="4472C4">
                  <a:lumMod val="50000"/>
                </a:srgbClr>
              </a:buClr>
              <a:buSzPts val="1300"/>
              <a:buFontTx/>
              <a:buChar char="●"/>
              <a:defRPr/>
            </a:pPr>
            <a:r>
              <a:rPr lang="en-US" sz="1200" dirty="0">
                <a:solidFill>
                  <a:prstClr val="black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The End</a:t>
            </a:r>
          </a:p>
        </p:txBody>
      </p:sp>
    </p:spTree>
    <p:extLst>
      <p:ext uri="{BB962C8B-B14F-4D97-AF65-F5344CB8AC3E}">
        <p14:creationId xmlns:p14="http://schemas.microsoft.com/office/powerpoint/2010/main" val="36073163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E1F7CE-FC8C-A714-8C0A-783F1F9DD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6E6830C6-0157-1D16-8D64-EA2564EA24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73152"/>
            <a:ext cx="566928" cy="621792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2A032557-1DA5-D6E5-EC05-DDD0D8A3611B}"/>
              </a:ext>
            </a:extLst>
          </p:cNvPr>
          <p:cNvSpPr/>
          <p:nvPr/>
        </p:nvSpPr>
        <p:spPr>
          <a:xfrm>
            <a:off x="8686800" y="484632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dirty="0">
                <a:solidFill>
                  <a:srgbClr val="999999"/>
                </a:solidFill>
                <a:latin typeface="Poppins" pitchFamily="34" charset="0"/>
                <a:cs typeface="Poppins" pitchFamily="34" charset="-120"/>
              </a:rPr>
              <a:t>3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63D5E58C-0B29-A653-5275-328BC96CA954}"/>
              </a:ext>
            </a:extLst>
          </p:cNvPr>
          <p:cNvSpPr/>
          <p:nvPr/>
        </p:nvSpPr>
        <p:spPr>
          <a:xfrm>
            <a:off x="201168" y="457200"/>
            <a:ext cx="41148" cy="566928"/>
          </a:xfrm>
          <a:prstGeom prst="rect">
            <a:avLst/>
          </a:prstGeom>
          <a:solidFill>
            <a:srgbClr val="073763"/>
          </a:solidFill>
          <a:ln/>
        </p:spPr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C26471A2-B515-BA62-8104-9BB508670300}"/>
              </a:ext>
            </a:extLst>
          </p:cNvPr>
          <p:cNvSpPr/>
          <p:nvPr/>
        </p:nvSpPr>
        <p:spPr>
          <a:xfrm>
            <a:off x="292608" y="457200"/>
            <a:ext cx="8138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73763"/>
                </a:solidFill>
                <a:effectLst/>
                <a:uLnTx/>
                <a:uFillTx/>
                <a:latin typeface="Poppins" pitchFamily="34" charset="0"/>
                <a:ea typeface="Poppins" pitchFamily="34" charset="-122"/>
                <a:cs typeface="Poppins" pitchFamily="34" charset="-120"/>
              </a:rPr>
              <a:t>What's Inside Your Smartphone?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C0C82996-25C2-F84E-78ED-2ADFD985CD99}"/>
              </a:ext>
            </a:extLst>
          </p:cNvPr>
          <p:cNvSpPr/>
          <p:nvPr/>
        </p:nvSpPr>
        <p:spPr>
          <a:xfrm>
            <a:off x="365760" y="1189463"/>
            <a:ext cx="8412480" cy="37025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29D836D-013C-9CCC-7293-9A6FD2EE7F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00250" y="1024128"/>
            <a:ext cx="5143500" cy="4119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00706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317D2D-E868-75C5-AC45-05397F2DD2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C086CC99-3E44-AB4F-26F1-040AF62E11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73152"/>
            <a:ext cx="566928" cy="621792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D78F8AF2-7887-A0FD-FA5A-1908CFD6B5CC}"/>
              </a:ext>
            </a:extLst>
          </p:cNvPr>
          <p:cNvSpPr/>
          <p:nvPr/>
        </p:nvSpPr>
        <p:spPr>
          <a:xfrm>
            <a:off x="8686800" y="484632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Poppins" pitchFamily="34" charset="0"/>
                <a:ea typeface="+mn-ea"/>
                <a:cs typeface="Poppins" pitchFamily="34" charset="-120"/>
              </a:rPr>
              <a:t>4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787D7015-A105-2EC4-CA06-D6258F2EE780}"/>
              </a:ext>
            </a:extLst>
          </p:cNvPr>
          <p:cNvSpPr/>
          <p:nvPr/>
        </p:nvSpPr>
        <p:spPr>
          <a:xfrm>
            <a:off x="201168" y="457200"/>
            <a:ext cx="41148" cy="566928"/>
          </a:xfrm>
          <a:prstGeom prst="rect">
            <a:avLst/>
          </a:prstGeom>
          <a:solidFill>
            <a:srgbClr val="073763"/>
          </a:solidFill>
          <a:ln/>
        </p:spPr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9FCB8FCD-78FD-8C37-A879-F68E2869D270}"/>
              </a:ext>
            </a:extLst>
          </p:cNvPr>
          <p:cNvSpPr/>
          <p:nvPr/>
        </p:nvSpPr>
        <p:spPr>
          <a:xfrm>
            <a:off x="292608" y="457199"/>
            <a:ext cx="8138160" cy="8510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73763"/>
                </a:solidFill>
                <a:effectLst/>
                <a:uLnTx/>
                <a:uFillTx/>
                <a:latin typeface="Poppins" pitchFamily="34" charset="0"/>
                <a:ea typeface="Poppins" pitchFamily="34" charset="-122"/>
                <a:cs typeface="Poppins" pitchFamily="34" charset="-120"/>
              </a:rPr>
              <a:t>Just like a smartphone comes with built-in features, Node.js also comes with built-in tools. These tools are called Core Modules.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88AD79A8-4833-36D7-D387-1B368AED01B5}"/>
              </a:ext>
            </a:extLst>
          </p:cNvPr>
          <p:cNvSpPr/>
          <p:nvPr/>
        </p:nvSpPr>
        <p:spPr>
          <a:xfrm>
            <a:off x="365760" y="1189463"/>
            <a:ext cx="8412480" cy="37025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EA5C43B-4AF1-1390-9DB1-E60AF2EEDD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1341074"/>
              </p:ext>
            </p:extLst>
          </p:nvPr>
        </p:nvGraphicFramePr>
        <p:xfrm>
          <a:off x="1524000" y="2024634"/>
          <a:ext cx="6096000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107132364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5036814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Smartphone 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Node.js Core Module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71376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File Manager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Fs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95424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Internet/Wi-Fi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http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26486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Maps/Address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path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5014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Device Information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Os</a:t>
                      </a:r>
                      <a:endParaRPr lang="en-IN" sz="1200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21839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Security Lock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Crypto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91402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Internet Lookup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dns</a:t>
                      </a:r>
                      <a:endParaRPr lang="en-IN" sz="1200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67368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846080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73152"/>
            <a:ext cx="566928" cy="6217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0" y="484632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Poppins" pitchFamily="34" charset="0"/>
                <a:cs typeface="Poppins" pitchFamily="34" charset="-120"/>
              </a:rPr>
              <a:t>5</a:t>
            </a:r>
            <a:endParaRPr lang="en-US" sz="900" dirty="0"/>
          </a:p>
        </p:txBody>
      </p:sp>
      <p:sp>
        <p:nvSpPr>
          <p:cNvPr id="4" name="Shape 1"/>
          <p:cNvSpPr/>
          <p:nvPr/>
        </p:nvSpPr>
        <p:spPr>
          <a:xfrm>
            <a:off x="201168" y="457200"/>
            <a:ext cx="41148" cy="566928"/>
          </a:xfrm>
          <a:prstGeom prst="rect">
            <a:avLst/>
          </a:prstGeom>
          <a:solidFill>
            <a:srgbClr val="073763"/>
          </a:solidFill>
          <a:ln/>
        </p:spPr>
      </p:sp>
      <p:sp>
        <p:nvSpPr>
          <p:cNvPr id="5" name="Text 2"/>
          <p:cNvSpPr/>
          <p:nvPr/>
        </p:nvSpPr>
        <p:spPr>
          <a:xfrm>
            <a:off x="292608" y="457200"/>
            <a:ext cx="8138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737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 are Core Modules?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365760" y="1078990"/>
            <a:ext cx="4255477" cy="32046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200" dirty="0">
                <a:latin typeface="Poppins" panose="00000500000000000000" pitchFamily="2" charset="0"/>
                <a:cs typeface="Poppins" panose="00000500000000000000" pitchFamily="2" charset="0"/>
              </a:rPr>
              <a:t>Core Modules are built-in modules provided by Node.js.</a:t>
            </a:r>
          </a:p>
          <a:p>
            <a:endParaRPr lang="en-IN" sz="12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IN" sz="1200" dirty="0">
                <a:latin typeface="Poppins" panose="00000500000000000000" pitchFamily="2" charset="0"/>
                <a:cs typeface="Poppins" panose="00000500000000000000" pitchFamily="2" charset="0"/>
              </a:rPr>
              <a:t>They are available immediately after installing Node.js.</a:t>
            </a:r>
          </a:p>
          <a:p>
            <a:endParaRPr lang="en-IN" sz="12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628650" lvl="1" indent="-171450">
              <a:buFont typeface="Courier New" panose="02070309020205020404" pitchFamily="49" charset="0"/>
              <a:buChar char="o"/>
            </a:pPr>
            <a:r>
              <a:rPr lang="en-IN" sz="1200" dirty="0">
                <a:latin typeface="Poppins" panose="00000500000000000000" pitchFamily="2" charset="0"/>
                <a:cs typeface="Poppins" panose="00000500000000000000" pitchFamily="2" charset="0"/>
              </a:rPr>
              <a:t>No installation required</a:t>
            </a:r>
          </a:p>
          <a:p>
            <a:pPr marL="628650" lvl="1" indent="-171450">
              <a:buFont typeface="Courier New" panose="02070309020205020404" pitchFamily="49" charset="0"/>
              <a:buChar char="o"/>
            </a:pPr>
            <a:r>
              <a:rPr lang="en-IN" sz="1200" dirty="0">
                <a:latin typeface="Poppins" panose="00000500000000000000" pitchFamily="2" charset="0"/>
                <a:cs typeface="Poppins" panose="00000500000000000000" pitchFamily="2" charset="0"/>
              </a:rPr>
              <a:t>Ready to use</a:t>
            </a:r>
          </a:p>
          <a:p>
            <a:pPr marL="628650" lvl="1" indent="-171450">
              <a:buFont typeface="Courier New" panose="02070309020205020404" pitchFamily="49" charset="0"/>
              <a:buChar char="o"/>
            </a:pPr>
            <a:endParaRPr lang="en-IN" sz="12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lvl="1"/>
            <a:endParaRPr lang="en-IN" sz="12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IN" sz="1200" b="1" dirty="0">
                <a:latin typeface="Poppins" panose="00000500000000000000" pitchFamily="2" charset="0"/>
                <a:cs typeface="Poppins" panose="00000500000000000000" pitchFamily="2" charset="0"/>
              </a:rPr>
              <a:t>Simple Definition:</a:t>
            </a:r>
          </a:p>
          <a:p>
            <a:endParaRPr lang="en-IN" sz="12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IN" sz="1200" dirty="0">
                <a:latin typeface="Poppins" panose="00000500000000000000" pitchFamily="2" charset="0"/>
                <a:cs typeface="Poppins" panose="00000500000000000000" pitchFamily="2" charset="0"/>
              </a:rPr>
              <a:t>Core Modules are pre-built modules that help developers perform common tasks without installing additional packages.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8E3C147-935A-DE40-1731-2467EB0093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351303"/>
            <a:ext cx="4353951" cy="269041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73152"/>
            <a:ext cx="566928" cy="6217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0" y="484632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Poppins" pitchFamily="34" charset="0"/>
                <a:cs typeface="Poppins" pitchFamily="34" charset="-120"/>
              </a:rPr>
              <a:t>6</a:t>
            </a:r>
            <a:endParaRPr lang="en-US" sz="900" dirty="0"/>
          </a:p>
        </p:txBody>
      </p:sp>
      <p:sp>
        <p:nvSpPr>
          <p:cNvPr id="4" name="Shape 1"/>
          <p:cNvSpPr/>
          <p:nvPr/>
        </p:nvSpPr>
        <p:spPr>
          <a:xfrm>
            <a:off x="201168" y="457200"/>
            <a:ext cx="41148" cy="566928"/>
          </a:xfrm>
          <a:prstGeom prst="rect">
            <a:avLst/>
          </a:prstGeom>
          <a:solidFill>
            <a:srgbClr val="073763"/>
          </a:solidFill>
          <a:ln/>
        </p:spPr>
      </p:sp>
      <p:sp>
        <p:nvSpPr>
          <p:cNvPr id="5" name="Text 2"/>
          <p:cNvSpPr/>
          <p:nvPr/>
        </p:nvSpPr>
        <p:spPr>
          <a:xfrm>
            <a:off x="292608" y="457200"/>
            <a:ext cx="8138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dirty="0">
                <a:solidFill>
                  <a:srgbClr val="0737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Why Core Modules Matter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320040" y="1188720"/>
            <a:ext cx="2651760" cy="1737360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7" name="Shape 4"/>
          <p:cNvSpPr/>
          <p:nvPr/>
        </p:nvSpPr>
        <p:spPr>
          <a:xfrm>
            <a:off x="320040" y="1188720"/>
            <a:ext cx="2651760" cy="411480"/>
          </a:xfrm>
          <a:prstGeom prst="rect">
            <a:avLst/>
          </a:prstGeom>
          <a:solidFill>
            <a:srgbClr val="073763"/>
          </a:solidFill>
          <a:ln/>
        </p:spPr>
      </p:sp>
      <p:sp>
        <p:nvSpPr>
          <p:cNvPr id="8" name="Text 5"/>
          <p:cNvSpPr/>
          <p:nvPr/>
        </p:nvSpPr>
        <p:spPr>
          <a:xfrm>
            <a:off x="411480" y="11887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💻 os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29768" y="1645920"/>
            <a:ext cx="245059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Platform, CPU, memory, hostname, home directory info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154680" y="1188720"/>
            <a:ext cx="2651760" cy="173736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11" name="Shape 8"/>
          <p:cNvSpPr/>
          <p:nvPr/>
        </p:nvSpPr>
        <p:spPr>
          <a:xfrm>
            <a:off x="3154680" y="1188720"/>
            <a:ext cx="2651760" cy="41148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12" name="Text 9"/>
          <p:cNvSpPr/>
          <p:nvPr/>
        </p:nvSpPr>
        <p:spPr>
          <a:xfrm>
            <a:off x="3246120" y="11887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📂 path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3264408" y="1645920"/>
            <a:ext cx="245059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Cross-platform file path operations (join, resolve, extname)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5989320" y="1188720"/>
            <a:ext cx="2651760" cy="1737360"/>
          </a:xfrm>
          <a:prstGeom prst="rect">
            <a:avLst/>
          </a:prstGeom>
          <a:solidFill>
            <a:srgbClr val="FFF3E0"/>
          </a:solidFill>
          <a:ln/>
        </p:spPr>
      </p:sp>
      <p:sp>
        <p:nvSpPr>
          <p:cNvPr id="15" name="Shape 12"/>
          <p:cNvSpPr/>
          <p:nvPr/>
        </p:nvSpPr>
        <p:spPr>
          <a:xfrm>
            <a:off x="5989320" y="1188720"/>
            <a:ext cx="2651760" cy="411480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16" name="Text 13"/>
          <p:cNvSpPr/>
          <p:nvPr/>
        </p:nvSpPr>
        <p:spPr>
          <a:xfrm>
            <a:off x="6080760" y="11887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🗂️ fs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099048" y="1645920"/>
            <a:ext cx="245059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Read, write, delete files and directories — sync &amp; async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320040" y="3090672"/>
            <a:ext cx="2651760" cy="1737360"/>
          </a:xfrm>
          <a:prstGeom prst="rect">
            <a:avLst/>
          </a:prstGeom>
          <a:solidFill>
            <a:srgbClr val="F3E5F5"/>
          </a:solidFill>
          <a:ln/>
        </p:spPr>
      </p:sp>
      <p:sp>
        <p:nvSpPr>
          <p:cNvPr id="19" name="Shape 16"/>
          <p:cNvSpPr/>
          <p:nvPr/>
        </p:nvSpPr>
        <p:spPr>
          <a:xfrm>
            <a:off x="320040" y="3090672"/>
            <a:ext cx="2651760" cy="411480"/>
          </a:xfrm>
          <a:prstGeom prst="rect">
            <a:avLst/>
          </a:prstGeom>
          <a:solidFill>
            <a:srgbClr val="4A148C"/>
          </a:solidFill>
          <a:ln/>
        </p:spPr>
      </p:sp>
      <p:sp>
        <p:nvSpPr>
          <p:cNvPr id="20" name="Text 17"/>
          <p:cNvSpPr/>
          <p:nvPr/>
        </p:nvSpPr>
        <p:spPr>
          <a:xfrm>
            <a:off x="411480" y="3090672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🌐 dns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429768" y="3547872"/>
            <a:ext cx="245059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Resolve domain names to IP addresses and DNS records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3154680" y="3090672"/>
            <a:ext cx="2651760" cy="1737360"/>
          </a:xfrm>
          <a:prstGeom prst="rect">
            <a:avLst/>
          </a:prstGeom>
          <a:solidFill>
            <a:srgbClr val="E0F2F1"/>
          </a:solidFill>
          <a:ln/>
        </p:spPr>
      </p:sp>
      <p:sp>
        <p:nvSpPr>
          <p:cNvPr id="23" name="Shape 20"/>
          <p:cNvSpPr/>
          <p:nvPr/>
        </p:nvSpPr>
        <p:spPr>
          <a:xfrm>
            <a:off x="3154680" y="3090672"/>
            <a:ext cx="2651760" cy="411480"/>
          </a:xfrm>
          <a:prstGeom prst="rect">
            <a:avLst/>
          </a:prstGeom>
          <a:solidFill>
            <a:srgbClr val="006064"/>
          </a:solidFill>
          <a:ln/>
        </p:spPr>
      </p:sp>
      <p:sp>
        <p:nvSpPr>
          <p:cNvPr id="24" name="Text 21"/>
          <p:cNvSpPr/>
          <p:nvPr/>
        </p:nvSpPr>
        <p:spPr>
          <a:xfrm>
            <a:off x="3246120" y="3090672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🔐 crypto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3264408" y="3547872"/>
            <a:ext cx="245059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Hashing, HMAC, encryption, random bytes, tokens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5989320" y="3090672"/>
            <a:ext cx="2651760" cy="1737360"/>
          </a:xfrm>
          <a:prstGeom prst="rect">
            <a:avLst/>
          </a:prstGeom>
          <a:solidFill>
            <a:srgbClr val="FFF8E1"/>
          </a:solidFill>
          <a:ln/>
        </p:spPr>
      </p:sp>
      <p:sp>
        <p:nvSpPr>
          <p:cNvPr id="27" name="Shape 24"/>
          <p:cNvSpPr/>
          <p:nvPr/>
        </p:nvSpPr>
        <p:spPr>
          <a:xfrm>
            <a:off x="5989320" y="3090672"/>
            <a:ext cx="2651760" cy="411480"/>
          </a:xfrm>
          <a:prstGeom prst="rect">
            <a:avLst/>
          </a:prstGeom>
          <a:solidFill>
            <a:srgbClr val="F57F17"/>
          </a:solidFill>
          <a:ln/>
        </p:spPr>
      </p:sp>
      <p:sp>
        <p:nvSpPr>
          <p:cNvPr id="28" name="Text 25"/>
          <p:cNvSpPr/>
          <p:nvPr/>
        </p:nvSpPr>
        <p:spPr>
          <a:xfrm>
            <a:off x="6080760" y="3090672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🔗 http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6099048" y="3547872"/>
            <a:ext cx="245059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Create servers with </a:t>
            </a:r>
            <a:r>
              <a:rPr lang="en-US" sz="1100" dirty="0" err="1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http.createServer</a:t>
            </a:r>
            <a:r>
              <a:rPr lang="en-US" sz="1100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and make http request</a:t>
            </a:r>
            <a:endParaRPr lang="en-US" sz="11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2" grpId="0" animBg="1"/>
      <p:bldP spid="13" grpId="0" animBg="1"/>
      <p:bldP spid="16" grpId="0" animBg="1"/>
      <p:bldP spid="17" grpId="0" animBg="1"/>
      <p:bldP spid="20" grpId="0" animBg="1"/>
      <p:bldP spid="21" grpId="0" animBg="1"/>
      <p:bldP spid="24" grpId="0" animBg="1"/>
      <p:bldP spid="25" grpId="0" animBg="1"/>
      <p:bldP spid="28" grpId="0" animBg="1"/>
      <p:bldP spid="2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73152"/>
            <a:ext cx="566928" cy="6217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0" y="484632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Poppins" pitchFamily="34" charset="0"/>
                <a:cs typeface="Poppins" pitchFamily="34" charset="-120"/>
              </a:rPr>
              <a:t>7</a:t>
            </a:r>
            <a:endParaRPr lang="en-US" sz="900" dirty="0"/>
          </a:p>
        </p:txBody>
      </p:sp>
      <p:sp>
        <p:nvSpPr>
          <p:cNvPr id="4" name="Shape 1"/>
          <p:cNvSpPr/>
          <p:nvPr/>
        </p:nvSpPr>
        <p:spPr>
          <a:xfrm>
            <a:off x="201168" y="457200"/>
            <a:ext cx="41148" cy="566928"/>
          </a:xfrm>
          <a:prstGeom prst="rect">
            <a:avLst/>
          </a:prstGeom>
          <a:solidFill>
            <a:srgbClr val="073763"/>
          </a:solidFill>
          <a:ln/>
        </p:spPr>
      </p:sp>
      <p:sp>
        <p:nvSpPr>
          <p:cNvPr id="5" name="Text 2"/>
          <p:cNvSpPr/>
          <p:nvPr/>
        </p:nvSpPr>
        <p:spPr>
          <a:xfrm>
            <a:off x="292608" y="457200"/>
            <a:ext cx="8138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737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OS Module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475488" y="1078993"/>
            <a:ext cx="8138160" cy="30498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200" dirty="0">
                <a:latin typeface="Poppins" panose="00000500000000000000" pitchFamily="2" charset="0"/>
                <a:cs typeface="Poppins" panose="00000500000000000000" pitchFamily="2" charset="0"/>
              </a:rPr>
              <a:t>The OS (Operating System) module provides information about your computer.</a:t>
            </a:r>
          </a:p>
          <a:p>
            <a:endParaRPr lang="en-IN" sz="12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IN" sz="1200" b="1" dirty="0">
                <a:latin typeface="Poppins" panose="00000500000000000000" pitchFamily="2" charset="0"/>
                <a:cs typeface="Poppins" panose="00000500000000000000" pitchFamily="2" charset="0"/>
              </a:rPr>
              <a:t>It can tell:</a:t>
            </a:r>
          </a:p>
          <a:p>
            <a:endParaRPr lang="en-IN" sz="12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628650" lvl="1" indent="-171450">
              <a:buClr>
                <a:schemeClr val="accent1">
                  <a:lumMod val="50000"/>
                </a:schemeClr>
              </a:buClr>
              <a:buFont typeface="Courier New" panose="02070309020205020404" pitchFamily="49" charset="0"/>
              <a:buChar char="o"/>
            </a:pPr>
            <a:r>
              <a:rPr lang="en-IN" sz="1200" dirty="0">
                <a:latin typeface="Poppins" panose="00000500000000000000" pitchFamily="2" charset="0"/>
                <a:cs typeface="Poppins" panose="00000500000000000000" pitchFamily="2" charset="0"/>
              </a:rPr>
              <a:t>Computer Name</a:t>
            </a:r>
          </a:p>
          <a:p>
            <a:pPr marL="628650" lvl="1" indent="-171450">
              <a:buClr>
                <a:schemeClr val="accent1">
                  <a:lumMod val="50000"/>
                </a:schemeClr>
              </a:buClr>
              <a:buFont typeface="Courier New" panose="02070309020205020404" pitchFamily="49" charset="0"/>
              <a:buChar char="o"/>
            </a:pPr>
            <a:r>
              <a:rPr lang="en-IN" sz="1200" dirty="0">
                <a:latin typeface="Poppins" panose="00000500000000000000" pitchFamily="2" charset="0"/>
                <a:cs typeface="Poppins" panose="00000500000000000000" pitchFamily="2" charset="0"/>
              </a:rPr>
              <a:t>Operating System</a:t>
            </a:r>
          </a:p>
          <a:p>
            <a:pPr marL="628650" lvl="1" indent="-171450">
              <a:buClr>
                <a:schemeClr val="accent1">
                  <a:lumMod val="50000"/>
                </a:schemeClr>
              </a:buClr>
              <a:buFont typeface="Courier New" panose="02070309020205020404" pitchFamily="49" charset="0"/>
              <a:buChar char="o"/>
            </a:pPr>
            <a:r>
              <a:rPr lang="en-IN" sz="1200" dirty="0">
                <a:latin typeface="Poppins" panose="00000500000000000000" pitchFamily="2" charset="0"/>
                <a:cs typeface="Poppins" panose="00000500000000000000" pitchFamily="2" charset="0"/>
              </a:rPr>
              <a:t>CPU Architecture</a:t>
            </a:r>
          </a:p>
          <a:p>
            <a:pPr marL="628650" lvl="1" indent="-171450">
              <a:buClr>
                <a:schemeClr val="accent1">
                  <a:lumMod val="50000"/>
                </a:schemeClr>
              </a:buClr>
              <a:buFont typeface="Courier New" panose="02070309020205020404" pitchFamily="49" charset="0"/>
              <a:buChar char="o"/>
            </a:pPr>
            <a:r>
              <a:rPr lang="en-IN" sz="1200" dirty="0">
                <a:latin typeface="Poppins" panose="00000500000000000000" pitchFamily="2" charset="0"/>
                <a:cs typeface="Poppins" panose="00000500000000000000" pitchFamily="2" charset="0"/>
              </a:rPr>
              <a:t>Free Memory</a:t>
            </a:r>
          </a:p>
          <a:p>
            <a:pPr marL="628650" lvl="1" indent="-171450">
              <a:buClr>
                <a:schemeClr val="accent1">
                  <a:lumMod val="50000"/>
                </a:schemeClr>
              </a:buClr>
              <a:buFont typeface="Courier New" panose="02070309020205020404" pitchFamily="49" charset="0"/>
              <a:buChar char="o"/>
            </a:pPr>
            <a:r>
              <a:rPr lang="en-IN" sz="1200" dirty="0">
                <a:latin typeface="Poppins" panose="00000500000000000000" pitchFamily="2" charset="0"/>
                <a:cs typeface="Poppins" panose="00000500000000000000" pitchFamily="2" charset="0"/>
              </a:rPr>
              <a:t>Total Memory</a:t>
            </a:r>
          </a:p>
          <a:p>
            <a:endParaRPr lang="en-IN" sz="12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endParaRPr lang="en-IN" sz="12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IN" sz="1200" b="1" dirty="0">
                <a:latin typeface="Poppins" panose="00000500000000000000" pitchFamily="2" charset="0"/>
                <a:cs typeface="Poppins" panose="00000500000000000000" pitchFamily="2" charset="0"/>
              </a:rPr>
              <a:t>Real-Life Use:</a:t>
            </a:r>
          </a:p>
          <a:p>
            <a:endParaRPr lang="en-IN" sz="1200" b="1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628650" lvl="1" indent="-171450">
              <a:buClr>
                <a:schemeClr val="accent1">
                  <a:lumMod val="50000"/>
                </a:schemeClr>
              </a:buClr>
              <a:buFont typeface="Courier New" panose="02070309020205020404" pitchFamily="49" charset="0"/>
              <a:buChar char="o"/>
            </a:pPr>
            <a:r>
              <a:rPr lang="en-IN" sz="1200" dirty="0">
                <a:latin typeface="Poppins" panose="00000500000000000000" pitchFamily="2" charset="0"/>
                <a:cs typeface="Poppins" panose="00000500000000000000" pitchFamily="2" charset="0"/>
              </a:rPr>
              <a:t>Check system information</a:t>
            </a:r>
          </a:p>
          <a:p>
            <a:pPr marL="628650" lvl="1" indent="-171450">
              <a:buClr>
                <a:schemeClr val="accent1">
                  <a:lumMod val="50000"/>
                </a:schemeClr>
              </a:buClr>
              <a:buFont typeface="Courier New" panose="02070309020205020404" pitchFamily="49" charset="0"/>
              <a:buChar char="o"/>
            </a:pPr>
            <a:r>
              <a:rPr lang="en-IN" sz="1200" dirty="0">
                <a:latin typeface="Poppins" panose="00000500000000000000" pitchFamily="2" charset="0"/>
                <a:cs typeface="Poppins" panose="00000500000000000000" pitchFamily="2" charset="0"/>
              </a:rPr>
              <a:t>Monitor server resources</a:t>
            </a:r>
          </a:p>
          <a:p>
            <a:pPr marL="0" indent="0">
              <a:buNone/>
            </a:pPr>
            <a:endParaRPr lang="en-US" sz="12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18DE16E-C850-E9AC-31E3-F30E18EB36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4219" y="1959319"/>
            <a:ext cx="2998261" cy="216954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73152"/>
            <a:ext cx="566928" cy="6217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0" y="484632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Poppins" pitchFamily="34" charset="0"/>
                <a:cs typeface="Poppins" pitchFamily="34" charset="-120"/>
              </a:rPr>
              <a:t>8</a:t>
            </a:r>
            <a:endParaRPr lang="en-US" sz="900" dirty="0"/>
          </a:p>
        </p:txBody>
      </p:sp>
      <p:sp>
        <p:nvSpPr>
          <p:cNvPr id="4" name="Shape 1"/>
          <p:cNvSpPr/>
          <p:nvPr/>
        </p:nvSpPr>
        <p:spPr>
          <a:xfrm>
            <a:off x="201168" y="457200"/>
            <a:ext cx="41148" cy="566928"/>
          </a:xfrm>
          <a:prstGeom prst="rect">
            <a:avLst/>
          </a:prstGeom>
          <a:solidFill>
            <a:srgbClr val="073763"/>
          </a:solidFill>
          <a:ln/>
        </p:spPr>
      </p:sp>
      <p:sp>
        <p:nvSpPr>
          <p:cNvPr id="5" name="Text 2"/>
          <p:cNvSpPr/>
          <p:nvPr/>
        </p:nvSpPr>
        <p:spPr>
          <a:xfrm>
            <a:off x="292608" y="457200"/>
            <a:ext cx="8138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737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OS Module — Explore Your System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365760" y="1202785"/>
            <a:ext cx="8412480" cy="256032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8" name="Shape 5"/>
          <p:cNvSpPr/>
          <p:nvPr/>
        </p:nvSpPr>
        <p:spPr>
          <a:xfrm>
            <a:off x="502920" y="1266793"/>
            <a:ext cx="91440" cy="91440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9" name="Shape 6"/>
          <p:cNvSpPr/>
          <p:nvPr/>
        </p:nvSpPr>
        <p:spPr>
          <a:xfrm>
            <a:off x="658368" y="1266793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0" name="Shape 7"/>
          <p:cNvSpPr/>
          <p:nvPr/>
        </p:nvSpPr>
        <p:spPr>
          <a:xfrm>
            <a:off x="813816" y="1266793"/>
            <a:ext cx="91440" cy="91440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1" name="Shape 8"/>
          <p:cNvSpPr/>
          <p:nvPr/>
        </p:nvSpPr>
        <p:spPr>
          <a:xfrm>
            <a:off x="365760" y="1458816"/>
            <a:ext cx="8412480" cy="3286919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2" name="Text 9"/>
          <p:cNvSpPr/>
          <p:nvPr/>
        </p:nvSpPr>
        <p:spPr>
          <a:xfrm>
            <a:off x="502920" y="1516495"/>
            <a:ext cx="8138160" cy="29672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os = require('os');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console.log('Platform:   ', os.platform());  // 'linux' | 'win32' | 'darwin'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console.log('Arch:       ', os.arch());       // 'x64' | 'arm64'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console.log('Hostname:   ', os.hostname());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console.log('Home Dir:   ', os.homedir());    // /home/alice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console.log('Temp Dir:   ', os.tmpdir());     // /tmp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CPU information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cpus = os.cpus();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console.log('CPU Count:  ', cpus.length);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console.log('CPU Model:  ', cpus[0].model);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Memory (bytes → MB/GB)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totalGB = (os.totalmem() / 1024**3).toFixed(2);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freeGB  = (os.freemem()  / 1024**3).toFixed(2);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console.log(`Memory: ${freeGB} GB free of ${totalGB} GB total`);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73152"/>
            <a:ext cx="566928" cy="6217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0" y="484632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Poppins" pitchFamily="34" charset="0"/>
                <a:cs typeface="Poppins" pitchFamily="34" charset="-120"/>
              </a:rPr>
              <a:t>9</a:t>
            </a:r>
            <a:endParaRPr lang="en-US" sz="900" dirty="0"/>
          </a:p>
        </p:txBody>
      </p:sp>
      <p:sp>
        <p:nvSpPr>
          <p:cNvPr id="4" name="Shape 1"/>
          <p:cNvSpPr/>
          <p:nvPr/>
        </p:nvSpPr>
        <p:spPr>
          <a:xfrm>
            <a:off x="201168" y="457200"/>
            <a:ext cx="41148" cy="566928"/>
          </a:xfrm>
          <a:prstGeom prst="rect">
            <a:avLst/>
          </a:prstGeom>
          <a:solidFill>
            <a:srgbClr val="073763"/>
          </a:solidFill>
          <a:ln/>
        </p:spPr>
      </p:sp>
      <p:sp>
        <p:nvSpPr>
          <p:cNvPr id="5" name="Text 2"/>
          <p:cNvSpPr/>
          <p:nvPr/>
        </p:nvSpPr>
        <p:spPr>
          <a:xfrm>
            <a:off x="292608" y="457200"/>
            <a:ext cx="8138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737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Path Module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475488" y="1121195"/>
            <a:ext cx="8138160" cy="2852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200" dirty="0">
                <a:latin typeface="Poppins" panose="00000500000000000000" pitchFamily="2" charset="0"/>
                <a:cs typeface="Poppins" panose="00000500000000000000" pitchFamily="2" charset="0"/>
              </a:rPr>
              <a:t>The Path Module helps work with file and folder paths.</a:t>
            </a:r>
          </a:p>
          <a:p>
            <a:endParaRPr lang="en-IN" sz="12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endParaRPr lang="en-IN" sz="12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IN" sz="1200" b="1" dirty="0">
                <a:latin typeface="Poppins" panose="00000500000000000000" pitchFamily="2" charset="0"/>
                <a:cs typeface="Poppins" panose="00000500000000000000" pitchFamily="2" charset="0"/>
              </a:rPr>
              <a:t>Common Uses:</a:t>
            </a:r>
          </a:p>
          <a:p>
            <a:endParaRPr lang="en-IN" sz="1200" b="1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628650" lvl="1" indent="-171450">
              <a:buClr>
                <a:schemeClr val="accent1">
                  <a:lumMod val="50000"/>
                </a:schemeClr>
              </a:buClr>
              <a:buFont typeface="Courier New" panose="02070309020205020404" pitchFamily="49" charset="0"/>
              <a:buChar char="o"/>
            </a:pPr>
            <a:r>
              <a:rPr lang="en-IN" sz="1200" dirty="0">
                <a:latin typeface="Poppins" panose="00000500000000000000" pitchFamily="2" charset="0"/>
                <a:cs typeface="Poppins" panose="00000500000000000000" pitchFamily="2" charset="0"/>
              </a:rPr>
              <a:t>Join folder paths</a:t>
            </a:r>
          </a:p>
          <a:p>
            <a:pPr marL="628650" lvl="1" indent="-171450">
              <a:buClr>
                <a:schemeClr val="accent1">
                  <a:lumMod val="50000"/>
                </a:schemeClr>
              </a:buClr>
              <a:buFont typeface="Courier New" panose="02070309020205020404" pitchFamily="49" charset="0"/>
              <a:buChar char="o"/>
            </a:pPr>
            <a:r>
              <a:rPr lang="en-IN" sz="1200" dirty="0">
                <a:latin typeface="Poppins" panose="00000500000000000000" pitchFamily="2" charset="0"/>
                <a:cs typeface="Poppins" panose="00000500000000000000" pitchFamily="2" charset="0"/>
              </a:rPr>
              <a:t>Get file extension</a:t>
            </a:r>
          </a:p>
          <a:p>
            <a:pPr marL="628650" lvl="1" indent="-171450">
              <a:buClr>
                <a:schemeClr val="accent1">
                  <a:lumMod val="50000"/>
                </a:schemeClr>
              </a:buClr>
              <a:buFont typeface="Courier New" panose="02070309020205020404" pitchFamily="49" charset="0"/>
              <a:buChar char="o"/>
            </a:pPr>
            <a:r>
              <a:rPr lang="en-IN" sz="1200" dirty="0">
                <a:latin typeface="Poppins" panose="00000500000000000000" pitchFamily="2" charset="0"/>
                <a:cs typeface="Poppins" panose="00000500000000000000" pitchFamily="2" charset="0"/>
              </a:rPr>
              <a:t>Get file name</a:t>
            </a:r>
          </a:p>
          <a:p>
            <a:pPr marL="628650" lvl="1" indent="-171450">
              <a:buClr>
                <a:schemeClr val="accent1">
                  <a:lumMod val="50000"/>
                </a:schemeClr>
              </a:buClr>
              <a:buFont typeface="Courier New" panose="02070309020205020404" pitchFamily="49" charset="0"/>
              <a:buChar char="o"/>
            </a:pPr>
            <a:r>
              <a:rPr lang="en-IN" sz="1200" dirty="0">
                <a:latin typeface="Poppins" panose="00000500000000000000" pitchFamily="2" charset="0"/>
                <a:cs typeface="Poppins" panose="00000500000000000000" pitchFamily="2" charset="0"/>
              </a:rPr>
              <a:t>Normalize file paths</a:t>
            </a:r>
          </a:p>
          <a:p>
            <a:pPr lvl="1">
              <a:buClr>
                <a:schemeClr val="accent1">
                  <a:lumMod val="50000"/>
                </a:schemeClr>
              </a:buClr>
            </a:pPr>
            <a:endParaRPr lang="en-IN" sz="12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lvl="1">
              <a:buClr>
                <a:schemeClr val="accent1">
                  <a:lumMod val="50000"/>
                </a:schemeClr>
              </a:buClr>
            </a:pPr>
            <a:endParaRPr lang="en-IN" sz="12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IN" sz="1200" b="1" dirty="0">
                <a:latin typeface="Poppins" panose="00000500000000000000" pitchFamily="2" charset="0"/>
                <a:cs typeface="Poppins" panose="00000500000000000000" pitchFamily="2" charset="0"/>
              </a:rPr>
              <a:t>Real-Life Use:</a:t>
            </a:r>
          </a:p>
          <a:p>
            <a:endParaRPr lang="en-IN" sz="1200" b="1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628650" lvl="1" indent="-171450">
              <a:buClr>
                <a:schemeClr val="accent1">
                  <a:lumMod val="50000"/>
                </a:schemeClr>
              </a:buClr>
              <a:buFont typeface="Courier New" panose="02070309020205020404" pitchFamily="49" charset="0"/>
              <a:buChar char="o"/>
            </a:pPr>
            <a:r>
              <a:rPr lang="en-IN" sz="1200" dirty="0">
                <a:latin typeface="Poppins" panose="00000500000000000000" pitchFamily="2" charset="0"/>
                <a:cs typeface="Poppins" panose="00000500000000000000" pitchFamily="2" charset="0"/>
              </a:rPr>
              <a:t>Managing files and folders</a:t>
            </a:r>
          </a:p>
          <a:p>
            <a:pPr lvl="1">
              <a:buClr>
                <a:schemeClr val="accent1">
                  <a:lumMod val="50000"/>
                </a:schemeClr>
              </a:buClr>
            </a:pPr>
            <a:endParaRPr lang="en-IN" sz="12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CCCBF7C-9F39-4399-1C7B-0D04273E77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4531" y="2257865"/>
            <a:ext cx="4206605" cy="142441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73152"/>
            <a:ext cx="566928" cy="62179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201168" y="457200"/>
            <a:ext cx="41148" cy="566928"/>
          </a:xfrm>
          <a:prstGeom prst="rect">
            <a:avLst/>
          </a:prstGeom>
          <a:solidFill>
            <a:srgbClr val="073763"/>
          </a:solidFill>
          <a:ln/>
        </p:spPr>
      </p:sp>
      <p:sp>
        <p:nvSpPr>
          <p:cNvPr id="5" name="Text 2"/>
          <p:cNvSpPr/>
          <p:nvPr/>
        </p:nvSpPr>
        <p:spPr>
          <a:xfrm>
            <a:off x="292608" y="457200"/>
            <a:ext cx="8138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737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Path Module — File Path Utilities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365760" y="1153544"/>
            <a:ext cx="8412480" cy="256032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8" name="Shape 5"/>
          <p:cNvSpPr/>
          <p:nvPr/>
        </p:nvSpPr>
        <p:spPr>
          <a:xfrm>
            <a:off x="502920" y="1217552"/>
            <a:ext cx="91440" cy="91440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9" name="Shape 6"/>
          <p:cNvSpPr/>
          <p:nvPr/>
        </p:nvSpPr>
        <p:spPr>
          <a:xfrm>
            <a:off x="658368" y="1217552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0" name="Shape 7"/>
          <p:cNvSpPr/>
          <p:nvPr/>
        </p:nvSpPr>
        <p:spPr>
          <a:xfrm>
            <a:off x="813816" y="1217552"/>
            <a:ext cx="91440" cy="91440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1" name="Shape 8"/>
          <p:cNvSpPr/>
          <p:nvPr/>
        </p:nvSpPr>
        <p:spPr>
          <a:xfrm>
            <a:off x="365760" y="1416608"/>
            <a:ext cx="8412480" cy="350005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2" name="Text 9"/>
          <p:cNvSpPr/>
          <p:nvPr/>
        </p:nvSpPr>
        <p:spPr>
          <a:xfrm>
            <a:off x="502920" y="1446151"/>
            <a:ext cx="8138160" cy="333686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path = require('path');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Join paths (handles OS separators automatically)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full = path.join('/home', 'alice', 'projects', 'app.js');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console.log(full);          // /home/alice/projects/app.js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Resolve to absolute path (from cwd)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console.log(path.resolve('src', 'index.js'));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Extract parts of a path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file = '/home/alice/app.js';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console.log(path.basename(file));        // app.js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console.log(path.basename(file, '.js')); // app  (strip extension)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console.log(path.dirname(file));         // /home/alice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console.log(path.extname(file));         // .js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endParaRPr lang="en-US" sz="1100" dirty="0"/>
          </a:p>
        </p:txBody>
      </p:sp>
      <p:sp>
        <p:nvSpPr>
          <p:cNvPr id="13" name="Text 0">
            <a:extLst>
              <a:ext uri="{FF2B5EF4-FFF2-40B4-BE49-F238E27FC236}">
                <a16:creationId xmlns:a16="http://schemas.microsoft.com/office/drawing/2014/main" id="{74D06DE2-B091-C2FD-61A5-F66AE746D8D2}"/>
              </a:ext>
            </a:extLst>
          </p:cNvPr>
          <p:cNvSpPr/>
          <p:nvPr/>
        </p:nvSpPr>
        <p:spPr>
          <a:xfrm>
            <a:off x="8686800" y="484632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73152"/>
            <a:ext cx="566928" cy="6217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0" y="484632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11</a:t>
            </a:r>
            <a:endParaRPr lang="en-US" sz="900" dirty="0"/>
          </a:p>
        </p:txBody>
      </p:sp>
      <p:sp>
        <p:nvSpPr>
          <p:cNvPr id="4" name="Shape 1"/>
          <p:cNvSpPr/>
          <p:nvPr/>
        </p:nvSpPr>
        <p:spPr>
          <a:xfrm>
            <a:off x="201168" y="457200"/>
            <a:ext cx="41148" cy="566928"/>
          </a:xfrm>
          <a:prstGeom prst="rect">
            <a:avLst/>
          </a:prstGeom>
          <a:solidFill>
            <a:srgbClr val="073763"/>
          </a:solidFill>
          <a:ln/>
        </p:spPr>
      </p:sp>
      <p:sp>
        <p:nvSpPr>
          <p:cNvPr id="5" name="Text 2"/>
          <p:cNvSpPr/>
          <p:nvPr/>
        </p:nvSpPr>
        <p:spPr>
          <a:xfrm>
            <a:off x="292608" y="457200"/>
            <a:ext cx="8138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737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FS (File System) Module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475488" y="1078992"/>
            <a:ext cx="8138160" cy="30428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200" dirty="0">
                <a:latin typeface="Poppins" panose="00000500000000000000" pitchFamily="2" charset="0"/>
                <a:cs typeface="Poppins" panose="00000500000000000000" pitchFamily="2" charset="0"/>
              </a:rPr>
              <a:t>The FS Module allows Node.js to interact with files.</a:t>
            </a:r>
          </a:p>
          <a:p>
            <a:endParaRPr lang="en-IN" sz="12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IN" sz="1200" b="1" dirty="0">
                <a:latin typeface="Poppins" panose="00000500000000000000" pitchFamily="2" charset="0"/>
                <a:cs typeface="Poppins" panose="00000500000000000000" pitchFamily="2" charset="0"/>
              </a:rPr>
              <a:t>It can:</a:t>
            </a:r>
          </a:p>
          <a:p>
            <a:endParaRPr lang="en-IN" sz="1200" b="1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628650" lvl="1" indent="-171450">
              <a:buClr>
                <a:schemeClr val="accent1">
                  <a:lumMod val="50000"/>
                </a:schemeClr>
              </a:buClr>
              <a:buFont typeface="Courier New" panose="02070309020205020404" pitchFamily="49" charset="0"/>
              <a:buChar char="o"/>
            </a:pPr>
            <a:r>
              <a:rPr lang="en-IN" sz="1200" dirty="0">
                <a:latin typeface="Poppins" panose="00000500000000000000" pitchFamily="2" charset="0"/>
                <a:cs typeface="Poppins" panose="00000500000000000000" pitchFamily="2" charset="0"/>
              </a:rPr>
              <a:t>Read files</a:t>
            </a:r>
          </a:p>
          <a:p>
            <a:pPr marL="628650" lvl="1" indent="-171450">
              <a:buClr>
                <a:schemeClr val="accent1">
                  <a:lumMod val="50000"/>
                </a:schemeClr>
              </a:buClr>
              <a:buFont typeface="Courier New" panose="02070309020205020404" pitchFamily="49" charset="0"/>
              <a:buChar char="o"/>
            </a:pPr>
            <a:r>
              <a:rPr lang="en-IN" sz="1200" dirty="0">
                <a:latin typeface="Poppins" panose="00000500000000000000" pitchFamily="2" charset="0"/>
                <a:cs typeface="Poppins" panose="00000500000000000000" pitchFamily="2" charset="0"/>
              </a:rPr>
              <a:t>Create files</a:t>
            </a:r>
          </a:p>
          <a:p>
            <a:pPr marL="628650" lvl="1" indent="-171450">
              <a:buClr>
                <a:schemeClr val="accent1">
                  <a:lumMod val="50000"/>
                </a:schemeClr>
              </a:buClr>
              <a:buFont typeface="Courier New" panose="02070309020205020404" pitchFamily="49" charset="0"/>
              <a:buChar char="o"/>
            </a:pPr>
            <a:r>
              <a:rPr lang="en-IN" sz="1200" dirty="0">
                <a:latin typeface="Poppins" panose="00000500000000000000" pitchFamily="2" charset="0"/>
                <a:cs typeface="Poppins" panose="00000500000000000000" pitchFamily="2" charset="0"/>
              </a:rPr>
              <a:t>Update files</a:t>
            </a:r>
          </a:p>
          <a:p>
            <a:pPr marL="628650" lvl="1" indent="-171450">
              <a:buClr>
                <a:schemeClr val="accent1">
                  <a:lumMod val="50000"/>
                </a:schemeClr>
              </a:buClr>
              <a:buFont typeface="Courier New" panose="02070309020205020404" pitchFamily="49" charset="0"/>
              <a:buChar char="o"/>
            </a:pPr>
            <a:r>
              <a:rPr lang="en-IN" sz="1200" dirty="0">
                <a:latin typeface="Poppins" panose="00000500000000000000" pitchFamily="2" charset="0"/>
                <a:cs typeface="Poppins" panose="00000500000000000000" pitchFamily="2" charset="0"/>
              </a:rPr>
              <a:t>Delete files</a:t>
            </a:r>
          </a:p>
          <a:p>
            <a:endParaRPr lang="en-IN" sz="12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endParaRPr lang="en-IN" sz="12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IN" sz="1200" b="1" dirty="0">
                <a:latin typeface="Poppins" panose="00000500000000000000" pitchFamily="2" charset="0"/>
                <a:cs typeface="Poppins" panose="00000500000000000000" pitchFamily="2" charset="0"/>
              </a:rPr>
              <a:t>Real-Life Use:</a:t>
            </a:r>
          </a:p>
          <a:p>
            <a:endParaRPr lang="en-IN" sz="1200" b="1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628650" lvl="1" indent="-171450">
              <a:buClr>
                <a:schemeClr val="accent1">
                  <a:lumMod val="50000"/>
                </a:schemeClr>
              </a:buClr>
              <a:buFont typeface="Courier New" panose="02070309020205020404" pitchFamily="49" charset="0"/>
              <a:buChar char="o"/>
            </a:pPr>
            <a:r>
              <a:rPr lang="en-IN" sz="1200" dirty="0">
                <a:latin typeface="Poppins" panose="00000500000000000000" pitchFamily="2" charset="0"/>
                <a:cs typeface="Poppins" panose="00000500000000000000" pitchFamily="2" charset="0"/>
              </a:rPr>
              <a:t>Save reports</a:t>
            </a:r>
          </a:p>
          <a:p>
            <a:pPr marL="628650" lvl="1" indent="-171450">
              <a:buClr>
                <a:schemeClr val="accent1">
                  <a:lumMod val="50000"/>
                </a:schemeClr>
              </a:buClr>
              <a:buFont typeface="Courier New" panose="02070309020205020404" pitchFamily="49" charset="0"/>
              <a:buChar char="o"/>
            </a:pPr>
            <a:r>
              <a:rPr lang="en-IN" sz="1200" dirty="0">
                <a:latin typeface="Poppins" panose="00000500000000000000" pitchFamily="2" charset="0"/>
                <a:cs typeface="Poppins" panose="00000500000000000000" pitchFamily="2" charset="0"/>
              </a:rPr>
              <a:t>Read configuration files</a:t>
            </a:r>
          </a:p>
          <a:p>
            <a:pPr marL="628650" lvl="1" indent="-171450">
              <a:buClr>
                <a:schemeClr val="accent1">
                  <a:lumMod val="50000"/>
                </a:schemeClr>
              </a:buClr>
              <a:buFont typeface="Courier New" panose="02070309020205020404" pitchFamily="49" charset="0"/>
              <a:buChar char="o"/>
            </a:pPr>
            <a:r>
              <a:rPr lang="en-IN" sz="1200" dirty="0">
                <a:latin typeface="Poppins" panose="00000500000000000000" pitchFamily="2" charset="0"/>
                <a:cs typeface="Poppins" panose="00000500000000000000" pitchFamily="2" charset="0"/>
              </a:rPr>
              <a:t>Manage documents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5F0D1D4-A06E-C68A-3DC6-647AF5E463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6700" y="2336346"/>
            <a:ext cx="4061812" cy="145554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73152"/>
            <a:ext cx="566928" cy="6217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0" y="484632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12</a:t>
            </a:r>
            <a:endParaRPr lang="en-US" sz="900" dirty="0"/>
          </a:p>
        </p:txBody>
      </p:sp>
      <p:sp>
        <p:nvSpPr>
          <p:cNvPr id="4" name="Shape 1"/>
          <p:cNvSpPr/>
          <p:nvPr/>
        </p:nvSpPr>
        <p:spPr>
          <a:xfrm>
            <a:off x="201168" y="457200"/>
            <a:ext cx="41148" cy="566928"/>
          </a:xfrm>
          <a:prstGeom prst="rect">
            <a:avLst/>
          </a:prstGeom>
          <a:solidFill>
            <a:srgbClr val="073763"/>
          </a:solidFill>
          <a:ln/>
        </p:spPr>
      </p:sp>
      <p:sp>
        <p:nvSpPr>
          <p:cNvPr id="5" name="Text 2"/>
          <p:cNvSpPr/>
          <p:nvPr/>
        </p:nvSpPr>
        <p:spPr>
          <a:xfrm>
            <a:off x="292608" y="457200"/>
            <a:ext cx="8138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dirty="0">
                <a:solidFill>
                  <a:srgbClr val="0737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Why FS Module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365760" y="2514600"/>
            <a:ext cx="84124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spcAft>
                <a:spcPts val="400"/>
              </a:spcAft>
              <a:buFont typeface="Courier New" panose="02070309020205020404" pitchFamily="49" charset="0"/>
              <a:buChar char="o"/>
            </a:pPr>
            <a:endParaRPr lang="en-US" sz="1100" dirty="0">
              <a:solidFill>
                <a:srgbClr val="273239"/>
              </a:solidFill>
              <a:latin typeface="Poppins" pitchFamily="34" charset="0"/>
              <a:cs typeface="Poppins" pitchFamily="34" charset="-120"/>
            </a:endParaRPr>
          </a:p>
          <a:p>
            <a:pPr marL="171450" indent="-171450">
              <a:spcAft>
                <a:spcPts val="400"/>
              </a:spcAft>
              <a:buFont typeface="Courier New" panose="02070309020205020404" pitchFamily="49" charset="0"/>
              <a:buChar char="o"/>
            </a:pPr>
            <a:endParaRPr lang="en-US" sz="11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FF45FE0-4AE9-BB12-2987-26F1A074C0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197053"/>
            <a:ext cx="9144000" cy="365630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73152"/>
            <a:ext cx="566928" cy="6217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0" y="484632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Poppins" pitchFamily="34" charset="0"/>
                <a:cs typeface="Poppins" pitchFamily="34" charset="-120"/>
              </a:rPr>
              <a:t>13</a:t>
            </a:r>
            <a:endParaRPr lang="en-US" sz="900" dirty="0"/>
          </a:p>
        </p:txBody>
      </p:sp>
      <p:sp>
        <p:nvSpPr>
          <p:cNvPr id="4" name="Shape 1"/>
          <p:cNvSpPr/>
          <p:nvPr/>
        </p:nvSpPr>
        <p:spPr>
          <a:xfrm>
            <a:off x="201168" y="457200"/>
            <a:ext cx="41148" cy="566928"/>
          </a:xfrm>
          <a:prstGeom prst="rect">
            <a:avLst/>
          </a:prstGeom>
          <a:solidFill>
            <a:srgbClr val="073763"/>
          </a:solidFill>
          <a:ln/>
        </p:spPr>
      </p:sp>
      <p:sp>
        <p:nvSpPr>
          <p:cNvPr id="5" name="Text 2"/>
          <p:cNvSpPr/>
          <p:nvPr/>
        </p:nvSpPr>
        <p:spPr>
          <a:xfrm>
            <a:off x="292608" y="457200"/>
            <a:ext cx="8138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737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FS — Reading Files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365760" y="114300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Three ways to read a file: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365760" y="1554480"/>
            <a:ext cx="8412480" cy="256032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8" name="Shape 5"/>
          <p:cNvSpPr/>
          <p:nvPr/>
        </p:nvSpPr>
        <p:spPr>
          <a:xfrm>
            <a:off x="502920" y="1618488"/>
            <a:ext cx="91440" cy="91440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9" name="Shape 6"/>
          <p:cNvSpPr/>
          <p:nvPr/>
        </p:nvSpPr>
        <p:spPr>
          <a:xfrm>
            <a:off x="658368" y="1618488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0" name="Shape 7"/>
          <p:cNvSpPr/>
          <p:nvPr/>
        </p:nvSpPr>
        <p:spPr>
          <a:xfrm>
            <a:off x="813816" y="1618488"/>
            <a:ext cx="91440" cy="91440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1" name="Shape 8"/>
          <p:cNvSpPr/>
          <p:nvPr/>
        </p:nvSpPr>
        <p:spPr>
          <a:xfrm>
            <a:off x="365760" y="1810512"/>
            <a:ext cx="8412480" cy="3058668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2" name="Text 9"/>
          <p:cNvSpPr/>
          <p:nvPr/>
        </p:nvSpPr>
        <p:spPr>
          <a:xfrm>
            <a:off x="502920" y="1965960"/>
            <a:ext cx="8138160" cy="27203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fs = require('fs');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1. Async with callback (classic Node.js style)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fs.readFile('data.txt', 'utf8', (err, data) =&gt;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(err) { console.error('Error:', err.message); return; 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console.log('Content:', data);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2. Synchronous (blocks the event loop!)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data = fs.readFileSync('data.txt', 'utf8');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console.log('Content:', data);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catch (err)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console.error('Error:', err.message);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7EDC70-2F2D-310C-7DEB-75B3593726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BD37F764-4781-7563-0D9F-6BA172E03E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73152"/>
            <a:ext cx="566928" cy="621792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959BE789-208E-FF2D-431D-CC6E444C6716}"/>
              </a:ext>
            </a:extLst>
          </p:cNvPr>
          <p:cNvSpPr/>
          <p:nvPr/>
        </p:nvSpPr>
        <p:spPr>
          <a:xfrm>
            <a:off x="8686800" y="484632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Poppins" pitchFamily="34" charset="0"/>
                <a:cs typeface="Poppins" pitchFamily="34" charset="-120"/>
              </a:rPr>
              <a:t>14</a:t>
            </a:r>
            <a:endParaRPr lang="en-US" sz="900" dirty="0"/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18EF92D8-C776-5938-24F5-B560E40DE590}"/>
              </a:ext>
            </a:extLst>
          </p:cNvPr>
          <p:cNvSpPr/>
          <p:nvPr/>
        </p:nvSpPr>
        <p:spPr>
          <a:xfrm>
            <a:off x="201168" y="457200"/>
            <a:ext cx="41148" cy="566928"/>
          </a:xfrm>
          <a:prstGeom prst="rect">
            <a:avLst/>
          </a:prstGeom>
          <a:solidFill>
            <a:srgbClr val="073763"/>
          </a:solidFill>
          <a:ln/>
        </p:spPr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21CA928B-301A-7462-C4FE-988BC3316BE7}"/>
              </a:ext>
            </a:extLst>
          </p:cNvPr>
          <p:cNvSpPr/>
          <p:nvPr/>
        </p:nvSpPr>
        <p:spPr>
          <a:xfrm>
            <a:off x="292608" y="457200"/>
            <a:ext cx="8138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737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FS — Reading Files</a:t>
            </a:r>
            <a:endParaRPr lang="en-US" sz="20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EB4C6CB7-FB50-AB0E-B74E-EBFEE2E69CA1}"/>
              </a:ext>
            </a:extLst>
          </p:cNvPr>
          <p:cNvSpPr/>
          <p:nvPr/>
        </p:nvSpPr>
        <p:spPr>
          <a:xfrm>
            <a:off x="365760" y="114300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Three ways to read a file:</a:t>
            </a:r>
            <a:endParaRPr lang="en-US" sz="1200" dirty="0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C569DFA3-E73B-AE74-F013-CD1E80C6A6B3}"/>
              </a:ext>
            </a:extLst>
          </p:cNvPr>
          <p:cNvSpPr/>
          <p:nvPr/>
        </p:nvSpPr>
        <p:spPr>
          <a:xfrm>
            <a:off x="365760" y="1554480"/>
            <a:ext cx="8412480" cy="256032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03D8D71F-75BE-EB45-0192-67448BFE6C7A}"/>
              </a:ext>
            </a:extLst>
          </p:cNvPr>
          <p:cNvSpPr/>
          <p:nvPr/>
        </p:nvSpPr>
        <p:spPr>
          <a:xfrm>
            <a:off x="502920" y="1618488"/>
            <a:ext cx="91440" cy="91440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B11B8D38-75B1-01C5-5499-B5345AFD7F37}"/>
              </a:ext>
            </a:extLst>
          </p:cNvPr>
          <p:cNvSpPr/>
          <p:nvPr/>
        </p:nvSpPr>
        <p:spPr>
          <a:xfrm>
            <a:off x="658368" y="1618488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8AB1313E-DF1E-9FFC-14C3-EE708F532162}"/>
              </a:ext>
            </a:extLst>
          </p:cNvPr>
          <p:cNvSpPr/>
          <p:nvPr/>
        </p:nvSpPr>
        <p:spPr>
          <a:xfrm>
            <a:off x="813816" y="1618488"/>
            <a:ext cx="91440" cy="91440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F3B65EC0-64A8-9B89-E6A0-9F5C3A23A964}"/>
              </a:ext>
            </a:extLst>
          </p:cNvPr>
          <p:cNvSpPr/>
          <p:nvPr/>
        </p:nvSpPr>
        <p:spPr>
          <a:xfrm>
            <a:off x="365760" y="1810512"/>
            <a:ext cx="8412480" cy="3058668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92280068-7827-67E9-EC22-3746B894587C}"/>
              </a:ext>
            </a:extLst>
          </p:cNvPr>
          <p:cNvSpPr/>
          <p:nvPr/>
        </p:nvSpPr>
        <p:spPr>
          <a:xfrm>
            <a:off x="502920" y="1965960"/>
            <a:ext cx="8138160" cy="28483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fs = require('fs');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endParaRPr lang="en-US" sz="1100" dirty="0">
              <a:solidFill>
                <a:srgbClr val="6A9955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3. Promises with async/await (recommended)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fsP = require('fs/promises');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function readData()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try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data = await fsP.readFile('data.txt', 'utf8');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console.log('Content:', data);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 catch (err)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console.error('Error:', err.message);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readData();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2736678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73152"/>
            <a:ext cx="566928" cy="6217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0" y="484632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Poppins" pitchFamily="34" charset="0"/>
                <a:cs typeface="Poppins" pitchFamily="34" charset="-120"/>
              </a:rPr>
              <a:t>15</a:t>
            </a:r>
            <a:endParaRPr lang="en-US" sz="900" dirty="0"/>
          </a:p>
        </p:txBody>
      </p:sp>
      <p:sp>
        <p:nvSpPr>
          <p:cNvPr id="4" name="Shape 1"/>
          <p:cNvSpPr/>
          <p:nvPr/>
        </p:nvSpPr>
        <p:spPr>
          <a:xfrm>
            <a:off x="201168" y="457200"/>
            <a:ext cx="41148" cy="566928"/>
          </a:xfrm>
          <a:prstGeom prst="rect">
            <a:avLst/>
          </a:prstGeom>
          <a:solidFill>
            <a:srgbClr val="073763"/>
          </a:solidFill>
          <a:ln/>
        </p:spPr>
      </p:sp>
      <p:sp>
        <p:nvSpPr>
          <p:cNvPr id="5" name="Text 2"/>
          <p:cNvSpPr/>
          <p:nvPr/>
        </p:nvSpPr>
        <p:spPr>
          <a:xfrm>
            <a:off x="292608" y="457200"/>
            <a:ext cx="8138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737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FS — Writing Files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365760" y="1170432"/>
            <a:ext cx="8412480" cy="256032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7" name="Shape 4"/>
          <p:cNvSpPr/>
          <p:nvPr/>
        </p:nvSpPr>
        <p:spPr>
          <a:xfrm>
            <a:off x="502920" y="1234440"/>
            <a:ext cx="91440" cy="91440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8" name="Shape 5"/>
          <p:cNvSpPr/>
          <p:nvPr/>
        </p:nvSpPr>
        <p:spPr>
          <a:xfrm>
            <a:off x="658368" y="1234440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6"/>
          <p:cNvSpPr/>
          <p:nvPr/>
        </p:nvSpPr>
        <p:spPr>
          <a:xfrm>
            <a:off x="813816" y="1234440"/>
            <a:ext cx="91440" cy="91440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0" name="Shape 7"/>
          <p:cNvSpPr/>
          <p:nvPr/>
        </p:nvSpPr>
        <p:spPr>
          <a:xfrm>
            <a:off x="365760" y="1426464"/>
            <a:ext cx="8412480" cy="3419856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1" name="Text 8"/>
          <p:cNvSpPr/>
          <p:nvPr/>
        </p:nvSpPr>
        <p:spPr>
          <a:xfrm>
            <a:off x="502920" y="1682496"/>
            <a:ext cx="8138160" cy="31318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fs = require('fs');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writeFile — creates or OVERWRITES the file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fs.writeFile('output.txt', 'Hello World!\n', (err) =&gt;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(err) throw err;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console.log('File written!');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writeFile with JSON data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user = { name: 'Alice', role: 'admin' };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fs.writeFile('user.json', JSON.stringify(user, null, 2), (err) =&gt;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(err) throw err;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console.log('JSON file saved!');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C6E4A8-D048-933D-98B7-4B12046C2A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C19B0B94-AAAC-99C7-5F5E-87DA9913FC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73152"/>
            <a:ext cx="566928" cy="621792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C46BC7E7-C5BD-74B2-20E4-49579745B6DF}"/>
              </a:ext>
            </a:extLst>
          </p:cNvPr>
          <p:cNvSpPr/>
          <p:nvPr/>
        </p:nvSpPr>
        <p:spPr>
          <a:xfrm>
            <a:off x="8686800" y="484632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Poppins" pitchFamily="34" charset="0"/>
                <a:cs typeface="Poppins" pitchFamily="34" charset="-120"/>
              </a:rPr>
              <a:t>16</a:t>
            </a:r>
            <a:endParaRPr lang="en-US" sz="900" dirty="0"/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EF135E01-C80E-689F-FE04-82CF03952AAD}"/>
              </a:ext>
            </a:extLst>
          </p:cNvPr>
          <p:cNvSpPr/>
          <p:nvPr/>
        </p:nvSpPr>
        <p:spPr>
          <a:xfrm>
            <a:off x="201168" y="457200"/>
            <a:ext cx="41148" cy="566928"/>
          </a:xfrm>
          <a:prstGeom prst="rect">
            <a:avLst/>
          </a:prstGeom>
          <a:solidFill>
            <a:srgbClr val="073763"/>
          </a:solidFill>
          <a:ln/>
        </p:spPr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F75BA76D-9EF1-2EB9-A014-1E90699F3549}"/>
              </a:ext>
            </a:extLst>
          </p:cNvPr>
          <p:cNvSpPr/>
          <p:nvPr/>
        </p:nvSpPr>
        <p:spPr>
          <a:xfrm>
            <a:off x="292608" y="457200"/>
            <a:ext cx="8138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737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FS — Appending  &amp; Delete/unlink Files</a:t>
            </a:r>
            <a:endParaRPr lang="en-US" sz="2000" dirty="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6FB25688-9E6A-8460-66E0-B8BA9E048E8C}"/>
              </a:ext>
            </a:extLst>
          </p:cNvPr>
          <p:cNvSpPr/>
          <p:nvPr/>
        </p:nvSpPr>
        <p:spPr>
          <a:xfrm>
            <a:off x="365760" y="1170432"/>
            <a:ext cx="8412480" cy="256032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447AF860-A754-1CE9-C6B4-29D9AB5A7AC5}"/>
              </a:ext>
            </a:extLst>
          </p:cNvPr>
          <p:cNvSpPr/>
          <p:nvPr/>
        </p:nvSpPr>
        <p:spPr>
          <a:xfrm>
            <a:off x="502920" y="1234440"/>
            <a:ext cx="91440" cy="91440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6FE686D8-531F-606F-B5BB-A895AD76E965}"/>
              </a:ext>
            </a:extLst>
          </p:cNvPr>
          <p:cNvSpPr/>
          <p:nvPr/>
        </p:nvSpPr>
        <p:spPr>
          <a:xfrm>
            <a:off x="658368" y="1234440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FA236FEF-2CE5-C332-54BC-3753CDCDB6B2}"/>
              </a:ext>
            </a:extLst>
          </p:cNvPr>
          <p:cNvSpPr/>
          <p:nvPr/>
        </p:nvSpPr>
        <p:spPr>
          <a:xfrm>
            <a:off x="813816" y="1234440"/>
            <a:ext cx="91440" cy="91440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3A773CBC-2FE2-0410-8986-745E7AE51966}"/>
              </a:ext>
            </a:extLst>
          </p:cNvPr>
          <p:cNvSpPr/>
          <p:nvPr/>
        </p:nvSpPr>
        <p:spPr>
          <a:xfrm>
            <a:off x="365760" y="1426464"/>
            <a:ext cx="8412480" cy="3319272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5BC7278C-26C1-794C-101D-E581ECDEE4CF}"/>
              </a:ext>
            </a:extLst>
          </p:cNvPr>
          <p:cNvSpPr/>
          <p:nvPr/>
        </p:nvSpPr>
        <p:spPr>
          <a:xfrm>
            <a:off x="502920" y="1682496"/>
            <a:ext cx="8138160" cy="31318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fs = require('fs');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appendFile — adds to existing content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logEntry = `[${new Date().toISOString()}] Server started\n`;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fs.appendFile('server.log', logEntry, (err) =&gt;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(err) throw err;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console.log('Log updated!');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Delete a file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fs.unlink('temp.txt', (err) =&gt;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(err &amp;&amp; err.code !== 'ENOENT') throw err;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console.log('File deleted!');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5793223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73152"/>
            <a:ext cx="566928" cy="6217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0" y="484632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Poppins" pitchFamily="34" charset="0"/>
                <a:cs typeface="Poppins" pitchFamily="34" charset="-120"/>
              </a:rPr>
              <a:t>17</a:t>
            </a:r>
            <a:endParaRPr lang="en-US" sz="900" dirty="0"/>
          </a:p>
        </p:txBody>
      </p:sp>
      <p:sp>
        <p:nvSpPr>
          <p:cNvPr id="4" name="Shape 1"/>
          <p:cNvSpPr/>
          <p:nvPr/>
        </p:nvSpPr>
        <p:spPr>
          <a:xfrm>
            <a:off x="201168" y="457200"/>
            <a:ext cx="41148" cy="566928"/>
          </a:xfrm>
          <a:prstGeom prst="rect">
            <a:avLst/>
          </a:prstGeom>
          <a:solidFill>
            <a:srgbClr val="073763"/>
          </a:solidFill>
          <a:ln/>
        </p:spPr>
      </p:sp>
      <p:sp>
        <p:nvSpPr>
          <p:cNvPr id="5" name="Text 2"/>
          <p:cNvSpPr/>
          <p:nvPr/>
        </p:nvSpPr>
        <p:spPr>
          <a:xfrm>
            <a:off x="292608" y="457200"/>
            <a:ext cx="8138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737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Crypto Module</a:t>
            </a:r>
            <a:endParaRPr lang="en-US" sz="20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F4D2750-9CF3-BF18-40F6-60843557C5D9}"/>
              </a:ext>
            </a:extLst>
          </p:cNvPr>
          <p:cNvSpPr txBox="1"/>
          <p:nvPr/>
        </p:nvSpPr>
        <p:spPr>
          <a:xfrm>
            <a:off x="527538" y="1232921"/>
            <a:ext cx="5310554" cy="2492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200" dirty="0">
                <a:latin typeface="Poppins" panose="00000500000000000000" pitchFamily="2" charset="0"/>
                <a:cs typeface="Poppins" panose="00000500000000000000" pitchFamily="2" charset="0"/>
              </a:rPr>
              <a:t>The </a:t>
            </a:r>
            <a:r>
              <a:rPr lang="en-IN" sz="1200" b="1" dirty="0">
                <a:latin typeface="Poppins" panose="00000500000000000000" pitchFamily="2" charset="0"/>
                <a:cs typeface="Poppins" panose="00000500000000000000" pitchFamily="2" charset="0"/>
              </a:rPr>
              <a:t>Crypto Module</a:t>
            </a:r>
            <a:r>
              <a:rPr lang="en-IN" sz="1200" dirty="0">
                <a:latin typeface="Poppins" panose="00000500000000000000" pitchFamily="2" charset="0"/>
                <a:cs typeface="Poppins" panose="00000500000000000000" pitchFamily="2" charset="0"/>
              </a:rPr>
              <a:t> provides security features.</a:t>
            </a:r>
          </a:p>
          <a:p>
            <a:pPr>
              <a:buNone/>
            </a:pPr>
            <a:endParaRPr lang="en-IN" sz="12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>
              <a:buNone/>
            </a:pPr>
            <a:r>
              <a:rPr lang="en-IN" sz="1200" b="1" dirty="0">
                <a:latin typeface="Poppins" panose="00000500000000000000" pitchFamily="2" charset="0"/>
                <a:cs typeface="Poppins" panose="00000500000000000000" pitchFamily="2" charset="0"/>
              </a:rPr>
              <a:t>It can:</a:t>
            </a:r>
          </a:p>
          <a:p>
            <a:pPr>
              <a:buNone/>
            </a:pPr>
            <a:endParaRPr lang="en-IN" sz="1200" b="1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628650" lvl="1" indent="-171450">
              <a:buClr>
                <a:schemeClr val="accent1">
                  <a:lumMod val="50000"/>
                </a:schemeClr>
              </a:buClr>
              <a:buFont typeface="Courier New" panose="02070309020205020404" pitchFamily="49" charset="0"/>
              <a:buChar char="o"/>
            </a:pPr>
            <a:r>
              <a:rPr lang="en-IN" sz="1200" dirty="0">
                <a:latin typeface="Poppins" panose="00000500000000000000" pitchFamily="2" charset="0"/>
                <a:cs typeface="Poppins" panose="00000500000000000000" pitchFamily="2" charset="0"/>
              </a:rPr>
              <a:t>Encrypt data</a:t>
            </a:r>
          </a:p>
          <a:p>
            <a:pPr marL="628650" lvl="1" indent="-171450">
              <a:buClr>
                <a:schemeClr val="accent1">
                  <a:lumMod val="50000"/>
                </a:schemeClr>
              </a:buClr>
              <a:buFont typeface="Courier New" panose="02070309020205020404" pitchFamily="49" charset="0"/>
              <a:buChar char="o"/>
            </a:pPr>
            <a:r>
              <a:rPr lang="en-IN" sz="1200" dirty="0">
                <a:latin typeface="Poppins" panose="00000500000000000000" pitchFamily="2" charset="0"/>
                <a:cs typeface="Poppins" panose="00000500000000000000" pitchFamily="2" charset="0"/>
              </a:rPr>
              <a:t>Generate hashes</a:t>
            </a:r>
          </a:p>
          <a:p>
            <a:pPr marL="628650" lvl="1" indent="-171450">
              <a:buClr>
                <a:schemeClr val="accent1">
                  <a:lumMod val="50000"/>
                </a:schemeClr>
              </a:buClr>
              <a:buFont typeface="Courier New" panose="02070309020205020404" pitchFamily="49" charset="0"/>
              <a:buChar char="o"/>
            </a:pPr>
            <a:r>
              <a:rPr lang="en-IN" sz="1200" dirty="0">
                <a:latin typeface="Poppins" panose="00000500000000000000" pitchFamily="2" charset="0"/>
                <a:cs typeface="Poppins" panose="00000500000000000000" pitchFamily="2" charset="0"/>
              </a:rPr>
              <a:t>Create random values</a:t>
            </a:r>
          </a:p>
          <a:p>
            <a:pPr>
              <a:buNone/>
            </a:pPr>
            <a:endParaRPr lang="en-IN" sz="12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>
              <a:buNone/>
            </a:pPr>
            <a:endParaRPr lang="en-IN" sz="12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>
              <a:buNone/>
            </a:pPr>
            <a:r>
              <a:rPr lang="en-IN" sz="1200" b="1" dirty="0">
                <a:latin typeface="Poppins" panose="00000500000000000000" pitchFamily="2" charset="0"/>
                <a:cs typeface="Poppins" panose="00000500000000000000" pitchFamily="2" charset="0"/>
              </a:rPr>
              <a:t>Real-Life Use:</a:t>
            </a:r>
          </a:p>
          <a:p>
            <a:pPr>
              <a:buNone/>
            </a:pPr>
            <a:endParaRPr lang="en-IN" sz="1200" b="1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628650" lvl="1" indent="-171450">
              <a:buClr>
                <a:schemeClr val="accent1">
                  <a:lumMod val="50000"/>
                </a:schemeClr>
              </a:buClr>
              <a:buFont typeface="Courier New" panose="02070309020205020404" pitchFamily="49" charset="0"/>
              <a:buChar char="o"/>
            </a:pPr>
            <a:r>
              <a:rPr lang="en-IN" sz="1200" dirty="0">
                <a:latin typeface="Poppins" panose="00000500000000000000" pitchFamily="2" charset="0"/>
                <a:cs typeface="Poppins" panose="00000500000000000000" pitchFamily="2" charset="0"/>
              </a:rPr>
              <a:t>Password hashing</a:t>
            </a:r>
          </a:p>
          <a:p>
            <a:pPr marL="628650" lvl="1" indent="-171450">
              <a:buClr>
                <a:schemeClr val="accent1">
                  <a:lumMod val="50000"/>
                </a:schemeClr>
              </a:buClr>
              <a:buFont typeface="Courier New" panose="02070309020205020404" pitchFamily="49" charset="0"/>
              <a:buChar char="o"/>
            </a:pPr>
            <a:r>
              <a:rPr lang="en-IN" sz="1200" dirty="0">
                <a:latin typeface="Poppins" panose="00000500000000000000" pitchFamily="2" charset="0"/>
                <a:cs typeface="Poppins" panose="00000500000000000000" pitchFamily="2" charset="0"/>
              </a:rPr>
              <a:t>Secure authentication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E21AB0F-E5B7-0A2C-3591-D197731EE3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98677" y="1925665"/>
            <a:ext cx="3132091" cy="16155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73152"/>
            <a:ext cx="566928" cy="6217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0" y="484632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Poppins" pitchFamily="34" charset="0"/>
                <a:cs typeface="Poppins" pitchFamily="34" charset="-120"/>
              </a:rPr>
              <a:t>18</a:t>
            </a:r>
            <a:endParaRPr lang="en-US" sz="900" dirty="0"/>
          </a:p>
        </p:txBody>
      </p:sp>
      <p:sp>
        <p:nvSpPr>
          <p:cNvPr id="4" name="Shape 1"/>
          <p:cNvSpPr/>
          <p:nvPr/>
        </p:nvSpPr>
        <p:spPr>
          <a:xfrm>
            <a:off x="201168" y="457200"/>
            <a:ext cx="41148" cy="566928"/>
          </a:xfrm>
          <a:prstGeom prst="rect">
            <a:avLst/>
          </a:prstGeom>
          <a:solidFill>
            <a:srgbClr val="073763"/>
          </a:solidFill>
          <a:ln/>
        </p:spPr>
      </p:sp>
      <p:sp>
        <p:nvSpPr>
          <p:cNvPr id="5" name="Text 2"/>
          <p:cNvSpPr/>
          <p:nvPr/>
        </p:nvSpPr>
        <p:spPr>
          <a:xfrm>
            <a:off x="292608" y="457200"/>
            <a:ext cx="8138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737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Why Crypto Module Matters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429768" y="1207008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latin typeface="Poppins" pitchFamily="34" charset="0"/>
                <a:ea typeface="Poppins" pitchFamily="34" charset="-122"/>
                <a:cs typeface="Poppins" pitchFamily="34" charset="-120"/>
              </a:rPr>
              <a:t>Use Case: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29768" y="1554480"/>
            <a:ext cx="3565457" cy="10172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Security foundation. Never store passwords plain text. Never send unverified data. Crypto module provides the tools. Without it, your app is vulnerable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29768" y="27203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latin typeface="Poppins" pitchFamily="34" charset="0"/>
                <a:ea typeface="Poppins" pitchFamily="34" charset="-122"/>
                <a:cs typeface="Poppins" pitchFamily="34" charset="-120"/>
              </a:rPr>
              <a:t>Why Important: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29768" y="2880360"/>
            <a:ext cx="3931920" cy="11359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628650" lvl="1" indent="-171450">
              <a:buClr>
                <a:schemeClr val="accent1">
                  <a:lumMod val="50000"/>
                </a:schemeClr>
              </a:buClr>
              <a:buFont typeface="Courier New" panose="02070309020205020404" pitchFamily="49" charset="0"/>
              <a:buChar char="o"/>
            </a:pPr>
            <a:r>
              <a:rPr lang="en-US" sz="1100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Security.</a:t>
            </a:r>
          </a:p>
          <a:p>
            <a:pPr marL="628650" lvl="1" indent="-171450">
              <a:buClr>
                <a:schemeClr val="accent1">
                  <a:lumMod val="50000"/>
                </a:schemeClr>
              </a:buClr>
              <a:buFont typeface="Courier New" panose="02070309020205020404" pitchFamily="49" charset="0"/>
              <a:buChar char="o"/>
            </a:pPr>
            <a:r>
              <a:rPr lang="en-US" sz="1100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Data integrity </a:t>
            </a:r>
          </a:p>
          <a:p>
            <a:pPr marL="628650" lvl="1" indent="-171450">
              <a:buClr>
                <a:schemeClr val="accent1">
                  <a:lumMod val="50000"/>
                </a:schemeClr>
              </a:buClr>
              <a:buFont typeface="Courier New" panose="02070309020205020404" pitchFamily="49" charset="0"/>
              <a:buChar char="o"/>
            </a:pPr>
            <a:r>
              <a:rPr lang="en-US" sz="1100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Authentication </a:t>
            </a:r>
          </a:p>
          <a:p>
            <a:pPr marL="628650" lvl="1" indent="-171450">
              <a:buClr>
                <a:schemeClr val="accent1">
                  <a:lumMod val="50000"/>
                </a:schemeClr>
              </a:buClr>
              <a:buFont typeface="Courier New" panose="02070309020205020404" pitchFamily="49" charset="0"/>
              <a:buChar char="o"/>
            </a:pPr>
            <a:r>
              <a:rPr lang="en-US" sz="1100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Authorization</a:t>
            </a:r>
            <a:endParaRPr lang="en-US" sz="11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A9D3F82-1122-9C34-6D15-500CD2A661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0459" y="1766978"/>
            <a:ext cx="5210659" cy="21649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73152"/>
            <a:ext cx="566928" cy="6217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0" y="484632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Poppins" pitchFamily="34" charset="0"/>
                <a:cs typeface="Poppins" pitchFamily="34" charset="-120"/>
              </a:rPr>
              <a:t>19</a:t>
            </a:r>
            <a:endParaRPr lang="en-US" sz="900" dirty="0"/>
          </a:p>
        </p:txBody>
      </p:sp>
      <p:sp>
        <p:nvSpPr>
          <p:cNvPr id="4" name="Shape 1"/>
          <p:cNvSpPr/>
          <p:nvPr/>
        </p:nvSpPr>
        <p:spPr>
          <a:xfrm>
            <a:off x="201168" y="457200"/>
            <a:ext cx="41148" cy="566928"/>
          </a:xfrm>
          <a:prstGeom prst="rect">
            <a:avLst/>
          </a:prstGeom>
          <a:solidFill>
            <a:srgbClr val="073763"/>
          </a:solidFill>
          <a:ln/>
        </p:spPr>
      </p:sp>
      <p:sp>
        <p:nvSpPr>
          <p:cNvPr id="5" name="Text 2"/>
          <p:cNvSpPr/>
          <p:nvPr/>
        </p:nvSpPr>
        <p:spPr>
          <a:xfrm>
            <a:off x="292608" y="457200"/>
            <a:ext cx="8138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737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Crypto Module — Hashing &amp; random ID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365760" y="1146512"/>
            <a:ext cx="8412480" cy="256032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8" name="Shape 5"/>
          <p:cNvSpPr/>
          <p:nvPr/>
        </p:nvSpPr>
        <p:spPr>
          <a:xfrm>
            <a:off x="502920" y="1210520"/>
            <a:ext cx="91440" cy="91440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9" name="Shape 6"/>
          <p:cNvSpPr/>
          <p:nvPr/>
        </p:nvSpPr>
        <p:spPr>
          <a:xfrm>
            <a:off x="658368" y="1210520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0" name="Shape 7"/>
          <p:cNvSpPr/>
          <p:nvPr/>
        </p:nvSpPr>
        <p:spPr>
          <a:xfrm>
            <a:off x="813816" y="1210520"/>
            <a:ext cx="91440" cy="91440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1" name="Shape 8"/>
          <p:cNvSpPr/>
          <p:nvPr/>
        </p:nvSpPr>
        <p:spPr>
          <a:xfrm>
            <a:off x="365760" y="1402544"/>
            <a:ext cx="8412480" cy="3443776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2" name="Text 9"/>
          <p:cNvSpPr/>
          <p:nvPr/>
        </p:nvSpPr>
        <p:spPr>
          <a:xfrm>
            <a:off x="502920" y="1557992"/>
            <a:ext cx="8138160" cy="30562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crypto = require('crypto');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SHA-256 hash (use for data integrity, NOT raw passwords)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hash = crypto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.createHash('sha256')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.update('my secret data')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.digest('hex');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console.log('SHA-256:', hash);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UUID-like random ID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uuid = crypto.randomUUID();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console.log('UUID:', uuid);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73152"/>
            <a:ext cx="566928" cy="6217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0" y="484632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Poppins" pitchFamily="34" charset="0"/>
                <a:cs typeface="Poppins" pitchFamily="34" charset="-120"/>
              </a:rPr>
              <a:t>20</a:t>
            </a:r>
            <a:endParaRPr lang="en-US" sz="900" dirty="0"/>
          </a:p>
        </p:txBody>
      </p:sp>
      <p:sp>
        <p:nvSpPr>
          <p:cNvPr id="4" name="Shape 1"/>
          <p:cNvSpPr/>
          <p:nvPr/>
        </p:nvSpPr>
        <p:spPr>
          <a:xfrm>
            <a:off x="201168" y="457200"/>
            <a:ext cx="41148" cy="566928"/>
          </a:xfrm>
          <a:prstGeom prst="rect">
            <a:avLst/>
          </a:prstGeom>
          <a:solidFill>
            <a:srgbClr val="073763"/>
          </a:solidFill>
          <a:ln/>
        </p:spPr>
      </p:sp>
      <p:sp>
        <p:nvSpPr>
          <p:cNvPr id="5" name="Text 2"/>
          <p:cNvSpPr/>
          <p:nvPr/>
        </p:nvSpPr>
        <p:spPr>
          <a:xfrm>
            <a:off x="292608" y="457200"/>
            <a:ext cx="8138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737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DNS Module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475488" y="1078992"/>
            <a:ext cx="8138160" cy="26489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200" dirty="0">
                <a:latin typeface="Poppins" panose="00000500000000000000" pitchFamily="2" charset="0"/>
                <a:cs typeface="Poppins" panose="00000500000000000000" pitchFamily="2" charset="0"/>
              </a:rPr>
              <a:t>The DNS Module converts domain names into IP addresses.</a:t>
            </a:r>
          </a:p>
          <a:p>
            <a:endParaRPr lang="en-IN" sz="12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endParaRPr lang="en-IN" sz="12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US" sz="1200" b="1" dirty="0">
                <a:latin typeface="Poppins" pitchFamily="34" charset="0"/>
                <a:ea typeface="Poppins" pitchFamily="34" charset="-122"/>
                <a:cs typeface="Poppins" pitchFamily="34" charset="-120"/>
              </a:rPr>
              <a:t>Why Important:</a:t>
            </a:r>
          </a:p>
          <a:p>
            <a:endParaRPr lang="en-US" sz="1200" b="1" dirty="0">
              <a:solidFill>
                <a:srgbClr val="E65100"/>
              </a:solidFill>
              <a:latin typeface="Poppins" pitchFamily="34" charset="0"/>
              <a:cs typeface="Poppins" pitchFamily="34" charset="-120"/>
            </a:endParaRPr>
          </a:p>
          <a:p>
            <a:pPr marL="628650" lvl="1" indent="-171450">
              <a:buClr>
                <a:schemeClr val="accent1">
                  <a:lumMod val="50000"/>
                </a:schemeClr>
              </a:buClr>
              <a:buFont typeface="Courier New" panose="02070309020205020404" pitchFamily="49" charset="0"/>
              <a:buChar char="o"/>
            </a:pPr>
            <a:r>
              <a:rPr lang="en-US" sz="1200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Network operations</a:t>
            </a:r>
          </a:p>
          <a:p>
            <a:pPr marL="628650" lvl="1" indent="-171450">
              <a:buClr>
                <a:schemeClr val="accent1">
                  <a:lumMod val="50000"/>
                </a:schemeClr>
              </a:buClr>
              <a:buFont typeface="Courier New" panose="02070309020205020404" pitchFamily="49" charset="0"/>
              <a:buChar char="o"/>
            </a:pPr>
            <a:r>
              <a:rPr lang="en-US" sz="1200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Email infrastructure</a:t>
            </a:r>
          </a:p>
          <a:p>
            <a:pPr marL="628650" lvl="1" indent="-171450">
              <a:buClr>
                <a:schemeClr val="accent1">
                  <a:lumMod val="50000"/>
                </a:schemeClr>
              </a:buClr>
              <a:buFont typeface="Courier New" panose="02070309020205020404" pitchFamily="49" charset="0"/>
              <a:buChar char="o"/>
            </a:pPr>
            <a:r>
              <a:rPr lang="en-US" sz="1200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Domain verification</a:t>
            </a:r>
            <a:endParaRPr lang="en-US" sz="1200" dirty="0"/>
          </a:p>
          <a:p>
            <a:endParaRPr lang="en-US" sz="1200" b="1" dirty="0">
              <a:solidFill>
                <a:srgbClr val="E65100"/>
              </a:solidFill>
              <a:latin typeface="Poppins" pitchFamily="34" charset="0"/>
              <a:cs typeface="Poppins" pitchFamily="34" charset="-120"/>
            </a:endParaRPr>
          </a:p>
          <a:p>
            <a:endParaRPr lang="en-IN" sz="12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IN" sz="1200" b="1" dirty="0">
                <a:latin typeface="Poppins" panose="00000500000000000000" pitchFamily="2" charset="0"/>
                <a:cs typeface="Poppins" panose="00000500000000000000" pitchFamily="2" charset="0"/>
              </a:rPr>
              <a:t>Real-Life Use:</a:t>
            </a:r>
          </a:p>
          <a:p>
            <a:endParaRPr lang="en-IN" sz="1200" b="1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628650" lvl="1" indent="-171450">
              <a:buClr>
                <a:schemeClr val="accent1">
                  <a:lumMod val="50000"/>
                </a:schemeClr>
              </a:buClr>
              <a:buFont typeface="Courier New" panose="02070309020205020404" pitchFamily="49" charset="0"/>
              <a:buChar char="o"/>
            </a:pPr>
            <a:r>
              <a:rPr lang="en-IN" sz="1200" dirty="0">
                <a:latin typeface="Poppins" panose="00000500000000000000" pitchFamily="2" charset="0"/>
                <a:cs typeface="Poppins" panose="00000500000000000000" pitchFamily="2" charset="0"/>
              </a:rPr>
              <a:t>Find server IP addresses</a:t>
            </a:r>
          </a:p>
          <a:p>
            <a:pPr marL="628650" lvl="1" indent="-171450">
              <a:buClr>
                <a:schemeClr val="accent1">
                  <a:lumMod val="50000"/>
                </a:schemeClr>
              </a:buClr>
              <a:buFont typeface="Courier New" panose="02070309020205020404" pitchFamily="49" charset="0"/>
              <a:buChar char="o"/>
            </a:pPr>
            <a:r>
              <a:rPr lang="en-IN" sz="1200" dirty="0">
                <a:latin typeface="Poppins" panose="00000500000000000000" pitchFamily="2" charset="0"/>
                <a:cs typeface="Poppins" panose="00000500000000000000" pitchFamily="2" charset="0"/>
              </a:rPr>
              <a:t>Network applications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23D529C-8004-53EA-CA1B-3B334FC4B2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1262" y="1651027"/>
            <a:ext cx="3665538" cy="194326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73152"/>
            <a:ext cx="566928" cy="6217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0" y="484632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Poppins" pitchFamily="34" charset="0"/>
                <a:cs typeface="Poppins" pitchFamily="34" charset="-120"/>
              </a:rPr>
              <a:t>21</a:t>
            </a:r>
            <a:endParaRPr lang="en-US" sz="900" dirty="0"/>
          </a:p>
        </p:txBody>
      </p:sp>
      <p:sp>
        <p:nvSpPr>
          <p:cNvPr id="4" name="Shape 1"/>
          <p:cNvSpPr/>
          <p:nvPr/>
        </p:nvSpPr>
        <p:spPr>
          <a:xfrm>
            <a:off x="201168" y="457200"/>
            <a:ext cx="41148" cy="566928"/>
          </a:xfrm>
          <a:prstGeom prst="rect">
            <a:avLst/>
          </a:prstGeom>
          <a:solidFill>
            <a:srgbClr val="073763"/>
          </a:solidFill>
          <a:ln/>
        </p:spPr>
      </p:sp>
      <p:sp>
        <p:nvSpPr>
          <p:cNvPr id="5" name="Text 2"/>
          <p:cNvSpPr/>
          <p:nvPr/>
        </p:nvSpPr>
        <p:spPr>
          <a:xfrm>
            <a:off x="292608" y="457200"/>
            <a:ext cx="8138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737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Why DNS Module Matters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429767" y="1062110"/>
            <a:ext cx="765915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Network applications need DNS. Email servers check MX records. Auth systems verify domain ownership. Network debugging needs hostname lookups</a:t>
            </a:r>
            <a:endParaRPr lang="en-US" sz="11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5F032589-7B2B-3711-2A68-1EE66F4F42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6116" y="1678277"/>
            <a:ext cx="4457700" cy="346065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73152"/>
            <a:ext cx="566928" cy="6217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0" y="484632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Poppins" pitchFamily="34" charset="0"/>
                <a:cs typeface="Poppins" pitchFamily="34" charset="-120"/>
              </a:rPr>
              <a:t>22</a:t>
            </a:r>
            <a:endParaRPr lang="en-US" sz="900" dirty="0"/>
          </a:p>
        </p:txBody>
      </p:sp>
      <p:sp>
        <p:nvSpPr>
          <p:cNvPr id="4" name="Shape 1"/>
          <p:cNvSpPr/>
          <p:nvPr/>
        </p:nvSpPr>
        <p:spPr>
          <a:xfrm>
            <a:off x="201168" y="457200"/>
            <a:ext cx="41148" cy="566928"/>
          </a:xfrm>
          <a:prstGeom prst="rect">
            <a:avLst/>
          </a:prstGeom>
          <a:solidFill>
            <a:srgbClr val="073763"/>
          </a:solidFill>
          <a:ln/>
        </p:spPr>
      </p:sp>
      <p:sp>
        <p:nvSpPr>
          <p:cNvPr id="5" name="Text 2"/>
          <p:cNvSpPr/>
          <p:nvPr/>
        </p:nvSpPr>
        <p:spPr>
          <a:xfrm>
            <a:off x="292608" y="457200"/>
            <a:ext cx="8138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737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DNS Module — Domain Resolution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365760" y="1125414"/>
            <a:ext cx="8412480" cy="256032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8" name="Shape 5"/>
          <p:cNvSpPr/>
          <p:nvPr/>
        </p:nvSpPr>
        <p:spPr>
          <a:xfrm>
            <a:off x="502920" y="1189422"/>
            <a:ext cx="91440" cy="91440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9" name="Shape 6"/>
          <p:cNvSpPr/>
          <p:nvPr/>
        </p:nvSpPr>
        <p:spPr>
          <a:xfrm>
            <a:off x="658368" y="1189422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0" name="Shape 7"/>
          <p:cNvSpPr/>
          <p:nvPr/>
        </p:nvSpPr>
        <p:spPr>
          <a:xfrm>
            <a:off x="813816" y="1189422"/>
            <a:ext cx="91440" cy="91440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1" name="Shape 8"/>
          <p:cNvSpPr/>
          <p:nvPr/>
        </p:nvSpPr>
        <p:spPr>
          <a:xfrm>
            <a:off x="365760" y="1381445"/>
            <a:ext cx="8412480" cy="3428298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2" name="Text 9"/>
          <p:cNvSpPr/>
          <p:nvPr/>
        </p:nvSpPr>
        <p:spPr>
          <a:xfrm>
            <a:off x="502920" y="1439124"/>
            <a:ext cx="8138160" cy="342829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dns = require('dns');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Lookup IP for a domain (uses OS resolver)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dns.lookup('google.com', (err, address, family) =&gt;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(err) throw err;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console.log('IP Address:', address);    // 142.250.80.46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console.log('IPv' + family);            // IPv4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Reverse lookup (IP → hostname)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dns.reverse('8.8.8.8', (err, hostnames) =&gt;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(err) throw err;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console.log('Hostname:', hostnames[0]);  // dns.google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4">
          <a:extLst>
            <a:ext uri="{FF2B5EF4-FFF2-40B4-BE49-F238E27FC236}">
              <a16:creationId xmlns:a16="http://schemas.microsoft.com/office/drawing/2014/main" id="{504AC7A9-952F-F4A5-9DB8-89FFAC0AD1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33">
            <a:extLst>
              <a:ext uri="{FF2B5EF4-FFF2-40B4-BE49-F238E27FC236}">
                <a16:creationId xmlns:a16="http://schemas.microsoft.com/office/drawing/2014/main" id="{F5CBE233-C524-EB21-363C-B385B6F0C1B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0900" y="210300"/>
            <a:ext cx="747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lang="en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Check Your Understanding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27" name="Google Shape;327;p33">
            <a:extLst>
              <a:ext uri="{FF2B5EF4-FFF2-40B4-BE49-F238E27FC236}">
                <a16:creationId xmlns:a16="http://schemas.microsoft.com/office/drawing/2014/main" id="{8D0B657A-7336-19CA-8D73-A1E48E050EDB}"/>
              </a:ext>
            </a:extLst>
          </p:cNvPr>
          <p:cNvSpPr txBox="1"/>
          <p:nvPr/>
        </p:nvSpPr>
        <p:spPr>
          <a:xfrm>
            <a:off x="310900" y="1228825"/>
            <a:ext cx="8161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buClr>
                <a:srgbClr val="000000"/>
              </a:buClr>
              <a:defRPr/>
            </a:pPr>
            <a:r>
              <a:rPr kumimoji="0" lang="en" sz="1400" b="1" i="0" u="none" strike="noStrike" kern="0" cap="none" spc="0" normalizeH="0" baseline="0" noProof="0" dirty="0">
                <a:ln>
                  <a:noFill/>
                </a:ln>
                <a:solidFill>
                  <a:srgbClr val="273239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Question :  </a:t>
            </a:r>
            <a:r>
              <a:rPr kumimoji="0" lang="en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   </a:t>
            </a:r>
            <a:r>
              <a:rPr lang="en-US" sz="1200" kern="0" dirty="0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  <a:sym typeface="Arial"/>
              </a:rPr>
              <a:t>Which core module would you use to get the current system memory?</a:t>
            </a:r>
            <a:endParaRPr kumimoji="0" sz="13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 panose="00000500000000000000" pitchFamily="2" charset="0"/>
              <a:ea typeface="Poppins"/>
              <a:cs typeface="Poppins" panose="00000500000000000000" pitchFamily="2" charset="0"/>
              <a:sym typeface="Poppins"/>
            </a:endParaRPr>
          </a:p>
        </p:txBody>
      </p:sp>
      <p:sp>
        <p:nvSpPr>
          <p:cNvPr id="328" name="Google Shape;328;p33">
            <a:extLst>
              <a:ext uri="{FF2B5EF4-FFF2-40B4-BE49-F238E27FC236}">
                <a16:creationId xmlns:a16="http://schemas.microsoft.com/office/drawing/2014/main" id="{48AF5B9D-0F7F-A10B-156B-42A8749F923B}"/>
              </a:ext>
            </a:extLst>
          </p:cNvPr>
          <p:cNvSpPr txBox="1"/>
          <p:nvPr/>
        </p:nvSpPr>
        <p:spPr>
          <a:xfrm>
            <a:off x="310900" y="1748350"/>
            <a:ext cx="8375900" cy="1638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" sz="1400" b="1" i="0" u="none" strike="noStrike" kern="0" cap="none" spc="0" normalizeH="0" baseline="0" noProof="0" dirty="0">
                <a:ln>
                  <a:noFill/>
                </a:ln>
                <a:solidFill>
                  <a:srgbClr val="273239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Options    :</a:t>
            </a:r>
            <a:r>
              <a:rPr kumimoji="0" lang="e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 </a:t>
            </a:r>
            <a:r>
              <a:rPr kumimoji="0" lang="e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           A.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273239"/>
                </a:solidFill>
                <a:effectLst/>
                <a:uLnTx/>
                <a:uFillTx/>
                <a:latin typeface="Poppins" pitchFamily="34" charset="0"/>
                <a:ea typeface="Poppins" pitchFamily="34" charset="-122"/>
                <a:cs typeface="Poppins" pitchFamily="34" charset="-120"/>
              </a:rPr>
              <a:t>fs</a:t>
            </a:r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/>
              <a:ea typeface="Poppins"/>
              <a:cs typeface="Poppins"/>
              <a:sym typeface="Poppins"/>
            </a:endParaRPr>
          </a:p>
          <a:p>
            <a:pPr marL="1371600" marR="0" lvl="0" indent="0" algn="l" defTabSz="914400" rtl="0" eaLnBrk="1" fontAlgn="auto" latinLnBrk="0" hangingPunct="1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B.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273239"/>
                </a:solidFill>
                <a:effectLst/>
                <a:uLnTx/>
                <a:uFillTx/>
                <a:latin typeface="Poppins" pitchFamily="34" charset="0"/>
                <a:ea typeface="Poppins" pitchFamily="34" charset="-122"/>
                <a:cs typeface="Poppins" pitchFamily="34" charset="-120"/>
              </a:rPr>
              <a:t>crypto</a:t>
            </a:r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/>
              <a:ea typeface="Poppins"/>
              <a:cs typeface="Poppins"/>
              <a:sym typeface="Poppins"/>
            </a:endParaRPr>
          </a:p>
          <a:p>
            <a:pPr marL="1371600" marR="0" lvl="0" indent="0" algn="l" defTabSz="914400" rtl="0" eaLnBrk="1" fontAlgn="auto" latinLnBrk="0" hangingPunct="1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C. 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273239"/>
                </a:solidFill>
                <a:effectLst/>
                <a:uLnTx/>
                <a:uFillTx/>
                <a:latin typeface="Poppins" pitchFamily="34" charset="0"/>
                <a:ea typeface="Poppins" pitchFamily="34" charset="-122"/>
                <a:cs typeface="Poppins" pitchFamily="34" charset="-120"/>
              </a:rPr>
              <a:t>dns</a:t>
            </a:r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/>
              <a:ea typeface="Poppins"/>
              <a:cs typeface="Poppins"/>
              <a:sym typeface="Poppins"/>
            </a:endParaRPr>
          </a:p>
          <a:p>
            <a:pPr marL="1371600" marR="0" lvl="0" indent="0" algn="l" defTabSz="914400" rtl="0" eaLnBrk="1" fontAlgn="auto" latinLnBrk="0" hangingPunct="1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D. 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273239"/>
                </a:solidFill>
                <a:effectLst/>
                <a:uLnTx/>
                <a:uFillTx/>
                <a:latin typeface="Poppins" pitchFamily="34" charset="0"/>
                <a:ea typeface="Poppins" pitchFamily="34" charset="-122"/>
                <a:cs typeface="Poppins" pitchFamily="34" charset="-120"/>
              </a:rPr>
              <a:t>os</a:t>
            </a:r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29" name="Google Shape;329;p33" title="question-and-answer-illustration-download-in-svg-png-gif-file-formats--answers-faq-comments-chatting-business-pack-people-illustrations-4257057.png">
            <a:extLst>
              <a:ext uri="{FF2B5EF4-FFF2-40B4-BE49-F238E27FC236}">
                <a16:creationId xmlns:a16="http://schemas.microsoft.com/office/drawing/2014/main" id="{75F069A0-DCF7-EE55-78F4-88F035AB04EB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51839" y="3027775"/>
            <a:ext cx="3001612" cy="2001075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33">
            <a:extLst>
              <a:ext uri="{FF2B5EF4-FFF2-40B4-BE49-F238E27FC236}">
                <a16:creationId xmlns:a16="http://schemas.microsoft.com/office/drawing/2014/main" id="{F3DA41C2-7C2D-E580-BE0B-BF24D8AD3401}"/>
              </a:ext>
            </a:extLst>
          </p:cNvPr>
          <p:cNvSpPr txBox="1"/>
          <p:nvPr/>
        </p:nvSpPr>
        <p:spPr>
          <a:xfrm>
            <a:off x="310950" y="3313725"/>
            <a:ext cx="6260400" cy="7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" sz="1400" b="1" i="0" u="none" strike="noStrike" kern="0" cap="none" spc="0" normalizeH="0" baseline="0" noProof="0" dirty="0">
                <a:ln>
                  <a:noFill/>
                </a:ln>
                <a:solidFill>
                  <a:srgbClr val="273239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Answer :</a:t>
            </a:r>
            <a:r>
              <a:rPr kumimoji="0" lang="en" sz="1800" b="0" i="0" u="none" strike="noStrike" kern="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  </a:t>
            </a:r>
            <a:r>
              <a:rPr kumimoji="0" lang="e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  D. 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273239"/>
                </a:solidFill>
                <a:effectLst/>
                <a:uLnTx/>
                <a:uFillTx/>
                <a:latin typeface="Poppins" pitchFamily="34" charset="0"/>
                <a:ea typeface="Poppins" pitchFamily="34" charset="-122"/>
                <a:cs typeface="Poppins" pitchFamily="34" charset="-120"/>
              </a:rPr>
              <a:t>os</a:t>
            </a:r>
            <a:endParaRPr kumimoji="0" lang="en-IN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332" name="Google Shape;332;p33">
            <a:extLst>
              <a:ext uri="{FF2B5EF4-FFF2-40B4-BE49-F238E27FC236}">
                <a16:creationId xmlns:a16="http://schemas.microsoft.com/office/drawing/2014/main" id="{23D757B0-83B5-5314-1292-D8ADB850D0C9}"/>
              </a:ext>
            </a:extLst>
          </p:cNvPr>
          <p:cNvGrpSpPr/>
          <p:nvPr/>
        </p:nvGrpSpPr>
        <p:grpSpPr>
          <a:xfrm>
            <a:off x="310900" y="3959263"/>
            <a:ext cx="6005825" cy="1076430"/>
            <a:chOff x="310900" y="3959263"/>
            <a:chExt cx="6005825" cy="1076430"/>
          </a:xfrm>
        </p:grpSpPr>
        <p:sp>
          <p:nvSpPr>
            <p:cNvPr id="333" name="Google Shape;333;p33">
              <a:extLst>
                <a:ext uri="{FF2B5EF4-FFF2-40B4-BE49-F238E27FC236}">
                  <a16:creationId xmlns:a16="http://schemas.microsoft.com/office/drawing/2014/main" id="{E85129B1-39AF-B63A-922D-2E5F6897A6FD}"/>
                </a:ext>
              </a:extLst>
            </p:cNvPr>
            <p:cNvSpPr txBox="1"/>
            <p:nvPr/>
          </p:nvSpPr>
          <p:spPr>
            <a:xfrm>
              <a:off x="310900" y="3959263"/>
              <a:ext cx="1335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Clr>
                  <a:srgbClr val="000000"/>
                </a:buClr>
                <a:buSzPts val="1100"/>
                <a:buFont typeface="Arial"/>
                <a:buNone/>
                <a:tabLst/>
                <a:defRPr/>
              </a:pPr>
              <a:r>
                <a:rPr kumimoji="0" lang="en" sz="1400" b="1" i="0" u="none" strike="noStrike" kern="0" cap="none" spc="0" normalizeH="0" baseline="0" noProof="0">
                  <a:ln>
                    <a:noFill/>
                  </a:ln>
                  <a:solidFill>
                    <a:srgbClr val="273239"/>
                  </a:solidFill>
                  <a:effectLst/>
                  <a:uLnTx/>
                  <a:uFillTx/>
                  <a:latin typeface="Poppins"/>
                  <a:ea typeface="Poppins"/>
                  <a:cs typeface="Poppins"/>
                  <a:sym typeface="Poppins"/>
                </a:rPr>
                <a:t>Explanation:</a:t>
              </a: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334" name="Google Shape;334;p33">
              <a:extLst>
                <a:ext uri="{FF2B5EF4-FFF2-40B4-BE49-F238E27FC236}">
                  <a16:creationId xmlns:a16="http://schemas.microsoft.com/office/drawing/2014/main" id="{FD7CD420-4360-CFFF-7A89-CF9C91A9E8D5}"/>
                </a:ext>
              </a:extLst>
            </p:cNvPr>
            <p:cNvSpPr txBox="1"/>
            <p:nvPr/>
          </p:nvSpPr>
          <p:spPr>
            <a:xfrm>
              <a:off x="1607925" y="3959275"/>
              <a:ext cx="4708800" cy="10764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1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"/>
                  <a:ea typeface="Poppins"/>
                  <a:cs typeface="Poppins"/>
                  <a:sym typeface="Poppins"/>
                </a:rPr>
                <a:t>os.totalmem</a:t>
              </a:r>
              <a:r>
                <a: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"/>
                  <a:ea typeface="Poppins"/>
                  <a:cs typeface="Poppins"/>
                  <a:sym typeface="Poppins"/>
                </a:rPr>
                <a:t>() and </a:t>
              </a:r>
              <a:r>
                <a:rPr kumimoji="0" lang="en-US" sz="11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"/>
                  <a:ea typeface="Poppins"/>
                  <a:cs typeface="Poppins"/>
                  <a:sym typeface="Poppins"/>
                </a:rPr>
                <a:t>os.freemem</a:t>
              </a:r>
              <a:r>
                <a: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"/>
                  <a:ea typeface="Poppins"/>
                  <a:cs typeface="Poppins"/>
                  <a:sym typeface="Poppins"/>
                </a:rPr>
                <a:t>() return memory information. fs is for files, crypto for hashing, </a:t>
              </a:r>
              <a:r>
                <a:rPr kumimoji="0" lang="en-US" sz="11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"/>
                  <a:ea typeface="Poppins"/>
                  <a:cs typeface="Poppins"/>
                  <a:sym typeface="Poppins"/>
                </a:rPr>
                <a:t>dns</a:t>
              </a:r>
              <a:r>
                <a: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"/>
                  <a:ea typeface="Poppins"/>
                  <a:cs typeface="Poppins"/>
                  <a:sym typeface="Poppins"/>
                </a:rPr>
                <a:t> for domains. OS module is for system information.</a:t>
              </a:r>
              <a:endParaRPr kumimoji="0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3" name="Text 0">
            <a:extLst>
              <a:ext uri="{FF2B5EF4-FFF2-40B4-BE49-F238E27FC236}">
                <a16:creationId xmlns:a16="http://schemas.microsoft.com/office/drawing/2014/main" id="{3421D953-BFFB-B552-C1C0-1733D0317D27}"/>
              </a:ext>
            </a:extLst>
          </p:cNvPr>
          <p:cNvSpPr/>
          <p:nvPr/>
        </p:nvSpPr>
        <p:spPr>
          <a:xfrm>
            <a:off x="8686800" y="484632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dirty="0">
                <a:solidFill>
                  <a:srgbClr val="999999"/>
                </a:solidFill>
                <a:latin typeface="Poppins" pitchFamily="34" charset="0"/>
                <a:cs typeface="Poppins" pitchFamily="34" charset="-120"/>
              </a:rPr>
              <a:t>23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51246D09-D164-0606-FE2A-F3A332805B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0" y="73152"/>
            <a:ext cx="566928" cy="621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58645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4">
          <a:extLst>
            <a:ext uri="{FF2B5EF4-FFF2-40B4-BE49-F238E27FC236}">
              <a16:creationId xmlns:a16="http://schemas.microsoft.com/office/drawing/2014/main" id="{AC6350BE-74E6-0F52-F900-5F19FEF5DE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33">
            <a:extLst>
              <a:ext uri="{FF2B5EF4-FFF2-40B4-BE49-F238E27FC236}">
                <a16:creationId xmlns:a16="http://schemas.microsoft.com/office/drawing/2014/main" id="{9111F3C9-EAAC-F8A0-D070-05152A579A7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0900" y="210300"/>
            <a:ext cx="747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lang="en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Check Your Understanding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27" name="Google Shape;327;p33">
            <a:extLst>
              <a:ext uri="{FF2B5EF4-FFF2-40B4-BE49-F238E27FC236}">
                <a16:creationId xmlns:a16="http://schemas.microsoft.com/office/drawing/2014/main" id="{2874BBF5-DA55-24F5-C096-AB894D352EF5}"/>
              </a:ext>
            </a:extLst>
          </p:cNvPr>
          <p:cNvSpPr txBox="1"/>
          <p:nvPr/>
        </p:nvSpPr>
        <p:spPr>
          <a:xfrm>
            <a:off x="310900" y="1228825"/>
            <a:ext cx="8161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buClr>
                <a:srgbClr val="000000"/>
              </a:buClr>
              <a:defRPr/>
            </a:pPr>
            <a:r>
              <a:rPr kumimoji="0" lang="en" sz="1400" b="1" i="0" u="none" strike="noStrike" kern="0" cap="none" spc="0" normalizeH="0" baseline="0" noProof="0" dirty="0">
                <a:ln>
                  <a:noFill/>
                </a:ln>
                <a:solidFill>
                  <a:srgbClr val="273239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Question :  </a:t>
            </a:r>
            <a:r>
              <a:rPr kumimoji="0" lang="en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   </a:t>
            </a:r>
            <a:r>
              <a:rPr lang="en-US" sz="1200" kern="0" dirty="0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  <a:sym typeface="Arial"/>
              </a:rPr>
              <a:t>What does </a:t>
            </a:r>
            <a:r>
              <a:rPr lang="en-US" sz="1200" kern="0" dirty="0" err="1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  <a:sym typeface="Arial"/>
              </a:rPr>
              <a:t>path.join</a:t>
            </a:r>
            <a:r>
              <a:rPr lang="en-US" sz="1200" kern="0" dirty="0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  <a:sym typeface="Arial"/>
              </a:rPr>
              <a:t>() do that path concatenation with '+' doesn't?</a:t>
            </a:r>
            <a:endParaRPr kumimoji="0" sz="13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 panose="00000500000000000000" pitchFamily="2" charset="0"/>
              <a:ea typeface="Poppins"/>
              <a:cs typeface="Poppins" panose="00000500000000000000" pitchFamily="2" charset="0"/>
              <a:sym typeface="Poppins"/>
            </a:endParaRPr>
          </a:p>
        </p:txBody>
      </p:sp>
      <p:sp>
        <p:nvSpPr>
          <p:cNvPr id="328" name="Google Shape;328;p33">
            <a:extLst>
              <a:ext uri="{FF2B5EF4-FFF2-40B4-BE49-F238E27FC236}">
                <a16:creationId xmlns:a16="http://schemas.microsoft.com/office/drawing/2014/main" id="{51C5C9A4-CE5A-13BD-D46B-908684041BD4}"/>
              </a:ext>
            </a:extLst>
          </p:cNvPr>
          <p:cNvSpPr txBox="1"/>
          <p:nvPr/>
        </p:nvSpPr>
        <p:spPr>
          <a:xfrm>
            <a:off x="310900" y="1748350"/>
            <a:ext cx="8375900" cy="1638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spcAft>
                <a:spcPts val="300"/>
              </a:spcAft>
              <a:buSzPct val="100000"/>
              <a:defRPr/>
            </a:pPr>
            <a:r>
              <a:rPr kumimoji="0" lang="en" sz="1400" b="1" i="0" u="none" strike="noStrike" kern="0" cap="none" spc="0" normalizeH="0" baseline="0" noProof="0" dirty="0">
                <a:ln>
                  <a:noFill/>
                </a:ln>
                <a:solidFill>
                  <a:srgbClr val="273239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Options    :</a:t>
            </a:r>
            <a:r>
              <a:rPr kumimoji="0" lang="e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 </a:t>
            </a:r>
            <a:r>
              <a:rPr kumimoji="0" lang="e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           A. </a:t>
            </a:r>
            <a:r>
              <a:rPr lang="en-US" sz="1100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Handles OS-specific path separators (/ vs \)</a:t>
            </a:r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/>
              <a:ea typeface="Poppins"/>
              <a:cs typeface="Poppins"/>
              <a:sym typeface="Poppins"/>
            </a:endParaRPr>
          </a:p>
          <a:p>
            <a:pPr marL="1371600" lvl="0">
              <a:lnSpc>
                <a:spcPct val="115000"/>
              </a:lnSpc>
              <a:spcBef>
                <a:spcPts val="1200"/>
              </a:spcBef>
              <a:buClr>
                <a:srgbClr val="000000"/>
              </a:buClr>
              <a:defRPr/>
            </a:pPr>
            <a:r>
              <a:rPr kumimoji="0" lang="e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B. </a:t>
            </a:r>
            <a:r>
              <a:rPr lang="en-US" sz="1100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Faster performance</a:t>
            </a:r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/>
              <a:ea typeface="Poppins"/>
              <a:cs typeface="Poppins"/>
              <a:sym typeface="Poppins"/>
            </a:endParaRPr>
          </a:p>
          <a:p>
            <a:pPr marL="1371600" lvl="0">
              <a:lnSpc>
                <a:spcPct val="115000"/>
              </a:lnSpc>
              <a:spcBef>
                <a:spcPts val="1200"/>
              </a:spcBef>
              <a:buClr>
                <a:srgbClr val="000000"/>
              </a:buClr>
              <a:defRPr/>
            </a:pPr>
            <a:r>
              <a:rPr kumimoji="0" lang="e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C. </a:t>
            </a:r>
            <a:r>
              <a:rPr lang="en-US" sz="1100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Same thing</a:t>
            </a:r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/>
              <a:ea typeface="Poppins"/>
              <a:cs typeface="Poppins"/>
              <a:sym typeface="Poppins"/>
            </a:endParaRPr>
          </a:p>
          <a:p>
            <a:pPr marL="1371600" lv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defRPr/>
            </a:pPr>
            <a:r>
              <a:rPr kumimoji="0" lang="e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D. </a:t>
            </a:r>
            <a:r>
              <a:rPr lang="en-US" sz="1100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Validates file exists</a:t>
            </a:r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29" name="Google Shape;329;p33" title="question-and-answer-illustration-download-in-svg-png-gif-file-formats--answers-faq-comments-chatting-business-pack-people-illustrations-4257057.png">
            <a:extLst>
              <a:ext uri="{FF2B5EF4-FFF2-40B4-BE49-F238E27FC236}">
                <a16:creationId xmlns:a16="http://schemas.microsoft.com/office/drawing/2014/main" id="{92B019BC-24AE-8DC8-92EB-85E03D27B842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51839" y="3027775"/>
            <a:ext cx="3001612" cy="2001075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33">
            <a:extLst>
              <a:ext uri="{FF2B5EF4-FFF2-40B4-BE49-F238E27FC236}">
                <a16:creationId xmlns:a16="http://schemas.microsoft.com/office/drawing/2014/main" id="{6B1BD74D-CC14-E804-7E8D-8D472AFA39DC}"/>
              </a:ext>
            </a:extLst>
          </p:cNvPr>
          <p:cNvSpPr txBox="1"/>
          <p:nvPr/>
        </p:nvSpPr>
        <p:spPr>
          <a:xfrm>
            <a:off x="310950" y="3313725"/>
            <a:ext cx="6260400" cy="7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buClr>
                <a:srgbClr val="000000"/>
              </a:buClr>
              <a:defRPr/>
            </a:pPr>
            <a:r>
              <a:rPr kumimoji="0" lang="en" sz="1400" b="1" i="0" u="none" strike="noStrike" kern="0" cap="none" spc="0" normalizeH="0" baseline="0" noProof="0" dirty="0">
                <a:ln>
                  <a:noFill/>
                </a:ln>
                <a:solidFill>
                  <a:srgbClr val="273239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Answer :</a:t>
            </a:r>
            <a:r>
              <a:rPr kumimoji="0" lang="en" sz="1800" b="0" i="0" u="none" strike="noStrike" kern="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  </a:t>
            </a:r>
            <a:r>
              <a:rPr kumimoji="0" lang="e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lang="en" sz="1100" kern="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kumimoji="0" lang="e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. </a:t>
            </a:r>
            <a:r>
              <a:rPr lang="en-US" sz="1100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Handles OS-specific path separators (/ vs \)</a:t>
            </a:r>
            <a:endParaRPr kumimoji="0" lang="en-IN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332" name="Google Shape;332;p33">
            <a:extLst>
              <a:ext uri="{FF2B5EF4-FFF2-40B4-BE49-F238E27FC236}">
                <a16:creationId xmlns:a16="http://schemas.microsoft.com/office/drawing/2014/main" id="{1E4C8F9C-8CC2-B56B-9796-4C4CA0001854}"/>
              </a:ext>
            </a:extLst>
          </p:cNvPr>
          <p:cNvGrpSpPr/>
          <p:nvPr/>
        </p:nvGrpSpPr>
        <p:grpSpPr>
          <a:xfrm>
            <a:off x="310900" y="3959263"/>
            <a:ext cx="6005825" cy="1076430"/>
            <a:chOff x="310900" y="3959263"/>
            <a:chExt cx="6005825" cy="1076430"/>
          </a:xfrm>
        </p:grpSpPr>
        <p:sp>
          <p:nvSpPr>
            <p:cNvPr id="333" name="Google Shape;333;p33">
              <a:extLst>
                <a:ext uri="{FF2B5EF4-FFF2-40B4-BE49-F238E27FC236}">
                  <a16:creationId xmlns:a16="http://schemas.microsoft.com/office/drawing/2014/main" id="{070C7FD4-6D0E-A11B-FEFB-1CF1DE3B84ED}"/>
                </a:ext>
              </a:extLst>
            </p:cNvPr>
            <p:cNvSpPr txBox="1"/>
            <p:nvPr/>
          </p:nvSpPr>
          <p:spPr>
            <a:xfrm>
              <a:off x="310900" y="3959263"/>
              <a:ext cx="1335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Clr>
                  <a:srgbClr val="000000"/>
                </a:buClr>
                <a:buSzPts val="1100"/>
                <a:buFont typeface="Arial"/>
                <a:buNone/>
                <a:tabLst/>
                <a:defRPr/>
              </a:pPr>
              <a:r>
                <a:rPr kumimoji="0" lang="en" sz="1400" b="1" i="0" u="none" strike="noStrike" kern="0" cap="none" spc="0" normalizeH="0" baseline="0" noProof="0">
                  <a:ln>
                    <a:noFill/>
                  </a:ln>
                  <a:solidFill>
                    <a:srgbClr val="273239"/>
                  </a:solidFill>
                  <a:effectLst/>
                  <a:uLnTx/>
                  <a:uFillTx/>
                  <a:latin typeface="Poppins"/>
                  <a:ea typeface="Poppins"/>
                  <a:cs typeface="Poppins"/>
                  <a:sym typeface="Poppins"/>
                </a:rPr>
                <a:t>Explanation:</a:t>
              </a: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334" name="Google Shape;334;p33">
              <a:extLst>
                <a:ext uri="{FF2B5EF4-FFF2-40B4-BE49-F238E27FC236}">
                  <a16:creationId xmlns:a16="http://schemas.microsoft.com/office/drawing/2014/main" id="{996E20A7-9FED-EA31-B014-055AB48E276E}"/>
                </a:ext>
              </a:extLst>
            </p:cNvPr>
            <p:cNvSpPr txBox="1"/>
            <p:nvPr/>
          </p:nvSpPr>
          <p:spPr>
            <a:xfrm>
              <a:off x="1607925" y="3959275"/>
              <a:ext cx="4708800" cy="10764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"/>
                  <a:ea typeface="Poppins"/>
                  <a:cs typeface="Poppins"/>
                  <a:sym typeface="Poppins"/>
                </a:rPr>
                <a:t>Windows uses backslashes, Unix uses forward slashes. </a:t>
              </a:r>
              <a:r>
                <a:rPr kumimoji="0" lang="en-US" sz="11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"/>
                  <a:ea typeface="Poppins"/>
                  <a:cs typeface="Poppins"/>
                  <a:sym typeface="Poppins"/>
                </a:rPr>
                <a:t>path.join</a:t>
              </a:r>
              <a:r>
                <a: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"/>
                  <a:ea typeface="Poppins"/>
                  <a:cs typeface="Poppins"/>
                  <a:sym typeface="Poppins"/>
                </a:rPr>
                <a:t>('a', 'b') returns 'a\b' on Windows and 'a/b' on Unix. String concatenation breaks cross-platform compatibility.</a:t>
              </a:r>
              <a:endParaRPr kumimoji="0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3" name="Text 0">
            <a:extLst>
              <a:ext uri="{FF2B5EF4-FFF2-40B4-BE49-F238E27FC236}">
                <a16:creationId xmlns:a16="http://schemas.microsoft.com/office/drawing/2014/main" id="{58CB1C4B-A846-006A-A2A7-B68B6097BB4B}"/>
              </a:ext>
            </a:extLst>
          </p:cNvPr>
          <p:cNvSpPr/>
          <p:nvPr/>
        </p:nvSpPr>
        <p:spPr>
          <a:xfrm>
            <a:off x="8686800" y="484632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dirty="0">
                <a:solidFill>
                  <a:srgbClr val="999999"/>
                </a:solidFill>
                <a:latin typeface="Poppins" pitchFamily="34" charset="0"/>
                <a:cs typeface="Poppins" pitchFamily="34" charset="-120"/>
              </a:rPr>
              <a:t>24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334E1963-AC68-BDAC-26E4-AA3DE47670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0" y="73152"/>
            <a:ext cx="566928" cy="621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23078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4">
          <a:extLst>
            <a:ext uri="{FF2B5EF4-FFF2-40B4-BE49-F238E27FC236}">
              <a16:creationId xmlns:a16="http://schemas.microsoft.com/office/drawing/2014/main" id="{B21A24C7-2AD4-A43C-CF51-80DDE326B1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33">
            <a:extLst>
              <a:ext uri="{FF2B5EF4-FFF2-40B4-BE49-F238E27FC236}">
                <a16:creationId xmlns:a16="http://schemas.microsoft.com/office/drawing/2014/main" id="{E734A8EF-2F56-3388-7B7C-C6FD1C6D17D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0900" y="210300"/>
            <a:ext cx="747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lang="en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Check Your Understanding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27" name="Google Shape;327;p33">
            <a:extLst>
              <a:ext uri="{FF2B5EF4-FFF2-40B4-BE49-F238E27FC236}">
                <a16:creationId xmlns:a16="http://schemas.microsoft.com/office/drawing/2014/main" id="{66632A5A-2392-5BEF-5FAC-DADA6BCE3C30}"/>
              </a:ext>
            </a:extLst>
          </p:cNvPr>
          <p:cNvSpPr txBox="1"/>
          <p:nvPr/>
        </p:nvSpPr>
        <p:spPr>
          <a:xfrm>
            <a:off x="310900" y="1228825"/>
            <a:ext cx="8161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buClr>
                <a:srgbClr val="000000"/>
              </a:buClr>
              <a:defRPr/>
            </a:pPr>
            <a:r>
              <a:rPr kumimoji="0" lang="en" sz="1400" b="1" i="0" u="none" strike="noStrike" kern="0" cap="none" spc="0" normalizeH="0" baseline="0" noProof="0" dirty="0">
                <a:ln>
                  <a:noFill/>
                </a:ln>
                <a:solidFill>
                  <a:srgbClr val="273239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Question :  </a:t>
            </a:r>
            <a:r>
              <a:rPr kumimoji="0" lang="en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   </a:t>
            </a:r>
            <a:r>
              <a:rPr lang="en-US" sz="1200" kern="0" dirty="0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  <a:sym typeface="Arial"/>
              </a:rPr>
              <a:t>Why should you use fs/promises instead of fs callbacks?</a:t>
            </a:r>
            <a:endParaRPr kumimoji="0" sz="13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 panose="00000500000000000000" pitchFamily="2" charset="0"/>
              <a:ea typeface="Poppins"/>
              <a:cs typeface="Poppins" panose="00000500000000000000" pitchFamily="2" charset="0"/>
              <a:sym typeface="Poppins"/>
            </a:endParaRPr>
          </a:p>
        </p:txBody>
      </p:sp>
      <p:sp>
        <p:nvSpPr>
          <p:cNvPr id="328" name="Google Shape;328;p33">
            <a:extLst>
              <a:ext uri="{FF2B5EF4-FFF2-40B4-BE49-F238E27FC236}">
                <a16:creationId xmlns:a16="http://schemas.microsoft.com/office/drawing/2014/main" id="{26367AFD-C84B-9325-CE4A-D99B424AC75E}"/>
              </a:ext>
            </a:extLst>
          </p:cNvPr>
          <p:cNvSpPr txBox="1"/>
          <p:nvPr/>
        </p:nvSpPr>
        <p:spPr>
          <a:xfrm>
            <a:off x="310900" y="1748350"/>
            <a:ext cx="8375900" cy="1638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spcAft>
                <a:spcPts val="300"/>
              </a:spcAft>
              <a:buSzPct val="100000"/>
              <a:defRPr/>
            </a:pPr>
            <a:r>
              <a:rPr kumimoji="0" lang="en" sz="1400" b="1" i="0" u="none" strike="noStrike" kern="0" cap="none" spc="0" normalizeH="0" baseline="0" noProof="0" dirty="0">
                <a:ln>
                  <a:noFill/>
                </a:ln>
                <a:solidFill>
                  <a:srgbClr val="273239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Options    :</a:t>
            </a:r>
            <a:r>
              <a:rPr kumimoji="0" lang="e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 </a:t>
            </a:r>
            <a:r>
              <a:rPr kumimoji="0" lang="e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           A. </a:t>
            </a:r>
            <a:r>
              <a:rPr lang="en-US" sz="1100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Promises are faster</a:t>
            </a:r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/>
              <a:ea typeface="Poppins"/>
              <a:cs typeface="Poppins"/>
              <a:sym typeface="Poppins"/>
            </a:endParaRPr>
          </a:p>
          <a:p>
            <a:pPr marL="1371600" lvl="0">
              <a:lnSpc>
                <a:spcPct val="115000"/>
              </a:lnSpc>
              <a:spcBef>
                <a:spcPts val="1200"/>
              </a:spcBef>
              <a:buClr>
                <a:srgbClr val="000000"/>
              </a:buClr>
              <a:defRPr/>
            </a:pPr>
            <a:r>
              <a:rPr kumimoji="0" lang="e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B. </a:t>
            </a:r>
            <a:r>
              <a:rPr lang="en-US" sz="1100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Callbacks are deprecated</a:t>
            </a:r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/>
              <a:ea typeface="Poppins"/>
              <a:cs typeface="Poppins"/>
              <a:sym typeface="Poppins"/>
            </a:endParaRPr>
          </a:p>
          <a:p>
            <a:pPr marL="1371600" lvl="0">
              <a:lnSpc>
                <a:spcPct val="115000"/>
              </a:lnSpc>
              <a:spcBef>
                <a:spcPts val="1200"/>
              </a:spcBef>
              <a:buClr>
                <a:srgbClr val="000000"/>
              </a:buClr>
              <a:defRPr/>
            </a:pPr>
            <a:r>
              <a:rPr kumimoji="0" lang="e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C. </a:t>
            </a:r>
            <a:r>
              <a:rPr lang="en-US" sz="1100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Promises enable async/await for cleaner code</a:t>
            </a:r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/>
              <a:ea typeface="Poppins"/>
              <a:cs typeface="Poppins"/>
              <a:sym typeface="Poppins"/>
            </a:endParaRPr>
          </a:p>
          <a:p>
            <a:pPr marL="1371600" lv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defRPr/>
            </a:pPr>
            <a:r>
              <a:rPr kumimoji="0" lang="e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D. </a:t>
            </a:r>
            <a:r>
              <a:rPr lang="en-US" sz="1100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Promises avoid errors</a:t>
            </a:r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29" name="Google Shape;329;p33" title="question-and-answer-illustration-download-in-svg-png-gif-file-formats--answers-faq-comments-chatting-business-pack-people-illustrations-4257057.png">
            <a:extLst>
              <a:ext uri="{FF2B5EF4-FFF2-40B4-BE49-F238E27FC236}">
                <a16:creationId xmlns:a16="http://schemas.microsoft.com/office/drawing/2014/main" id="{A0DBF6FE-C897-632C-0447-BD0FBA1C2D80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51839" y="3027775"/>
            <a:ext cx="3001612" cy="2001075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33">
            <a:extLst>
              <a:ext uri="{FF2B5EF4-FFF2-40B4-BE49-F238E27FC236}">
                <a16:creationId xmlns:a16="http://schemas.microsoft.com/office/drawing/2014/main" id="{866E7AFE-47E6-8902-67C2-955FF50F2EE5}"/>
              </a:ext>
            </a:extLst>
          </p:cNvPr>
          <p:cNvSpPr txBox="1"/>
          <p:nvPr/>
        </p:nvSpPr>
        <p:spPr>
          <a:xfrm>
            <a:off x="310950" y="3313725"/>
            <a:ext cx="6260400" cy="7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buClr>
                <a:srgbClr val="000000"/>
              </a:buClr>
              <a:defRPr/>
            </a:pPr>
            <a:r>
              <a:rPr kumimoji="0" lang="en" sz="1400" b="1" i="0" u="none" strike="noStrike" kern="0" cap="none" spc="0" normalizeH="0" baseline="0" noProof="0" dirty="0">
                <a:ln>
                  <a:noFill/>
                </a:ln>
                <a:solidFill>
                  <a:srgbClr val="273239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Answer :</a:t>
            </a:r>
            <a:r>
              <a:rPr kumimoji="0" lang="en" sz="1800" b="0" i="0" u="none" strike="noStrike" kern="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  </a:t>
            </a:r>
            <a:r>
              <a:rPr kumimoji="0" lang="e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lang="en" sz="1100" kern="0" noProof="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</a:t>
            </a:r>
            <a:r>
              <a:rPr kumimoji="0" lang="e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. </a:t>
            </a:r>
            <a:r>
              <a:rPr lang="en-US" sz="1100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Promises enable async/await for cleaner code</a:t>
            </a:r>
            <a:endParaRPr kumimoji="0" lang="en-IN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332" name="Google Shape;332;p33">
            <a:extLst>
              <a:ext uri="{FF2B5EF4-FFF2-40B4-BE49-F238E27FC236}">
                <a16:creationId xmlns:a16="http://schemas.microsoft.com/office/drawing/2014/main" id="{105A3774-88E3-635E-9128-859AF18E71D9}"/>
              </a:ext>
            </a:extLst>
          </p:cNvPr>
          <p:cNvGrpSpPr/>
          <p:nvPr/>
        </p:nvGrpSpPr>
        <p:grpSpPr>
          <a:xfrm>
            <a:off x="310900" y="3959263"/>
            <a:ext cx="6005825" cy="1271099"/>
            <a:chOff x="310900" y="3959263"/>
            <a:chExt cx="6005825" cy="1271099"/>
          </a:xfrm>
        </p:grpSpPr>
        <p:sp>
          <p:nvSpPr>
            <p:cNvPr id="333" name="Google Shape;333;p33">
              <a:extLst>
                <a:ext uri="{FF2B5EF4-FFF2-40B4-BE49-F238E27FC236}">
                  <a16:creationId xmlns:a16="http://schemas.microsoft.com/office/drawing/2014/main" id="{E957FF2E-E65B-5A3D-D4D7-740FC3178D1E}"/>
                </a:ext>
              </a:extLst>
            </p:cNvPr>
            <p:cNvSpPr txBox="1"/>
            <p:nvPr/>
          </p:nvSpPr>
          <p:spPr>
            <a:xfrm>
              <a:off x="310900" y="3959263"/>
              <a:ext cx="1335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Clr>
                  <a:srgbClr val="000000"/>
                </a:buClr>
                <a:buSzPts val="1100"/>
                <a:buFont typeface="Arial"/>
                <a:buNone/>
                <a:tabLst/>
                <a:defRPr/>
              </a:pPr>
              <a:r>
                <a:rPr kumimoji="0" lang="en" sz="1400" b="1" i="0" u="none" strike="noStrike" kern="0" cap="none" spc="0" normalizeH="0" baseline="0" noProof="0">
                  <a:ln>
                    <a:noFill/>
                  </a:ln>
                  <a:solidFill>
                    <a:srgbClr val="273239"/>
                  </a:solidFill>
                  <a:effectLst/>
                  <a:uLnTx/>
                  <a:uFillTx/>
                  <a:latin typeface="Poppins"/>
                  <a:ea typeface="Poppins"/>
                  <a:cs typeface="Poppins"/>
                  <a:sym typeface="Poppins"/>
                </a:rPr>
                <a:t>Explanation:</a:t>
              </a: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334" name="Google Shape;334;p33">
              <a:extLst>
                <a:ext uri="{FF2B5EF4-FFF2-40B4-BE49-F238E27FC236}">
                  <a16:creationId xmlns:a16="http://schemas.microsoft.com/office/drawing/2014/main" id="{E54CBD2A-74E4-05E7-A6B6-26C4C8E6B512}"/>
                </a:ext>
              </a:extLst>
            </p:cNvPr>
            <p:cNvSpPr txBox="1"/>
            <p:nvPr/>
          </p:nvSpPr>
          <p:spPr>
            <a:xfrm>
              <a:off x="1607925" y="3959275"/>
              <a:ext cx="4708800" cy="127108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1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"/>
                  <a:ea typeface="Poppins"/>
                  <a:cs typeface="Poppins"/>
                  <a:sym typeface="Poppins"/>
                </a:rPr>
                <a:t>fs.readFile</a:t>
              </a:r>
              <a:r>
                <a: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"/>
                  <a:ea typeface="Poppins"/>
                  <a:cs typeface="Poppins"/>
                  <a:sym typeface="Poppins"/>
                </a:rPr>
                <a:t> has callback (old style). fs/</a:t>
              </a:r>
              <a:r>
                <a:rPr kumimoji="0" lang="en-US" sz="11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"/>
                  <a:ea typeface="Poppins"/>
                  <a:cs typeface="Poppins"/>
                  <a:sym typeface="Poppins"/>
                </a:rPr>
                <a:t>promises.readFile</a:t>
              </a:r>
              <a:r>
                <a: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"/>
                  <a:ea typeface="Poppins"/>
                  <a:cs typeface="Poppins"/>
                  <a:sym typeface="Poppins"/>
                </a:rPr>
                <a:t> returns promise (modern). Promises + async/await are more readable: const data = await </a:t>
              </a:r>
              <a:r>
                <a:rPr kumimoji="0" lang="en-US" sz="11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"/>
                  <a:ea typeface="Poppins"/>
                  <a:cs typeface="Poppins"/>
                  <a:sym typeface="Poppins"/>
                </a:rPr>
                <a:t>readFile</a:t>
              </a:r>
              <a:r>
                <a: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"/>
                  <a:ea typeface="Poppins"/>
                  <a:cs typeface="Poppins"/>
                  <a:sym typeface="Poppins"/>
                </a:rPr>
                <a:t>(). Callbacks lead to nested code (callback hell).</a:t>
              </a:r>
              <a:endParaRPr kumimoji="0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3" name="Text 0">
            <a:extLst>
              <a:ext uri="{FF2B5EF4-FFF2-40B4-BE49-F238E27FC236}">
                <a16:creationId xmlns:a16="http://schemas.microsoft.com/office/drawing/2014/main" id="{07B061B7-F12B-6A29-409D-D00508ECF966}"/>
              </a:ext>
            </a:extLst>
          </p:cNvPr>
          <p:cNvSpPr/>
          <p:nvPr/>
        </p:nvSpPr>
        <p:spPr>
          <a:xfrm>
            <a:off x="8686800" y="484632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dirty="0">
                <a:solidFill>
                  <a:srgbClr val="999999"/>
                </a:solidFill>
                <a:latin typeface="Poppins" pitchFamily="34" charset="0"/>
                <a:cs typeface="Poppins" pitchFamily="34" charset="-120"/>
              </a:rPr>
              <a:t>25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3613929D-8E38-41F1-F979-741A7B7175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0" y="73152"/>
            <a:ext cx="566928" cy="621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23197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4">
          <a:extLst>
            <a:ext uri="{FF2B5EF4-FFF2-40B4-BE49-F238E27FC236}">
              <a16:creationId xmlns:a16="http://schemas.microsoft.com/office/drawing/2014/main" id="{A78389FF-06D8-5720-314A-B03DE71684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33">
            <a:extLst>
              <a:ext uri="{FF2B5EF4-FFF2-40B4-BE49-F238E27FC236}">
                <a16:creationId xmlns:a16="http://schemas.microsoft.com/office/drawing/2014/main" id="{9D82D387-D539-F208-B98E-04B9E87112F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0900" y="210300"/>
            <a:ext cx="747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lang="en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Check Your Understanding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27" name="Google Shape;327;p33">
            <a:extLst>
              <a:ext uri="{FF2B5EF4-FFF2-40B4-BE49-F238E27FC236}">
                <a16:creationId xmlns:a16="http://schemas.microsoft.com/office/drawing/2014/main" id="{29C9B395-C3E1-2155-8A0F-57F5E0E4DAF1}"/>
              </a:ext>
            </a:extLst>
          </p:cNvPr>
          <p:cNvSpPr txBox="1"/>
          <p:nvPr/>
        </p:nvSpPr>
        <p:spPr>
          <a:xfrm>
            <a:off x="310900" y="1228825"/>
            <a:ext cx="8161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buClr>
                <a:srgbClr val="000000"/>
              </a:buClr>
              <a:defRPr/>
            </a:pPr>
            <a:r>
              <a:rPr kumimoji="0" lang="en" sz="1400" b="1" i="0" u="none" strike="noStrike" kern="0" cap="none" spc="0" normalizeH="0" baseline="0" noProof="0" dirty="0">
                <a:ln>
                  <a:noFill/>
                </a:ln>
                <a:solidFill>
                  <a:srgbClr val="273239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Question :  </a:t>
            </a:r>
            <a:r>
              <a:rPr kumimoji="0" lang="en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   </a:t>
            </a:r>
            <a:r>
              <a:rPr lang="en-US" sz="1200" kern="0" dirty="0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  <a:sym typeface="Arial"/>
              </a:rPr>
              <a:t>What's the difference between </a:t>
            </a:r>
            <a:r>
              <a:rPr lang="en-US" sz="1200" kern="0" dirty="0" err="1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  <a:sym typeface="Arial"/>
              </a:rPr>
              <a:t>crypto.createHash</a:t>
            </a:r>
            <a:r>
              <a:rPr lang="en-US" sz="1200" kern="0" dirty="0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  <a:sym typeface="Arial"/>
              </a:rPr>
              <a:t> and </a:t>
            </a:r>
            <a:r>
              <a:rPr lang="en-US" sz="1200" kern="0" dirty="0" err="1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  <a:sym typeface="Arial"/>
              </a:rPr>
              <a:t>crypto.createHmac</a:t>
            </a:r>
            <a:r>
              <a:rPr lang="en-US" sz="1200" kern="0" dirty="0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  <a:sym typeface="Arial"/>
              </a:rPr>
              <a:t>?</a:t>
            </a:r>
            <a:endParaRPr kumimoji="0" sz="13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 panose="00000500000000000000" pitchFamily="2" charset="0"/>
              <a:ea typeface="Poppins"/>
              <a:cs typeface="Poppins" panose="00000500000000000000" pitchFamily="2" charset="0"/>
              <a:sym typeface="Poppins"/>
            </a:endParaRPr>
          </a:p>
        </p:txBody>
      </p:sp>
      <p:sp>
        <p:nvSpPr>
          <p:cNvPr id="328" name="Google Shape;328;p33">
            <a:extLst>
              <a:ext uri="{FF2B5EF4-FFF2-40B4-BE49-F238E27FC236}">
                <a16:creationId xmlns:a16="http://schemas.microsoft.com/office/drawing/2014/main" id="{BCF54540-2BEE-F8E3-E71F-B327F3F7312F}"/>
              </a:ext>
            </a:extLst>
          </p:cNvPr>
          <p:cNvSpPr txBox="1"/>
          <p:nvPr/>
        </p:nvSpPr>
        <p:spPr>
          <a:xfrm>
            <a:off x="310900" y="1748350"/>
            <a:ext cx="8375900" cy="1638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spcAft>
                <a:spcPts val="300"/>
              </a:spcAft>
              <a:buSzPct val="100000"/>
              <a:defRPr/>
            </a:pPr>
            <a:r>
              <a:rPr kumimoji="0" lang="en" sz="1400" b="1" i="0" u="none" strike="noStrike" kern="0" cap="none" spc="0" normalizeH="0" baseline="0" noProof="0" dirty="0">
                <a:ln>
                  <a:noFill/>
                </a:ln>
                <a:solidFill>
                  <a:srgbClr val="273239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Options    :</a:t>
            </a:r>
            <a:r>
              <a:rPr kumimoji="0" lang="e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 </a:t>
            </a:r>
            <a:r>
              <a:rPr kumimoji="0" lang="e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           A. </a:t>
            </a:r>
            <a:r>
              <a:rPr lang="en-US" sz="1100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difference, same thing</a:t>
            </a:r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/>
              <a:ea typeface="Poppins"/>
              <a:cs typeface="Poppins"/>
              <a:sym typeface="Poppins"/>
            </a:endParaRPr>
          </a:p>
          <a:p>
            <a:pPr marL="1371600" lvl="0">
              <a:lnSpc>
                <a:spcPct val="115000"/>
              </a:lnSpc>
              <a:spcBef>
                <a:spcPts val="1200"/>
              </a:spcBef>
              <a:buClr>
                <a:srgbClr val="000000"/>
              </a:buClr>
              <a:defRPr/>
            </a:pPr>
            <a:r>
              <a:rPr kumimoji="0" lang="e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B. </a:t>
            </a:r>
            <a:r>
              <a:rPr lang="en-US" sz="1100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HMAC is for passwords only</a:t>
            </a:r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/>
              <a:ea typeface="Poppins"/>
              <a:cs typeface="Poppins"/>
              <a:sym typeface="Poppins"/>
            </a:endParaRPr>
          </a:p>
          <a:p>
            <a:pPr marL="1371600" lvl="0">
              <a:lnSpc>
                <a:spcPct val="115000"/>
              </a:lnSpc>
              <a:spcBef>
                <a:spcPts val="1200"/>
              </a:spcBef>
              <a:buClr>
                <a:srgbClr val="000000"/>
              </a:buClr>
              <a:defRPr/>
            </a:pPr>
            <a:r>
              <a:rPr kumimoji="0" lang="e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C. </a:t>
            </a:r>
            <a:r>
              <a:rPr lang="en-US" sz="1100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Hash is faster</a:t>
            </a:r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/>
              <a:ea typeface="Poppins"/>
              <a:cs typeface="Poppins"/>
              <a:sym typeface="Poppins"/>
            </a:endParaRPr>
          </a:p>
          <a:p>
            <a:pPr marL="1371600" lv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defRPr/>
            </a:pPr>
            <a:r>
              <a:rPr kumimoji="0" lang="e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D. </a:t>
            </a:r>
            <a:r>
              <a:rPr lang="en-US" sz="1100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Hash is one-way, HMAC uses a secret key and is verifiable</a:t>
            </a:r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29" name="Google Shape;329;p33" title="question-and-answer-illustration-download-in-svg-png-gif-file-formats--answers-faq-comments-chatting-business-pack-people-illustrations-4257057.png">
            <a:extLst>
              <a:ext uri="{FF2B5EF4-FFF2-40B4-BE49-F238E27FC236}">
                <a16:creationId xmlns:a16="http://schemas.microsoft.com/office/drawing/2014/main" id="{01EED16C-C68A-374B-2B2C-3CA06DF85DB0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51839" y="3027775"/>
            <a:ext cx="3001612" cy="2001075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33">
            <a:extLst>
              <a:ext uri="{FF2B5EF4-FFF2-40B4-BE49-F238E27FC236}">
                <a16:creationId xmlns:a16="http://schemas.microsoft.com/office/drawing/2014/main" id="{4B2674FC-AEBC-1E0A-3B6D-B69B1AC30AAF}"/>
              </a:ext>
            </a:extLst>
          </p:cNvPr>
          <p:cNvSpPr txBox="1"/>
          <p:nvPr/>
        </p:nvSpPr>
        <p:spPr>
          <a:xfrm>
            <a:off x="310950" y="3313725"/>
            <a:ext cx="6260400" cy="7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buClr>
                <a:srgbClr val="000000"/>
              </a:buClr>
              <a:defRPr/>
            </a:pPr>
            <a:r>
              <a:rPr kumimoji="0" lang="en" sz="1400" b="1" i="0" u="none" strike="noStrike" kern="0" cap="none" spc="0" normalizeH="0" baseline="0" noProof="0" dirty="0">
                <a:ln>
                  <a:noFill/>
                </a:ln>
                <a:solidFill>
                  <a:srgbClr val="273239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Answer :</a:t>
            </a:r>
            <a:r>
              <a:rPr kumimoji="0" lang="en" sz="1800" b="0" i="0" u="none" strike="noStrike" kern="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  </a:t>
            </a:r>
            <a:r>
              <a:rPr kumimoji="0" lang="e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lang="en" sz="1100" kern="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</a:t>
            </a:r>
            <a:r>
              <a:rPr kumimoji="0" lang="e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. </a:t>
            </a:r>
            <a:r>
              <a:rPr lang="en-US" sz="1100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Hash is one-way, HMAC uses a secret key and is verifiable</a:t>
            </a:r>
            <a:endParaRPr kumimoji="0" lang="en-IN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332" name="Google Shape;332;p33">
            <a:extLst>
              <a:ext uri="{FF2B5EF4-FFF2-40B4-BE49-F238E27FC236}">
                <a16:creationId xmlns:a16="http://schemas.microsoft.com/office/drawing/2014/main" id="{5B135A29-E8A1-DA14-DCA7-FF1FAA806992}"/>
              </a:ext>
            </a:extLst>
          </p:cNvPr>
          <p:cNvGrpSpPr/>
          <p:nvPr/>
        </p:nvGrpSpPr>
        <p:grpSpPr>
          <a:xfrm>
            <a:off x="310900" y="3959263"/>
            <a:ext cx="6005825" cy="1076430"/>
            <a:chOff x="310900" y="3959263"/>
            <a:chExt cx="6005825" cy="1076430"/>
          </a:xfrm>
        </p:grpSpPr>
        <p:sp>
          <p:nvSpPr>
            <p:cNvPr id="333" name="Google Shape;333;p33">
              <a:extLst>
                <a:ext uri="{FF2B5EF4-FFF2-40B4-BE49-F238E27FC236}">
                  <a16:creationId xmlns:a16="http://schemas.microsoft.com/office/drawing/2014/main" id="{6905A0C6-D9D9-8805-3005-0A5D52DE81A4}"/>
                </a:ext>
              </a:extLst>
            </p:cNvPr>
            <p:cNvSpPr txBox="1"/>
            <p:nvPr/>
          </p:nvSpPr>
          <p:spPr>
            <a:xfrm>
              <a:off x="310900" y="3959263"/>
              <a:ext cx="1335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Clr>
                  <a:srgbClr val="000000"/>
                </a:buClr>
                <a:buSzPts val="1100"/>
                <a:buFont typeface="Arial"/>
                <a:buNone/>
                <a:tabLst/>
                <a:defRPr/>
              </a:pPr>
              <a:r>
                <a:rPr kumimoji="0" lang="en" sz="1400" b="1" i="0" u="none" strike="noStrike" kern="0" cap="none" spc="0" normalizeH="0" baseline="0" noProof="0">
                  <a:ln>
                    <a:noFill/>
                  </a:ln>
                  <a:solidFill>
                    <a:srgbClr val="273239"/>
                  </a:solidFill>
                  <a:effectLst/>
                  <a:uLnTx/>
                  <a:uFillTx/>
                  <a:latin typeface="Poppins"/>
                  <a:ea typeface="Poppins"/>
                  <a:cs typeface="Poppins"/>
                  <a:sym typeface="Poppins"/>
                </a:rPr>
                <a:t>Explanation:</a:t>
              </a: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334" name="Google Shape;334;p33">
              <a:extLst>
                <a:ext uri="{FF2B5EF4-FFF2-40B4-BE49-F238E27FC236}">
                  <a16:creationId xmlns:a16="http://schemas.microsoft.com/office/drawing/2014/main" id="{10B7E97A-5560-8417-1A86-E6910F4BD26F}"/>
                </a:ext>
              </a:extLst>
            </p:cNvPr>
            <p:cNvSpPr txBox="1"/>
            <p:nvPr/>
          </p:nvSpPr>
          <p:spPr>
            <a:xfrm>
              <a:off x="1607925" y="3959275"/>
              <a:ext cx="4708800" cy="10764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lvl="0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Clr>
                  <a:srgbClr val="000000"/>
                </a:buClr>
                <a:defRPr/>
              </a:pPr>
              <a:r>
                <a:rPr lang="en-US" sz="1100" i="1" dirty="0" err="1">
                  <a:solidFill>
                    <a:srgbClr val="273239"/>
                  </a:solidFill>
                  <a:latin typeface="Poppins" pitchFamily="34" charset="0"/>
                  <a:ea typeface="Poppins" pitchFamily="34" charset="-122"/>
                  <a:cs typeface="Poppins" pitchFamily="34" charset="-120"/>
                </a:rPr>
                <a:t>createHash</a:t>
              </a:r>
              <a:r>
                <a:rPr lang="en-US" sz="1100" i="1" dirty="0">
                  <a:solidFill>
                    <a:srgbClr val="273239"/>
                  </a:solidFill>
                  <a:latin typeface="Poppins" pitchFamily="34" charset="0"/>
                  <a:ea typeface="Poppins" pitchFamily="34" charset="-122"/>
                  <a:cs typeface="Poppins" pitchFamily="34" charset="-120"/>
                </a:rPr>
                <a:t>('sha256').update(password) hashes one-way (good for passwords). </a:t>
              </a:r>
              <a:r>
                <a:rPr lang="en-US" sz="1100" i="1" dirty="0" err="1">
                  <a:solidFill>
                    <a:srgbClr val="273239"/>
                  </a:solidFill>
                  <a:latin typeface="Poppins" pitchFamily="34" charset="0"/>
                  <a:ea typeface="Poppins" pitchFamily="34" charset="-122"/>
                  <a:cs typeface="Poppins" pitchFamily="34" charset="-120"/>
                </a:rPr>
                <a:t>createHmac</a:t>
              </a:r>
              <a:r>
                <a:rPr lang="en-US" sz="1100" i="1" dirty="0">
                  <a:solidFill>
                    <a:srgbClr val="273239"/>
                  </a:solidFill>
                  <a:latin typeface="Poppins" pitchFamily="34" charset="0"/>
                  <a:ea typeface="Poppins" pitchFamily="34" charset="-122"/>
                  <a:cs typeface="Poppins" pitchFamily="34" charset="-120"/>
                </a:rPr>
                <a:t> uses secret key (good for API signing, message verification). Different tools for different jobs.</a:t>
              </a:r>
              <a:endParaRPr kumimoji="0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3" name="Text 0">
            <a:extLst>
              <a:ext uri="{FF2B5EF4-FFF2-40B4-BE49-F238E27FC236}">
                <a16:creationId xmlns:a16="http://schemas.microsoft.com/office/drawing/2014/main" id="{AA4A560C-15B2-9659-64C2-4E4D626CDDF4}"/>
              </a:ext>
            </a:extLst>
          </p:cNvPr>
          <p:cNvSpPr/>
          <p:nvPr/>
        </p:nvSpPr>
        <p:spPr>
          <a:xfrm>
            <a:off x="8686800" y="484632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dirty="0">
                <a:solidFill>
                  <a:srgbClr val="999999"/>
                </a:solidFill>
                <a:latin typeface="Poppins" pitchFamily="34" charset="0"/>
                <a:cs typeface="Poppins" pitchFamily="34" charset="-120"/>
              </a:rPr>
              <a:t>26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EE680B71-6309-B3CD-E7E0-1E57CA6E8D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0" y="73152"/>
            <a:ext cx="566928" cy="621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93942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43"/>
          <p:cNvSpPr txBox="1">
            <a:spLocks noGrp="1"/>
          </p:cNvSpPr>
          <p:nvPr>
            <p:ph type="title"/>
          </p:nvPr>
        </p:nvSpPr>
        <p:spPr>
          <a:xfrm>
            <a:off x="310896" y="210312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 </a:t>
            </a:r>
            <a:r>
              <a:rPr lang="en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References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75" name="Google Shape;375;p43"/>
          <p:cNvSpPr txBox="1"/>
          <p:nvPr/>
        </p:nvSpPr>
        <p:spPr>
          <a:xfrm>
            <a:off x="358850" y="1181200"/>
            <a:ext cx="8520600" cy="343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>
              <a:lnSpc>
                <a:spcPct val="115000"/>
              </a:lnSpc>
              <a:buSzPts val="1100"/>
              <a:buChar char="●"/>
            </a:pPr>
            <a:r>
              <a:rPr lang="en-IN" sz="1100" b="1" dirty="0">
                <a:latin typeface="Poppins" panose="00000500000000000000" pitchFamily="2" charset="0"/>
                <a:cs typeface="Poppins" panose="00000500000000000000" pitchFamily="2" charset="0"/>
              </a:rPr>
              <a:t>Node.js Official Documentation</a:t>
            </a:r>
            <a:r>
              <a:rPr lang="en-IN" sz="1100" dirty="0">
                <a:latin typeface="Poppins" panose="00000500000000000000" pitchFamily="2" charset="0"/>
                <a:cs typeface="Poppins" panose="00000500000000000000" pitchFamily="2" charset="0"/>
              </a:rPr>
              <a:t> : Comprehensive and official documentation for Node.js runtime, modules, APIs, file system, HTTP, Express integration basics, and backend development concepts.</a:t>
            </a:r>
            <a:br>
              <a:rPr lang="en-IN" sz="1100" dirty="0"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IN" sz="1100" dirty="0">
                <a:latin typeface="Poppins" panose="00000500000000000000" pitchFamily="2" charset="0"/>
                <a:cs typeface="Poppins" panose="00000500000000000000" pitchFamily="2" charset="0"/>
              </a:rPr>
              <a:t>🔗 </a:t>
            </a:r>
            <a:r>
              <a:rPr lang="en-IN" sz="1100" dirty="0">
                <a:latin typeface="Poppins" panose="00000500000000000000" pitchFamily="2" charset="0"/>
                <a:cs typeface="Poppins" panose="00000500000000000000" pitchFamily="2" charset="0"/>
                <a:hlinkClick r:id="rId3"/>
              </a:rPr>
              <a:t>Node.js Official Docs</a:t>
            </a:r>
            <a:endParaRPr sz="1100" u="sng" dirty="0">
              <a:solidFill>
                <a:schemeClr val="hlink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u="sng" dirty="0">
              <a:solidFill>
                <a:schemeClr val="hlink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u="sng" dirty="0">
              <a:solidFill>
                <a:schemeClr val="hlink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457200" lvl="0" indent="-298450">
              <a:lnSpc>
                <a:spcPct val="115000"/>
              </a:lnSpc>
              <a:buClr>
                <a:schemeClr val="dk1"/>
              </a:buClr>
              <a:buSzPts val="1100"/>
              <a:buChar char="●"/>
            </a:pPr>
            <a:r>
              <a:rPr lang="en-IN" sz="1100" b="1" dirty="0">
                <a:latin typeface="Poppins" panose="00000500000000000000" pitchFamily="2" charset="0"/>
                <a:cs typeface="Poppins" panose="00000500000000000000" pitchFamily="2" charset="0"/>
              </a:rPr>
              <a:t>W3Schools – Node.js Tutorial</a:t>
            </a:r>
            <a:r>
              <a:rPr lang="en-IN" sz="1100" dirty="0">
                <a:latin typeface="Poppins" panose="00000500000000000000" pitchFamily="2" charset="0"/>
                <a:cs typeface="Poppins" panose="00000500000000000000" pitchFamily="2" charset="0"/>
              </a:rPr>
              <a:t> : Beginner-friendly Node.js tutorials with easy explanations, examples, and hands-on practice for backend development fundamentals.</a:t>
            </a:r>
            <a:br>
              <a:rPr lang="en-IN" sz="1100" dirty="0"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IN" sz="1100" dirty="0">
                <a:latin typeface="Poppins" panose="00000500000000000000" pitchFamily="2" charset="0"/>
                <a:cs typeface="Poppins" panose="00000500000000000000" pitchFamily="2" charset="0"/>
              </a:rPr>
              <a:t>🔗 </a:t>
            </a:r>
            <a:r>
              <a:rPr lang="en-IN" sz="1100" dirty="0">
                <a:latin typeface="Poppins" panose="00000500000000000000" pitchFamily="2" charset="0"/>
                <a:cs typeface="Poppins" panose="00000500000000000000" pitchFamily="2" charset="0"/>
                <a:hlinkClick r:id="rId4"/>
              </a:rPr>
              <a:t>W3Schools Node.js Tutorial</a:t>
            </a:r>
            <a:endParaRPr lang="en-US" sz="1100" dirty="0">
              <a:solidFill>
                <a:schemeClr val="dk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dirty="0">
              <a:solidFill>
                <a:schemeClr val="dk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dirty="0">
              <a:solidFill>
                <a:schemeClr val="dk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457200" lvl="0" indent="-298450">
              <a:lnSpc>
                <a:spcPct val="115000"/>
              </a:lnSpc>
              <a:buClr>
                <a:schemeClr val="dk1"/>
              </a:buClr>
              <a:buSzPts val="1100"/>
              <a:buChar char="●"/>
            </a:pPr>
            <a:r>
              <a:rPr lang="en-IN" sz="1100" b="1" dirty="0" err="1">
                <a:latin typeface="Poppins" panose="00000500000000000000" pitchFamily="2" charset="0"/>
                <a:cs typeface="Poppins" panose="00000500000000000000" pitchFamily="2" charset="0"/>
              </a:rPr>
              <a:t>freeCodeCamp</a:t>
            </a:r>
            <a:r>
              <a:rPr lang="en-IN" sz="1100" b="1" dirty="0">
                <a:latin typeface="Poppins" panose="00000500000000000000" pitchFamily="2" charset="0"/>
                <a:cs typeface="Poppins" panose="00000500000000000000" pitchFamily="2" charset="0"/>
              </a:rPr>
              <a:t> – Node.js Course</a:t>
            </a:r>
            <a:r>
              <a:rPr lang="en-IN" sz="1100" dirty="0">
                <a:latin typeface="Poppins" panose="00000500000000000000" pitchFamily="2" charset="0"/>
                <a:cs typeface="Poppins" panose="00000500000000000000" pitchFamily="2" charset="0"/>
              </a:rPr>
              <a:t> : Free practical tutorials and project-based learning resources for Node.js, Express.js, REST APIs, and backend development.</a:t>
            </a:r>
            <a:br>
              <a:rPr lang="en-IN" sz="1100" dirty="0"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IN" sz="1100" dirty="0">
                <a:latin typeface="Poppins" panose="00000500000000000000" pitchFamily="2" charset="0"/>
                <a:cs typeface="Poppins" panose="00000500000000000000" pitchFamily="2" charset="0"/>
              </a:rPr>
              <a:t>🔗 </a:t>
            </a:r>
            <a:r>
              <a:rPr lang="en-IN" sz="1100" dirty="0" err="1">
                <a:latin typeface="Poppins" panose="00000500000000000000" pitchFamily="2" charset="0"/>
                <a:cs typeface="Poppins" panose="00000500000000000000" pitchFamily="2" charset="0"/>
                <a:hlinkClick r:id="rId5"/>
              </a:rPr>
              <a:t>freeCodeCamp</a:t>
            </a:r>
            <a:r>
              <a:rPr lang="en-IN" sz="1100" dirty="0">
                <a:latin typeface="Poppins" panose="00000500000000000000" pitchFamily="2" charset="0"/>
                <a:cs typeface="Poppins" panose="00000500000000000000" pitchFamily="2" charset="0"/>
                <a:hlinkClick r:id="rId5"/>
              </a:rPr>
              <a:t> Node.js Resources</a:t>
            </a:r>
            <a:endParaRPr lang="en-IN" sz="11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457200" lvl="0" indent="-298450">
              <a:lnSpc>
                <a:spcPct val="115000"/>
              </a:lnSpc>
              <a:buClr>
                <a:schemeClr val="dk1"/>
              </a:buClr>
              <a:buSzPts val="1100"/>
              <a:buChar char="●"/>
            </a:pPr>
            <a:endParaRPr lang="en-IN" sz="1100" i="1" dirty="0">
              <a:solidFill>
                <a:schemeClr val="dk1"/>
              </a:solidFill>
              <a:latin typeface="Poppins" panose="00000500000000000000" pitchFamily="2" charset="0"/>
              <a:cs typeface="Poppins" panose="00000500000000000000" pitchFamily="2" charset="0"/>
              <a:sym typeface="Poppins"/>
            </a:endParaRPr>
          </a:p>
          <a:p>
            <a:pPr marL="457200" lvl="0" indent="-298450">
              <a:lnSpc>
                <a:spcPct val="115000"/>
              </a:lnSpc>
              <a:buClr>
                <a:schemeClr val="dk1"/>
              </a:buClr>
              <a:buSzPts val="1100"/>
              <a:buChar char="●"/>
            </a:pPr>
            <a:endParaRPr lang="en-IN" sz="1100" i="1" dirty="0">
              <a:solidFill>
                <a:schemeClr val="dk1"/>
              </a:solidFill>
              <a:latin typeface="Poppins" panose="00000500000000000000" pitchFamily="2" charset="0"/>
              <a:cs typeface="Poppins" panose="00000500000000000000" pitchFamily="2" charset="0"/>
              <a:sym typeface="Poppins"/>
            </a:endParaRPr>
          </a:p>
          <a:p>
            <a:pPr marL="457200" lvl="0" indent="-298450">
              <a:lnSpc>
                <a:spcPct val="115000"/>
              </a:lnSpc>
              <a:buClr>
                <a:schemeClr val="dk1"/>
              </a:buClr>
              <a:buSzPts val="1100"/>
              <a:buChar char="●"/>
            </a:pPr>
            <a:r>
              <a:rPr lang="en-US" sz="1100" b="1" dirty="0">
                <a:latin typeface="Poppins" pitchFamily="34" charset="0"/>
                <a:ea typeface="Poppins" pitchFamily="34" charset="-122"/>
                <a:cs typeface="Poppins" pitchFamily="34" charset="-120"/>
              </a:rPr>
              <a:t>Node.js FS : </a:t>
            </a:r>
            <a:r>
              <a:rPr lang="en-US" sz="1100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File system module complete API reference. </a:t>
            </a:r>
            <a:r>
              <a:rPr lang="en-US" sz="1050" u="sng" dirty="0">
                <a:solidFill>
                  <a:srgbClr val="1C4587"/>
                </a:solidFill>
                <a:latin typeface="Poppins" pitchFamily="34" charset="0"/>
                <a:ea typeface="Poppins" pitchFamily="34" charset="-122"/>
                <a:cs typeface="Poppins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🔗 https://nodejs.org/api/fs.html</a:t>
            </a:r>
            <a:endParaRPr lang="en-IN" sz="11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776FBA4A-CC92-CFF0-C0A3-3B8D0286268A}"/>
              </a:ext>
            </a:extLst>
          </p:cNvPr>
          <p:cNvSpPr/>
          <p:nvPr/>
        </p:nvSpPr>
        <p:spPr>
          <a:xfrm>
            <a:off x="8686800" y="484632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Poppins" pitchFamily="34" charset="0"/>
                <a:cs typeface="Poppins" pitchFamily="34" charset="-120"/>
              </a:rPr>
              <a:t>27</a:t>
            </a:r>
            <a:endParaRPr lang="en-US" sz="900" dirty="0"/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60031998-1A69-56D0-BD13-92835B21481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12480" y="73152"/>
            <a:ext cx="566928" cy="621792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1" name="Google Shape;381;p44" title="subtle-prism (2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50">
            <a:off x="-395563" y="395600"/>
            <a:ext cx="5157175" cy="4365975"/>
          </a:xfrm>
          <a:prstGeom prst="flowChartManualInput">
            <a:avLst/>
          </a:prstGeom>
          <a:noFill/>
          <a:ln>
            <a:noFill/>
          </a:ln>
        </p:spPr>
      </p:pic>
      <p:pic>
        <p:nvPicPr>
          <p:cNvPr id="382" name="Google Shape;382;p44" title="KRMU_Full_heading_Logo-removebg-preview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06125" y="452500"/>
            <a:ext cx="5337876" cy="1363050"/>
          </a:xfrm>
          <a:prstGeom prst="rect">
            <a:avLst/>
          </a:prstGeom>
          <a:noFill/>
          <a:ln>
            <a:noFill/>
          </a:ln>
        </p:spPr>
      </p:pic>
      <p:sp>
        <p:nvSpPr>
          <p:cNvPr id="383" name="Google Shape;383;p44"/>
          <p:cNvSpPr txBox="1"/>
          <p:nvPr/>
        </p:nvSpPr>
        <p:spPr>
          <a:xfrm>
            <a:off x="4407400" y="2020825"/>
            <a:ext cx="4636200" cy="55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rgbClr val="173034"/>
                </a:solidFill>
              </a:rPr>
              <a:t>Course - Web Development - III</a:t>
            </a:r>
            <a:endParaRPr sz="2400" b="1" dirty="0">
              <a:solidFill>
                <a:srgbClr val="173034"/>
              </a:solidFill>
            </a:endParaRPr>
          </a:p>
        </p:txBody>
      </p:sp>
      <p:grpSp>
        <p:nvGrpSpPr>
          <p:cNvPr id="384" name="Google Shape;384;p44"/>
          <p:cNvGrpSpPr/>
          <p:nvPr/>
        </p:nvGrpSpPr>
        <p:grpSpPr>
          <a:xfrm>
            <a:off x="4572000" y="4881413"/>
            <a:ext cx="1607600" cy="292500"/>
            <a:chOff x="5060775" y="4881413"/>
            <a:chExt cx="1607600" cy="292500"/>
          </a:xfrm>
        </p:grpSpPr>
        <p:sp>
          <p:nvSpPr>
            <p:cNvPr id="385" name="Google Shape;385;p44"/>
            <p:cNvSpPr txBox="1"/>
            <p:nvPr/>
          </p:nvSpPr>
          <p:spPr>
            <a:xfrm>
              <a:off x="5165675" y="4881413"/>
              <a:ext cx="15027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chemeClr val="dk1"/>
                  </a:solidFill>
                </a:rPr>
                <a:t>welcome@krmangalam.edu.in</a:t>
              </a:r>
              <a:endParaRPr sz="900">
                <a:solidFill>
                  <a:schemeClr val="dk1"/>
                </a:solidFill>
              </a:endParaRPr>
            </a:p>
          </p:txBody>
        </p:sp>
        <p:pic>
          <p:nvPicPr>
            <p:cNvPr id="386" name="Google Shape;386;p44" title="email.png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060775" y="4966738"/>
              <a:ext cx="137160" cy="13716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87" name="Google Shape;387;p44"/>
          <p:cNvSpPr txBox="1"/>
          <p:nvPr/>
        </p:nvSpPr>
        <p:spPr>
          <a:xfrm>
            <a:off x="7326500" y="4881425"/>
            <a:ext cx="23400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accent2"/>
                </a:solidFill>
              </a:rPr>
              <a:t>Sohna Road,Gurugram,Haryana 122103</a:t>
            </a:r>
            <a:endParaRPr sz="700">
              <a:solidFill>
                <a:schemeClr val="accent2"/>
              </a:solidFill>
            </a:endParaRPr>
          </a:p>
        </p:txBody>
      </p:sp>
      <p:pic>
        <p:nvPicPr>
          <p:cNvPr id="388" name="Google Shape;388;p44" title="location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229300" y="4959088"/>
            <a:ext cx="137160" cy="137160"/>
          </a:xfrm>
          <a:prstGeom prst="rect">
            <a:avLst/>
          </a:prstGeom>
          <a:noFill/>
          <a:ln>
            <a:noFill/>
          </a:ln>
        </p:spPr>
      </p:pic>
      <p:sp>
        <p:nvSpPr>
          <p:cNvPr id="390" name="Google Shape;390;p44"/>
          <p:cNvSpPr txBox="1"/>
          <p:nvPr/>
        </p:nvSpPr>
        <p:spPr>
          <a:xfrm>
            <a:off x="1033275" y="1691650"/>
            <a:ext cx="2313000" cy="17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Thanks</a:t>
            </a:r>
            <a:endParaRPr sz="34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For</a:t>
            </a:r>
            <a:endParaRPr sz="34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Watching</a:t>
            </a:r>
            <a:endParaRPr sz="34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4E5F4146-6277-E219-3EC0-EA0CC9D1A5C4}"/>
              </a:ext>
            </a:extLst>
          </p:cNvPr>
          <p:cNvSpPr/>
          <p:nvPr/>
        </p:nvSpPr>
        <p:spPr>
          <a:xfrm>
            <a:off x="8686800" y="484632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Poppins" pitchFamily="34" charset="0"/>
                <a:cs typeface="Poppins" pitchFamily="34" charset="-120"/>
              </a:rPr>
              <a:t>28</a:t>
            </a:r>
            <a:endParaRPr lang="en-US" sz="9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D0276F1-B083-D9E6-B1C3-1BFA74AE90A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70007" y="2208918"/>
            <a:ext cx="2798268" cy="2798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3645676"/>
      </p:ext>
    </p:extLst>
  </p:cSld>
  <p:clrMapOvr>
    <a:masterClrMapping/>
  </p:clrMapOvr>
  <p:transition spd="med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163</TotalTime>
  <Words>2057</Words>
  <Application>Microsoft Office PowerPoint</Application>
  <PresentationFormat>On-screen Show (16:9)</PresentationFormat>
  <Paragraphs>379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28</vt:i4>
      </vt:variant>
    </vt:vector>
  </HeadingPairs>
  <TitlesOfParts>
    <vt:vector size="36" baseType="lpstr">
      <vt:lpstr>Arial</vt:lpstr>
      <vt:lpstr>Calibri</vt:lpstr>
      <vt:lpstr>Consolas</vt:lpstr>
      <vt:lpstr>Courier New</vt:lpstr>
      <vt:lpstr>Poppins</vt:lpstr>
      <vt:lpstr>Roboto Slab</vt:lpstr>
      <vt:lpstr>Office Theme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| Check Your Understanding</vt:lpstr>
      <vt:lpstr>| Check Your Understanding</vt:lpstr>
      <vt:lpstr>| Check Your Understanding</vt:lpstr>
      <vt:lpstr>| Check Your Understanding</vt:lpstr>
      <vt:lpstr>|  References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Love Porwal</cp:lastModifiedBy>
  <cp:revision>6</cp:revision>
  <dcterms:created xsi:type="dcterms:W3CDTF">2026-05-21T06:22:36Z</dcterms:created>
  <dcterms:modified xsi:type="dcterms:W3CDTF">2026-07-12T18:56:06Z</dcterms:modified>
</cp:coreProperties>
</file>