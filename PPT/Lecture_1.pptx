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6"/>
  </p:notesMasterIdLst>
  <p:sldIdLst>
    <p:sldId id="256" r:id="rId3"/>
    <p:sldId id="294" r:id="rId4"/>
    <p:sldId id="296" r:id="rId5"/>
    <p:sldId id="297" r:id="rId6"/>
    <p:sldId id="257" r:id="rId7"/>
    <p:sldId id="258" r:id="rId8"/>
    <p:sldId id="259" r:id="rId9"/>
    <p:sldId id="260" r:id="rId10"/>
    <p:sldId id="307" r:id="rId11"/>
    <p:sldId id="262" r:id="rId12"/>
    <p:sldId id="298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304" r:id="rId21"/>
    <p:sldId id="305" r:id="rId22"/>
    <p:sldId id="306" r:id="rId23"/>
    <p:sldId id="286" r:id="rId24"/>
    <p:sldId id="287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3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3475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3fc715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3fc715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680F-5E8C-2F6B-A07D-98375B8F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49AEA-7895-7929-B88D-A4A47BECD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74E88-A4E4-BE10-DD04-B3B9C9FB8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0FD01-F951-2B0F-990F-AC25C477B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17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FED62-74F7-111C-05BB-8654B6A8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491BB-9AC2-58E9-A719-A073D6F4F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0F6F7-3478-B416-7ACD-D008A0C5D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B41C0-EFC4-A9CA-1727-EA2EED324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50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613BE-01BB-1916-ED3A-D694867E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3B884E-8CF5-D3EC-3A8C-123146A14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9F57F-A08F-5D66-3639-51F4A8E6F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47188-CE81-2E11-7C1A-6D7DDD36CD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02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01926-AB6F-8B71-2F50-0FDE0739B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A2AF8-0DC8-0BF3-3D3C-877D18434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5A958-D540-BFB0-7870-BDBCFD906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8014F-8FB3-ECD8-64F7-ACB7E80DA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2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AF45-3C43-F11B-4DE4-2F6E4CAEB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CCC14-79D3-30F3-9D59-5EB21476C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63389-83A5-E5FF-B39E-71F4D9933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413EF-0D19-B464-96B7-CAEC5C6BD8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48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33a918ceb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733a918ceb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33a918ceb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733a918ceb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4540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278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3165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5754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9399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781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47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529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4011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7297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1280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4544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721679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cs?utm_source=chatgpt.com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www.freecodecamp.org/news/tag/node-js/?utm_source=chatgpt.com" TargetMode="External"/><Relationship Id="rId4" Type="http://schemas.openxmlformats.org/officeDocument/2006/relationships/hyperlink" Target="https://www.w3schools.com/nodejs/?utm_source=chatgpt.com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>
                <a:ln>
                  <a:noFill/>
                </a:ln>
                <a:solidFill>
                  <a:srgbClr val="173034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Course - Web Development - III 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173034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welcome@krmangalam.edu.in</a:t>
              </a:r>
              <a:endPara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Sohna Road,Gurugram,Haryana 122103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4896" cy="1972225"/>
            <a:chOff x="788865" y="1515488"/>
            <a:chExt cx="4593000" cy="1972225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Slab"/>
                  <a:ea typeface="Roboto Slab"/>
                  <a:cs typeface="Roboto Slab"/>
                  <a:sym typeface="Roboto Slab"/>
                </a:rPr>
                <a:t>Lecture 1</a:t>
              </a:r>
              <a:r>
                <a:rPr kumimoji="0" lang="en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:</a:t>
              </a:r>
              <a:endPara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863408" y="3059673"/>
              <a:ext cx="841483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By -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88865" y="2154317"/>
              <a:ext cx="45930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Introduction to Backend Development</a:t>
              </a: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487875" y="3076113"/>
              <a:ext cx="3156221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Love Porwal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B5463F-BDFE-B6CF-7DAC-28E695024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79" y="3217507"/>
            <a:ext cx="383020" cy="3830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E73F3E-E890-348C-FEC3-1E149A3DA9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0007" y="2208918"/>
            <a:ext cx="2798268" cy="279826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0E3A-6821-91F7-0F3E-F33271A4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A76A43E-8A47-DAD4-DF5F-73D132F71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FE00E20-14C0-ADEC-F34C-89A22A4ABBC3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C61C953-1F43-F6B4-EFB7-44EB06C94202}"/>
              </a:ext>
            </a:extLst>
          </p:cNvPr>
          <p:cNvSpPr/>
          <p:nvPr/>
        </p:nvSpPr>
        <p:spPr>
          <a:xfrm>
            <a:off x="357283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6AC52AB-E7D3-B764-DBD9-8C74A732FC1F}"/>
              </a:ext>
            </a:extLst>
          </p:cNvPr>
          <p:cNvSpPr/>
          <p:nvPr/>
        </p:nvSpPr>
        <p:spPr>
          <a:xfrm>
            <a:off x="427724" y="457200"/>
            <a:ext cx="80030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" sz="2000" b="1" dirty="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7C26F3-02AD-0320-21B3-21A73D34A6D6}"/>
              </a:ext>
            </a:extLst>
          </p:cNvPr>
          <p:cNvSpPr/>
          <p:nvPr/>
        </p:nvSpPr>
        <p:spPr>
          <a:xfrm>
            <a:off x="427724" y="1078992"/>
            <a:ext cx="8551684" cy="250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is Backend Development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Frontend vs Backend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Client-Server Architecture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is Node.js?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Why use Node.js?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Real-world Applications of Node.js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References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  <a:defRPr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193247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F7CE-FC8C-A714-8C0A-783F1F9D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E6830C6-0157-1D16-8D64-EA2564EA2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A032557-1DA5-D6E5-EC05-DDD0D8A3611B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3D5E58C-0B29-A653-5275-328BC96CA954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6471A2-B515-BA62-8104-9BB508670300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Can a website work properly with only design and buttons?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0C82996-25C2-F84E-78ED-2ADFD985CD99}"/>
              </a:ext>
            </a:extLst>
          </p:cNvPr>
          <p:cNvSpPr/>
          <p:nvPr/>
        </p:nvSpPr>
        <p:spPr>
          <a:xfrm>
            <a:off x="365760" y="1189463"/>
            <a:ext cx="8412480" cy="3702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136DCC-AD4E-E563-0673-8A12BE7DF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442" y="887336"/>
            <a:ext cx="5087161" cy="40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7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96900-7F82-3E62-5374-9375009C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0A45D8C-FB36-EBCD-1491-61B09D758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1C4036B-7095-6D81-50A3-77746EC7746E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F2B7B9-09C7-12A9-4F96-A31A8F9B2D39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66D6FF9-B5E2-88B2-18AA-2D1FA4724E7A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if Instagram worked like this?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875A610-2B58-00D3-7023-EB7BA8B19DE1}"/>
              </a:ext>
            </a:extLst>
          </p:cNvPr>
          <p:cNvSpPr/>
          <p:nvPr/>
        </p:nvSpPr>
        <p:spPr>
          <a:xfrm>
            <a:off x="365760" y="1189463"/>
            <a:ext cx="8412480" cy="3702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E2473-C3EA-4306-B456-FCE56394E5B2}"/>
              </a:ext>
            </a:extLst>
          </p:cNvPr>
          <p:cNvSpPr txBox="1"/>
          <p:nvPr/>
        </p:nvSpPr>
        <p:spPr>
          <a:xfrm>
            <a:off x="438616" y="1408176"/>
            <a:ext cx="38806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You open Instagram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Photos are visible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But…</a:t>
            </a:r>
          </a:p>
          <a:p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820738" lvl="4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Login does not work </a:t>
            </a:r>
          </a:p>
          <a:p>
            <a:pPr marL="820738" lvl="2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Comments are not saved </a:t>
            </a:r>
          </a:p>
          <a:p>
            <a:pPr marL="820738" lvl="2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Messages disappear </a:t>
            </a:r>
          </a:p>
          <a:p>
            <a:pPr marL="820738" lvl="2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Likes are never counted </a:t>
            </a:r>
          </a:p>
          <a:p>
            <a:pPr marL="820738" lvl="2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Videos never load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43C604-5021-C3D2-D478-8436ABF82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79" y="1008652"/>
            <a:ext cx="4137601" cy="382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27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Backend Development?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259054"/>
            <a:ext cx="8138160" cy="3587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Backend Development refers to the </a:t>
            </a:r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server-side</a:t>
            </a: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 of an application.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It is responsible for: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Processing user requests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Performing business logic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Connecting databases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Authentication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Sending responses to users 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 backend is invisible to users but powers every application.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Examples: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Login system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Payment Gateway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User Registration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Sending OTP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Order Management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07D1A7-7C5B-6416-F3CD-E276AC5DB8FD}"/>
              </a:ext>
            </a:extLst>
          </p:cNvPr>
          <p:cNvSpPr txBox="1"/>
          <p:nvPr/>
        </p:nvSpPr>
        <p:spPr>
          <a:xfrm>
            <a:off x="2286000" y="23894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Does Backend Matter?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29768" y="1301262"/>
            <a:ext cx="3333340" cy="2215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Real-World Example: </a:t>
            </a:r>
          </a:p>
          <a:p>
            <a:endParaRPr lang="en-US" sz="1100" b="1" dirty="0">
              <a:solidFill>
                <a:srgbClr val="006064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Instagram's backend stores 500M+ user profiles, processes millions of uploads/day, and handles authentication for 2B+ monthly users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34" charset="0"/>
              <a:cs typeface="Poppins" pitchFamily="34" charset="-12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Food delivery: create order, assign rider, track payment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Banking: validate login, verify balance, transfer money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A63EAC8-EBCA-7D79-37CC-9CF1456B3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371" y="309489"/>
            <a:ext cx="4333109" cy="46212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Backend Fits in Your App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C7B635-352A-1389-5AA3-67799B27D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35" y="1169025"/>
            <a:ext cx="7730197" cy="35668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 vs Backend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1170432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 is what users see and interact with (React, Vue, HTML/CSS). Backend is the invisible infrastructure that processes requests, manages data, and provides APIs.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DE60FF-747C-5D08-CAB9-75EE81D2D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675" y="1888826"/>
            <a:ext cx="5824025" cy="31767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8EB2-ECC3-355F-A85C-834E22631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F69F411-0B42-D091-B737-72320F9A5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26727D4-F674-D0A4-58D4-BDDA9888F4A3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F424243-C815-8B7B-B4DD-913C6FED26EE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8DDEAFE-74EE-A90F-B4C0-BAA4F339F2F6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Separation Matters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BB9CAF-C6B3-8206-9E74-4BA8673B6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59" y="1129796"/>
            <a:ext cx="7519006" cy="383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3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Frontend &amp; Backend Work Together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40318" y="1283677"/>
            <a:ext cx="2513897" cy="1396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Easy Analogy: </a:t>
            </a:r>
          </a:p>
          <a:p>
            <a:pPr marL="0" indent="0">
              <a:buNone/>
            </a:pPr>
            <a:endParaRPr lang="en-US" sz="1200" b="1" dirty="0"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Frontend = TV remote, </a:t>
            </a:r>
          </a:p>
          <a:p>
            <a:pPr marL="0" indent="0"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Backend = TV internal circuits. </a:t>
            </a:r>
          </a:p>
          <a:p>
            <a:pPr marL="0" indent="0"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      </a:t>
            </a:r>
          </a:p>
          <a:p>
            <a:pPr marL="0" indent="0"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You press buttons, circuits do the work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24FF9E-EF85-42F8-633C-22EA740BC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690" y="1276642"/>
            <a:ext cx="5767748" cy="33725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C65FA-64C8-7015-2321-D464535D7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3B93F50-FA84-ABE2-5FCD-A3908AC25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1377BA3-629C-DDE8-09B3-29D5924AC03B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FEFC863-E75B-BFD8-E730-ADF3EA8CDAE8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6685A75-2D6C-A96B-1723-C6141FFF9581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 VS Backend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7981CD7-61E2-79E0-BD81-C3F7E771D53F}"/>
              </a:ext>
            </a:extLst>
          </p:cNvPr>
          <p:cNvSpPr/>
          <p:nvPr/>
        </p:nvSpPr>
        <p:spPr>
          <a:xfrm>
            <a:off x="365760" y="251460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endParaRPr lang="en-US" sz="11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67C6BA5-4362-2EF2-A438-0DE7BC596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931667"/>
              </p:ext>
            </p:extLst>
          </p:nvPr>
        </p:nvGraphicFramePr>
        <p:xfrm>
          <a:off x="628650" y="1903889"/>
          <a:ext cx="3943350" cy="164592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82073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771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16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850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73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437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35205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FCE0219-365D-2BA1-AF41-B689BDE99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851862"/>
              </p:ext>
            </p:extLst>
          </p:nvPr>
        </p:nvGraphicFramePr>
        <p:xfrm>
          <a:off x="2468880" y="1297745"/>
          <a:ext cx="4206239" cy="3548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606">
                  <a:extLst>
                    <a:ext uri="{9D8B030D-6E8A-4147-A177-3AD203B41FA5}">
                      <a16:colId xmlns:a16="http://schemas.microsoft.com/office/drawing/2014/main" val="3742836105"/>
                    </a:ext>
                  </a:extLst>
                </a:gridCol>
                <a:gridCol w="2217633">
                  <a:extLst>
                    <a:ext uri="{9D8B030D-6E8A-4147-A177-3AD203B41FA5}">
                      <a16:colId xmlns:a16="http://schemas.microsoft.com/office/drawing/2014/main" val="2400102404"/>
                    </a:ext>
                  </a:extLst>
                </a:gridCol>
              </a:tblGrid>
              <a:tr h="591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Backend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6917022"/>
                  </a:ext>
                </a:extLst>
              </a:tr>
              <a:tr h="591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Runs in browser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Runs on server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9665557"/>
                  </a:ext>
                </a:extLst>
              </a:tr>
              <a:tr h="591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Visible to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Hidden from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549700"/>
                  </a:ext>
                </a:extLst>
              </a:tr>
              <a:tr h="591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Handles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Handles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6319387"/>
                  </a:ext>
                </a:extLst>
              </a:tr>
              <a:tr h="591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HTML, CSS, 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Node.js, Python, 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2633604"/>
                  </a:ext>
                </a:extLst>
              </a:tr>
              <a:tr h="591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Client-side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Server-side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410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9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Client-Server Architecture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91609" y="1158366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model where a Client (browser/app) sends requests to a Server (your app), which processes them and sends responses back. The fundamental pattern of all web applications.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04381D-30EF-CB38-12F3-B70A4547F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54" y="2195753"/>
            <a:ext cx="7444271" cy="249054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6D7CDC8-3B20-3CB3-9FFD-BB62543586B2}"/>
              </a:ext>
            </a:extLst>
          </p:cNvPr>
          <p:cNvSpPr/>
          <p:nvPr/>
        </p:nvSpPr>
        <p:spPr>
          <a:xfrm>
            <a:off x="3833446" y="3151163"/>
            <a:ext cx="1674056" cy="2954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E8EA46-532C-3982-93EE-DFBB48AA73EF}"/>
              </a:ext>
            </a:extLst>
          </p:cNvPr>
          <p:cNvSpPr/>
          <p:nvPr/>
        </p:nvSpPr>
        <p:spPr>
          <a:xfrm flipH="1">
            <a:off x="879230" y="2811428"/>
            <a:ext cx="219456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07E4FF-B0A7-7DB0-0014-ACD53559DD5B}"/>
              </a:ext>
            </a:extLst>
          </p:cNvPr>
          <p:cNvSpPr/>
          <p:nvPr/>
        </p:nvSpPr>
        <p:spPr>
          <a:xfrm flipH="1">
            <a:off x="5988265" y="2048725"/>
            <a:ext cx="219456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ackend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3019AD-C3B4-E8CA-5388-42934C0399D6}"/>
              </a:ext>
            </a:extLst>
          </p:cNvPr>
          <p:cNvSpPr/>
          <p:nvPr/>
        </p:nvSpPr>
        <p:spPr>
          <a:xfrm flipH="1">
            <a:off x="848746" y="2070527"/>
            <a:ext cx="219456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Frontend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91441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112543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This Architecture?</a:t>
            </a:r>
            <a:endParaRPr lang="en-US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CD0747-A4F6-F7E1-31B8-0BBE5058E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822704"/>
            <a:ext cx="7561034" cy="4124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Request-Response Cycle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75488" y="122740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Easy Analogy: </a:t>
            </a:r>
          </a:p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      </a:t>
            </a:r>
          </a:p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Client-server = customer at restaurant. </a:t>
            </a:r>
          </a:p>
          <a:p>
            <a:pPr marL="0" indent="0"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Customer (client) orders from menu, chef (server) prepares, serves response (dish)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0425C1-7B91-F424-4FAB-3A7EC19AF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223" y="2256872"/>
            <a:ext cx="5430129" cy="26668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Node.js?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77012" y="1167616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is a JavaScript runtime environment that lets you write server-side code. It's JavaScript escaping the browser cage and running on servers.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09960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Key Points: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" y="2342267"/>
            <a:ext cx="8302752" cy="16336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Created by Ryan Dahl in 2009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on Google Chrome's V8 JavaScript engine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Single-threaded, event-driven, non-blocking I/O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Comes with npm (2M+ packages)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Runs on Windows, macOS, Linux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34AC8C-292F-2744-5B57-D87C82880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112" y="2382496"/>
            <a:ext cx="2463824" cy="24638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Node.js Exists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29767" y="1216152"/>
            <a:ext cx="819372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Node.js, you needed different languages for frontend (JS) and backend (Python/Java). Node.js unified them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1865376"/>
            <a:ext cx="19518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7506" y="2025396"/>
            <a:ext cx="3191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Netflix rewrote their backend in Node.js, reduced startup time by 70%. 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US" sz="110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Uber uses Node for real-time driver/rider matching across millions.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6EE803D-6F51-4BC6-B6DD-B2238C75D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834" y="1751987"/>
            <a:ext cx="5379574" cy="29343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Node.js Works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75488" y="113596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Easy Analogy: </a:t>
            </a:r>
          </a:p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      </a:t>
            </a:r>
          </a:p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Node.js = JavaScript runtime. </a:t>
            </a:r>
          </a:p>
          <a:p>
            <a:pPr marL="0" indent="0"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Like how browsers run JS in your browser, Node.js runs JS on servers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8DC574-A2A4-1395-60EA-57AE8837E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072" y="2155354"/>
            <a:ext cx="6051922" cy="28105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Use Node.js?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19216" y="1206306"/>
            <a:ext cx="8138160" cy="811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is ideal for building fast, scalable backend applications. It's used by companies handling billions of requests.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0714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Key Points: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9216" y="2389045"/>
            <a:ext cx="8412480" cy="150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JavaScript everywhere = one language for full-stack development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 performance = handles 10,000+ concurrent connections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 ecosystem = instantly install any library you need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Event-driven = perfect for real-time apps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Lightweight = low memory footprint per server</a:t>
            </a:r>
            <a:endParaRPr lang="en-US" sz="1200" dirty="0">
              <a:solidFill>
                <a:srgbClr val="273239"/>
              </a:solidFill>
              <a:latin typeface="Poppins" pitchFamily="34" charset="0"/>
              <a:cs typeface="Poppins" pitchFamily="34" charset="-120"/>
            </a:endParaRPr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 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What is the primary purpose of a backend in a web application?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endParaRPr kumimoji="0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310900" y="1748350"/>
            <a:ext cx="8084700" cy="178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kumimoji="0" lang="en-I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Handle user interface and styling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Process requests, manage data, handle authentication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Run JavaScript in the browser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Display HTML on the screen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/>
          <p:cNvSpPr txBox="1"/>
          <p:nvPr/>
        </p:nvSpPr>
        <p:spPr>
          <a:xfrm>
            <a:off x="310950" y="3313725"/>
            <a:ext cx="6260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B.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Process requests, manage data, handle authentication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/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3"/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The frontend displays the UI. The backend processes all the business logic, stores/retrieves data from the database, handles security, and provides APIs for the frontend to consume.</a:t>
              </a:r>
              <a:endParaRPr kumimoji="0" sz="11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7A2221DD-BC30-8B5F-F11B-89BAF348C2A6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19</a:t>
            </a:r>
            <a:endParaRPr lang="en-US" sz="9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D724CD0C-9EA1-5D59-5679-43D63C79C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 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Which one is a backend responsibility?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endParaRPr kumimoji="0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310900" y="1748350"/>
            <a:ext cx="8084700" cy="178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kumimoji="0" lang="en-I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Rendering HTML in browser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Creating beautiful UI with CSS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Validating user password and querying database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kumimoji="0" lang="en-I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Handling click events in JavaScript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/>
          <p:cNvSpPr txBox="1"/>
          <p:nvPr/>
        </p:nvSpPr>
        <p:spPr>
          <a:xfrm>
            <a:off x="310950" y="3313725"/>
            <a:ext cx="6260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B.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Validating user password and querying database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/>
          <p:cNvGrpSpPr/>
          <p:nvPr/>
        </p:nvGrpSpPr>
        <p:grpSpPr>
          <a:xfrm>
            <a:off x="310900" y="3959263"/>
            <a:ext cx="6005825" cy="1578875"/>
            <a:chOff x="310900" y="3959263"/>
            <a:chExt cx="6005825" cy="1578875"/>
          </a:xfrm>
        </p:grpSpPr>
        <p:sp>
          <p:nvSpPr>
            <p:cNvPr id="333" name="Google Shape;333;p3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3"/>
            <p:cNvSpPr txBox="1"/>
            <p:nvPr/>
          </p:nvSpPr>
          <p:spPr>
            <a:xfrm>
              <a:off x="1607925" y="3959275"/>
              <a:ext cx="4708800" cy="15788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Only the backend should validate passwords (never trust client-side validation!). Only the backend should access the database directly. The client cannot and should not do these tasks.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321F16F3-96D5-2CC0-4A64-DCF727C14740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9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F3D6CAA-FB78-63AB-4165-7B54B531D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 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Why can't frontend code directly access the database?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endParaRPr kumimoji="0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310900" y="1748350"/>
            <a:ext cx="8084700" cy="178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kumimoji="0" lang="en-I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It's too complicated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kumimoji="0" lang="en-I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Frontend uses a different programming language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kumimoji="0" lang="en-I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Databases don't support JavaScript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Security: exposing database credentials to client is dangerous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/>
          <p:cNvSpPr txBox="1"/>
          <p:nvPr/>
        </p:nvSpPr>
        <p:spPr>
          <a:xfrm>
            <a:off x="310950" y="3313725"/>
            <a:ext cx="6260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D.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Security: exposing database credentials to client is dangerous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/>
          <p:cNvGrpSpPr/>
          <p:nvPr/>
        </p:nvGrpSpPr>
        <p:grpSpPr>
          <a:xfrm>
            <a:off x="310900" y="3959263"/>
            <a:ext cx="6005825" cy="1773544"/>
            <a:chOff x="310900" y="3959263"/>
            <a:chExt cx="6005825" cy="1773544"/>
          </a:xfrm>
        </p:grpSpPr>
        <p:sp>
          <p:nvSpPr>
            <p:cNvPr id="333" name="Google Shape;333;p3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3"/>
            <p:cNvSpPr txBox="1"/>
            <p:nvPr/>
          </p:nvSpPr>
          <p:spPr>
            <a:xfrm>
              <a:off x="1607925" y="3959275"/>
              <a:ext cx="4708800" cy="1773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If you put database credentials in frontend code, every user can see them (view page source!). Attackers could drop your entire database. Backend MUST be the only one accessing the database.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C2E454C6-3979-0C61-4E57-1BEB57D94C0E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9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D3DE41DC-FF09-AE1F-A1CB-103FBE6E4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43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>
              <a:lnSpc>
                <a:spcPct val="115000"/>
              </a:lnSpc>
              <a:buSzPts val="1100"/>
              <a:buChar char="●"/>
            </a:pP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Node.js Official Documentation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Comprehensive and official documentation for Node.js runtime, modules, APIs, file system, HTTP, Express integration basics, and backend development concepts.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Node.js Official Docs</a:t>
            </a: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W3Schools – Node.js Tutorial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Beginner-friendly Node.js tutorials with easy explanations, examples, and hands-on practice for backend development fundamentals.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W3Schools Node.js Tutorial</a:t>
            </a:r>
            <a:endParaRPr lang="en-US"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IN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freeCodeCamp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 – Node.js Course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Free practical tutorials and project-based learning resources for Node.js, Express.js, REST APIs, and backend development.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 err="1"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freeCodeCamp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 Node.js Resources</a:t>
            </a:r>
            <a:endParaRPr sz="1100" i="1" dirty="0">
              <a:solidFill>
                <a:schemeClr val="dk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76FBA4A-CC92-CFF0-C0A3-3B8D0286268A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9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220C177D-3BFD-73DB-9945-DD23E42CF6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4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82" name="Google Shape;382;p44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4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173034"/>
                </a:solidFill>
              </a:rPr>
              <a:t>Course - Web Development - III</a:t>
            </a:r>
            <a:endParaRPr sz="2400" b="1" dirty="0">
              <a:solidFill>
                <a:srgbClr val="173034"/>
              </a:solidFill>
            </a:endParaRPr>
          </a:p>
        </p:txBody>
      </p:sp>
      <p:grpSp>
        <p:nvGrpSpPr>
          <p:cNvPr id="384" name="Google Shape;384;p44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85" name="Google Shape;385;p44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386" name="Google Shape;386;p44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44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388" name="Google Shape;388;p44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4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E5F4146-6277-E219-3EC0-EA0CC9D1A5C4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23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9F5EB1-F8E6-C621-99C0-E2BEC5FD90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0007" y="2208918"/>
            <a:ext cx="2798268" cy="279826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3597</TotalTime>
  <Words>1096</Words>
  <Application>Microsoft Office PowerPoint</Application>
  <PresentationFormat>On-screen Show (16:9)</PresentationFormat>
  <Paragraphs>199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Courier New</vt:lpstr>
      <vt:lpstr>Poppins</vt:lpstr>
      <vt:lpstr>Roboto Slab</vt:lpstr>
      <vt:lpstr>Wingdings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| Check Your Understanding</vt:lpstr>
      <vt:lpstr>| Check Your Understanding</vt:lpstr>
      <vt:lpstr>| Check Your Understanding</vt:lpstr>
      <vt:lpstr>|  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Love Porwal</cp:lastModifiedBy>
  <cp:revision>14</cp:revision>
  <dcterms:created xsi:type="dcterms:W3CDTF">2026-05-19T08:41:08Z</dcterms:created>
  <dcterms:modified xsi:type="dcterms:W3CDTF">2026-07-12T18:49:50Z</dcterms:modified>
</cp:coreProperties>
</file>